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6"/>
  </p:notesMasterIdLst>
  <p:handoutMasterIdLst>
    <p:handoutMasterId r:id="rId17"/>
  </p:handoutMasterIdLst>
  <p:sldIdLst>
    <p:sldId id="256" r:id="rId5"/>
    <p:sldId id="276" r:id="rId6"/>
    <p:sldId id="279" r:id="rId7"/>
    <p:sldId id="293" r:id="rId8"/>
    <p:sldId id="291" r:id="rId9"/>
    <p:sldId id="282" r:id="rId10"/>
    <p:sldId id="289" r:id="rId11"/>
    <p:sldId id="280" r:id="rId12"/>
    <p:sldId id="281" r:id="rId13"/>
    <p:sldId id="283" r:id="rId14"/>
    <p:sldId id="28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74" d="100"/>
          <a:sy n="74" d="100"/>
        </p:scale>
        <p:origin x="376" y="5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Project</a:t>
            </a:r>
            <a:r>
              <a:rPr lang="en-US" sz="1600" b="1" baseline="0" dirty="0"/>
              <a:t> Risk Analysis</a:t>
            </a:r>
            <a:endParaRPr lang="en-US" sz="1600" b="1"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Sheet1!$B$2</c:f>
              <c:numCache>
                <c:formatCode>General</c:formatCode>
                <c:ptCount val="1"/>
                <c:pt idx="0">
                  <c:v>2</c:v>
                </c:pt>
              </c:numCache>
            </c:numRef>
          </c:val>
          <c:extLst>
            <c:ext xmlns:c16="http://schemas.microsoft.com/office/drawing/2014/chart" uri="{C3380CC4-5D6E-409C-BE32-E72D297353CC}">
              <c16:uniqueId val="{00000000-8649-4F49-8CBC-B30308E5CFD7}"/>
            </c:ext>
          </c:extLst>
        </c:ser>
        <c:ser>
          <c:idx val="1"/>
          <c:order val="1"/>
          <c:tx>
            <c:strRef>
              <c:f>Sheet1!$C$1</c:f>
              <c:strCache>
                <c:ptCount val="1"/>
                <c:pt idx="0">
                  <c:v>Series 2</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Sheet1!$C$2</c:f>
              <c:numCache>
                <c:formatCode>General</c:formatCode>
                <c:ptCount val="1"/>
                <c:pt idx="0">
                  <c:v>4</c:v>
                </c:pt>
              </c:numCache>
            </c:numRef>
          </c:val>
          <c:extLst>
            <c:ext xmlns:c16="http://schemas.microsoft.com/office/drawing/2014/chart" uri="{C3380CC4-5D6E-409C-BE32-E72D297353CC}">
              <c16:uniqueId val="{00000001-8649-4F49-8CBC-B30308E5CFD7}"/>
            </c:ext>
          </c:extLst>
        </c:ser>
        <c:ser>
          <c:idx val="2"/>
          <c:order val="2"/>
          <c:tx>
            <c:strRef>
              <c:f>Sheet1!$D$1</c:f>
              <c:strCache>
                <c:ptCount val="1"/>
                <c:pt idx="0">
                  <c:v>Series 3</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Sheet1!$D$2</c:f>
              <c:numCache>
                <c:formatCode>General</c:formatCode>
                <c:ptCount val="1"/>
                <c:pt idx="0">
                  <c:v>6</c:v>
                </c:pt>
              </c:numCache>
            </c:numRef>
          </c:val>
          <c:extLst>
            <c:ext xmlns:c16="http://schemas.microsoft.com/office/drawing/2014/chart" uri="{C3380CC4-5D6E-409C-BE32-E72D297353CC}">
              <c16:uniqueId val="{00000002-8649-4F49-8CBC-B30308E5CFD7}"/>
            </c:ext>
          </c:extLst>
        </c:ser>
        <c:ser>
          <c:idx val="3"/>
          <c:order val="3"/>
          <c:tx>
            <c:strRef>
              <c:f>Sheet1!$E$1</c:f>
              <c:strCache>
                <c:ptCount val="1"/>
                <c:pt idx="0">
                  <c:v>Series 4</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Sheet1!$E$2</c:f>
              <c:numCache>
                <c:formatCode>General</c:formatCode>
                <c:ptCount val="1"/>
                <c:pt idx="0">
                  <c:v>8</c:v>
                </c:pt>
              </c:numCache>
            </c:numRef>
          </c:val>
          <c:extLst>
            <c:ext xmlns:c16="http://schemas.microsoft.com/office/drawing/2014/chart" uri="{C3380CC4-5D6E-409C-BE32-E72D297353CC}">
              <c16:uniqueId val="{00000003-8649-4F49-8CBC-B30308E5CFD7}"/>
            </c:ext>
          </c:extLst>
        </c:ser>
        <c:ser>
          <c:idx val="4"/>
          <c:order val="4"/>
          <c:tx>
            <c:strRef>
              <c:f>Sheet1!$F$1</c:f>
              <c:strCache>
                <c:ptCount val="1"/>
                <c:pt idx="0">
                  <c:v>Series 5</c:v>
                </c:pt>
              </c:strCache>
            </c:strRef>
          </c:tx>
          <c:spPr>
            <a:solidFill>
              <a:schemeClr val="accent4">
                <a:lumMod val="75000"/>
              </a:schemeClr>
            </a:solidFill>
            <a:ln>
              <a:noFill/>
            </a:ln>
            <a:effectLst/>
          </c:spPr>
          <c:invertIfNegative val="0"/>
          <c:cat>
            <c:strRef>
              <c:f>Sheet1!$A$2</c:f>
              <c:strCache>
                <c:ptCount val="1"/>
                <c:pt idx="0">
                  <c:v>Category 1</c:v>
                </c:pt>
              </c:strCache>
            </c:strRef>
          </c:cat>
          <c:val>
            <c:numRef>
              <c:f>Sheet1!$F$2</c:f>
              <c:numCache>
                <c:formatCode>General</c:formatCode>
                <c:ptCount val="1"/>
                <c:pt idx="0">
                  <c:v>10</c:v>
                </c:pt>
              </c:numCache>
            </c:numRef>
          </c:val>
          <c:extLst>
            <c:ext xmlns:c16="http://schemas.microsoft.com/office/drawing/2014/chart" uri="{C3380CC4-5D6E-409C-BE32-E72D297353CC}">
              <c16:uniqueId val="{00000004-8649-4F49-8CBC-B30308E5CFD7}"/>
            </c:ext>
          </c:extLst>
        </c:ser>
        <c:ser>
          <c:idx val="5"/>
          <c:order val="5"/>
          <c:tx>
            <c:strRef>
              <c:f>Sheet1!$G$1</c:f>
              <c:strCache>
                <c:ptCount val="1"/>
                <c:pt idx="0">
                  <c:v>Series 6</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Sheet1!$G$2</c:f>
              <c:numCache>
                <c:formatCode>General</c:formatCode>
                <c:ptCount val="1"/>
                <c:pt idx="0">
                  <c:v>12</c:v>
                </c:pt>
              </c:numCache>
            </c:numRef>
          </c:val>
          <c:extLst>
            <c:ext xmlns:c16="http://schemas.microsoft.com/office/drawing/2014/chart" uri="{C3380CC4-5D6E-409C-BE32-E72D297353CC}">
              <c16:uniqueId val="{00000005-8649-4F49-8CBC-B30308E5CFD7}"/>
            </c:ext>
          </c:extLst>
        </c:ser>
        <c:ser>
          <c:idx val="6"/>
          <c:order val="6"/>
          <c:tx>
            <c:strRef>
              <c:f>Sheet1!$H$1</c:f>
              <c:strCache>
                <c:ptCount val="1"/>
                <c:pt idx="0">
                  <c:v>Series 7</c:v>
                </c:pt>
              </c:strCache>
            </c:strRef>
          </c:tx>
          <c:spPr>
            <a:solidFill>
              <a:schemeClr val="accent3">
                <a:lumMod val="75000"/>
              </a:schemeClr>
            </a:solidFill>
            <a:ln>
              <a:noFill/>
            </a:ln>
            <a:effectLst/>
          </c:spPr>
          <c:invertIfNegative val="0"/>
          <c:cat>
            <c:strRef>
              <c:f>Sheet1!$A$2</c:f>
              <c:strCache>
                <c:ptCount val="1"/>
                <c:pt idx="0">
                  <c:v>Category 1</c:v>
                </c:pt>
              </c:strCache>
            </c:strRef>
          </c:cat>
          <c:val>
            <c:numRef>
              <c:f>Sheet1!$H$2</c:f>
              <c:numCache>
                <c:formatCode>General</c:formatCode>
                <c:ptCount val="1"/>
                <c:pt idx="0">
                  <c:v>14</c:v>
                </c:pt>
              </c:numCache>
            </c:numRef>
          </c:val>
          <c:extLst>
            <c:ext xmlns:c16="http://schemas.microsoft.com/office/drawing/2014/chart" uri="{C3380CC4-5D6E-409C-BE32-E72D297353CC}">
              <c16:uniqueId val="{00000006-8649-4F49-8CBC-B30308E5CFD7}"/>
            </c:ext>
          </c:extLst>
        </c:ser>
        <c:dLbls>
          <c:showLegendKey val="0"/>
          <c:showVal val="0"/>
          <c:showCatName val="0"/>
          <c:showSerName val="0"/>
          <c:showPercent val="0"/>
          <c:showBubbleSize val="0"/>
        </c:dLbls>
        <c:gapWidth val="121"/>
        <c:overlap val="-63"/>
        <c:axId val="389775312"/>
        <c:axId val="389775968"/>
      </c:barChart>
      <c:catAx>
        <c:axId val="389775312"/>
        <c:scaling>
          <c:orientation val="minMax"/>
        </c:scaling>
        <c:delete val="1"/>
        <c:axPos val="b"/>
        <c:numFmt formatCode="General" sourceLinked="1"/>
        <c:majorTickMark val="none"/>
        <c:minorTickMark val="none"/>
        <c:tickLblPos val="nextTo"/>
        <c:crossAx val="389775968"/>
        <c:crosses val="autoZero"/>
        <c:auto val="1"/>
        <c:lblAlgn val="ctr"/>
        <c:lblOffset val="100"/>
        <c:noMultiLvlLbl val="0"/>
      </c:catAx>
      <c:valAx>
        <c:axId val="389775968"/>
        <c:scaling>
          <c:orientation val="minMax"/>
          <c:max val="1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389775312"/>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Sheet1!$A$2:$A$10</c:f>
              <c:strCache>
                <c:ptCount val="4"/>
                <c:pt idx="0">
                  <c:v>Category 1</c:v>
                </c:pt>
                <c:pt idx="1">
                  <c:v>Category 2</c:v>
                </c:pt>
                <c:pt idx="2">
                  <c:v>Category 3</c:v>
                </c:pt>
                <c:pt idx="3">
                  <c:v>Category 4</c:v>
                </c:pt>
              </c:strCache>
            </c:strRef>
          </c:cat>
          <c:val>
            <c:numRef>
              <c:f>Sheet1!$D$2:$D$10</c:f>
              <c:numCache>
                <c:formatCode>General</c:formatCode>
                <c:ptCount val="9"/>
                <c:pt idx="0">
                  <c:v>2</c:v>
                </c:pt>
                <c:pt idx="1">
                  <c:v>2</c:v>
                </c:pt>
                <c:pt idx="2">
                  <c:v>3</c:v>
                </c:pt>
                <c:pt idx="3">
                  <c:v>5</c:v>
                </c:pt>
                <c:pt idx="4">
                  <c:v>7</c:v>
                </c:pt>
                <c:pt idx="5">
                  <c:v>9</c:v>
                </c:pt>
                <c:pt idx="6">
                  <c:v>12</c:v>
                </c:pt>
                <c:pt idx="7">
                  <c:v>15</c:v>
                </c:pt>
                <c:pt idx="8">
                  <c:v>20</c:v>
                </c:pt>
              </c:numCache>
            </c:numRef>
          </c:val>
          <c:smooth val="0"/>
          <c:extLst>
            <c:ext xmlns:c16="http://schemas.microsoft.com/office/drawing/2014/chart" uri="{C3380CC4-5D6E-409C-BE32-E72D297353CC}">
              <c16:uniqueId val="{00000002-9221-4E34-B1DE-91754F1A4E4E}"/>
            </c:ext>
          </c:extLst>
        </c:ser>
        <c:dLbls>
          <c:showLegendKey val="0"/>
          <c:showVal val="0"/>
          <c:showCatName val="0"/>
          <c:showSerName val="0"/>
          <c:showPercent val="0"/>
          <c:showBubbleSize val="0"/>
        </c:dLbls>
        <c:marker val="1"/>
        <c:smooth val="0"/>
        <c:axId val="659086552"/>
        <c:axId val="659085568"/>
      </c:lineChart>
      <c:catAx>
        <c:axId val="659086552"/>
        <c:scaling>
          <c:orientation val="minMax"/>
        </c:scaling>
        <c:delete val="1"/>
        <c:axPos val="b"/>
        <c:numFmt formatCode="General" sourceLinked="1"/>
        <c:majorTickMark val="none"/>
        <c:minorTickMark val="none"/>
        <c:tickLblPos val="nextTo"/>
        <c:crossAx val="659085568"/>
        <c:crosses val="autoZero"/>
        <c:auto val="1"/>
        <c:lblAlgn val="ctr"/>
        <c:lblOffset val="100"/>
        <c:noMultiLvlLbl val="0"/>
      </c:catAx>
      <c:valAx>
        <c:axId val="659085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75000"/>
                    <a:lumOff val="25000"/>
                  </a:schemeClr>
                </a:solidFill>
                <a:latin typeface="+mn-lt"/>
                <a:ea typeface="+mn-ea"/>
                <a:cs typeface="+mn-cs"/>
              </a:defRPr>
            </a:pPr>
            <a:endParaRPr lang="en-US"/>
          </a:p>
        </c:txPr>
        <c:crossAx val="6590865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11/19/2024</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11/19/2024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117154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96D1-78B8-CF45-E1D0-6A09114D0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E2D0D-EEFB-6AF2-A50F-96C4DF3CD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B7CE3-5C47-9F6A-A764-A2B7A0B0B6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E7F0C-85E2-139F-1B9A-3BFEDD606B01}"/>
              </a:ext>
            </a:extLst>
          </p:cNvPr>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327577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D51FF-B7D2-CDA9-0D11-C6C8824B6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ADB1A-614D-DCBE-4C97-66A48E016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26312-8C55-7502-A2A6-FA7A43C3A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946030-7CE2-621D-E346-6513B4B76441}"/>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660208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3688625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099E5-70E4-60F2-4678-613B2DDB0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2C011-4674-2830-CF23-713AFCB6EB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E3685-DA17-843C-AF1A-CF88A30776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A092BD-A799-0427-C221-CA96A3EBAC42}"/>
              </a:ext>
            </a:extLst>
          </p:cNvPr>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257943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1279294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2207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658775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72882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13948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914138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044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50146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1032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356583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86880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105862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864109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930097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75547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0DA1498-92C7-4E4B-8045-C9195F453964}" type="datetimeFigureOut">
              <a:rPr lang="en-US" smtClean="0"/>
              <a:t>11/19/2024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0074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300134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0DA1498-92C7-4E4B-8045-C9195F453964}"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01503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0DA1498-92C7-4E4B-8045-C9195F453964}" type="datetimeFigureOut">
              <a:rPr lang="en-US" smtClean="0"/>
              <a:t>11/19/2024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5495274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819886" y="3220227"/>
            <a:ext cx="10015268" cy="747897"/>
          </a:xfrm>
        </p:spPr>
        <p:txBody>
          <a:bodyPr wrap="square" lIns="0" tIns="0" rIns="0" bIns="0" anchor="t">
            <a:spAutoFit/>
          </a:bodyPr>
          <a:lstStyle/>
          <a:p>
            <a:r>
              <a:rPr lang="en-US" sz="5400" dirty="0">
                <a:solidFill>
                  <a:schemeClr val="accent4"/>
                </a:solidFill>
              </a:rPr>
              <a:t>Lending Loan Case study</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5566648" y="890237"/>
            <a:ext cx="1058704" cy="1285890"/>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5623632" y="651459"/>
            <a:ext cx="944736" cy="881723"/>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2481964"/>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 name="TextBox 2">
            <a:extLst>
              <a:ext uri="{FF2B5EF4-FFF2-40B4-BE49-F238E27FC236}">
                <a16:creationId xmlns:a16="http://schemas.microsoft.com/office/drawing/2014/main" id="{EDFF6181-5ED7-053A-CB27-41632A087756}"/>
              </a:ext>
            </a:extLst>
          </p:cNvPr>
          <p:cNvSpPr txBox="1"/>
          <p:nvPr/>
        </p:nvSpPr>
        <p:spPr>
          <a:xfrm>
            <a:off x="2751826" y="4408098"/>
            <a:ext cx="6952891" cy="461665"/>
          </a:xfrm>
          <a:prstGeom prst="rect">
            <a:avLst/>
          </a:prstGeom>
          <a:noFill/>
        </p:spPr>
        <p:txBody>
          <a:bodyPr wrap="square" rtlCol="0">
            <a:spAutoFit/>
          </a:bodyPr>
          <a:lstStyle/>
          <a:p>
            <a:r>
              <a:rPr lang="en-IN" sz="2400" dirty="0">
                <a:solidFill>
                  <a:srgbClr val="FFC000"/>
                </a:solidFill>
                <a:effectLst/>
                <a:latin typeface="+mj-lt"/>
                <a:ea typeface="Calibri" panose="020F0502020204030204" pitchFamily="34" charset="0"/>
                <a:cs typeface="Times New Roman" panose="02020603050405020304" pitchFamily="18" charset="0"/>
              </a:rPr>
              <a:t>Comprehensive Analysis and Key Insights</a:t>
            </a:r>
            <a:endParaRPr lang="en-IN" sz="2400" dirty="0">
              <a:solidFill>
                <a:srgbClr val="FFC000"/>
              </a:solidFill>
              <a:latin typeface="+mj-lt"/>
            </a:endParaRPr>
          </a:p>
        </p:txBody>
      </p:sp>
      <p:sp>
        <p:nvSpPr>
          <p:cNvPr id="6" name="TextBox 5">
            <a:extLst>
              <a:ext uri="{FF2B5EF4-FFF2-40B4-BE49-F238E27FC236}">
                <a16:creationId xmlns:a16="http://schemas.microsoft.com/office/drawing/2014/main" id="{788EEBDC-8FCF-B668-8954-77399CB65CCA}"/>
              </a:ext>
            </a:extLst>
          </p:cNvPr>
          <p:cNvSpPr txBox="1"/>
          <p:nvPr/>
        </p:nvSpPr>
        <p:spPr>
          <a:xfrm>
            <a:off x="3800452" y="5309737"/>
            <a:ext cx="5081054" cy="338554"/>
          </a:xfrm>
          <a:prstGeom prst="rect">
            <a:avLst/>
          </a:prstGeom>
          <a:noFill/>
        </p:spPr>
        <p:txBody>
          <a:bodyPr wrap="square" rtlCol="0">
            <a:spAutoFit/>
          </a:bodyPr>
          <a:lstStyle/>
          <a:p>
            <a:r>
              <a:rPr lang="en-US" sz="1600" dirty="0">
                <a:solidFill>
                  <a:srgbClr val="FFC000"/>
                </a:solidFill>
                <a:latin typeface="+mj-lt"/>
              </a:rPr>
              <a:t>By Namratha </a:t>
            </a:r>
            <a:r>
              <a:rPr lang="en-US" sz="1600" dirty="0" err="1">
                <a:solidFill>
                  <a:srgbClr val="FFC000"/>
                </a:solidFill>
                <a:latin typeface="+mj-lt"/>
              </a:rPr>
              <a:t>Grandhi</a:t>
            </a:r>
            <a:r>
              <a:rPr lang="en-US" sz="1600" dirty="0">
                <a:solidFill>
                  <a:srgbClr val="FFC000"/>
                </a:solidFill>
                <a:latin typeface="+mj-lt"/>
              </a:rPr>
              <a:t> &amp; Gaurav Sahoo</a:t>
            </a:r>
            <a:endParaRPr lang="en-IN" sz="1600" dirty="0">
              <a:solidFill>
                <a:srgbClr val="FFC000"/>
              </a:solidFill>
              <a:latin typeface="+mj-lt"/>
            </a:endParaRPr>
          </a:p>
        </p:txBody>
      </p:sp>
      <p:sp>
        <p:nvSpPr>
          <p:cNvPr id="11" name="TextBox 10">
            <a:extLst>
              <a:ext uri="{FF2B5EF4-FFF2-40B4-BE49-F238E27FC236}">
                <a16:creationId xmlns:a16="http://schemas.microsoft.com/office/drawing/2014/main" id="{3C46EF9A-4A00-3E89-3BB4-18A3E0344F73}"/>
              </a:ext>
            </a:extLst>
          </p:cNvPr>
          <p:cNvSpPr txBox="1"/>
          <p:nvPr/>
        </p:nvSpPr>
        <p:spPr>
          <a:xfrm>
            <a:off x="9359660" y="5719313"/>
            <a:ext cx="1552755" cy="369332"/>
          </a:xfrm>
          <a:prstGeom prst="rect">
            <a:avLst/>
          </a:prstGeom>
          <a:noFill/>
        </p:spPr>
        <p:txBody>
          <a:bodyPr wrap="square" rtlCol="0">
            <a:spAutoFit/>
          </a:bodyPr>
          <a:lstStyle/>
          <a:p>
            <a:r>
              <a:rPr lang="en-US" dirty="0">
                <a:solidFill>
                  <a:srgbClr val="FFC000"/>
                </a:solidFill>
              </a:rPr>
              <a:t>19-11-2024</a:t>
            </a:r>
            <a:endParaRPr lang="en-IN" dirty="0">
              <a:solidFill>
                <a:srgbClr val="FFC000"/>
              </a:solidFill>
            </a:endParaRP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Loan Data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40301" y="2652855"/>
            <a:ext cx="2252942" cy="21120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Risk Assessment</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Dataset Overview</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Initial Data Exploration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5150509"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Key Findings from Bivariate Analysis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721580" y="5106480"/>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45511" y="160614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Problem Statement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Dictionary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301926" y="5154978"/>
            <a:ext cx="4946350"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Cleaning and Preprocessing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30992" y="5070632"/>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39243" y="5367653"/>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7130581" y="1804727"/>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 name="Group 8" descr="Icon of human being and gear. ">
            <a:extLst>
              <a:ext uri="{FF2B5EF4-FFF2-40B4-BE49-F238E27FC236}">
                <a16:creationId xmlns:a16="http://schemas.microsoft.com/office/drawing/2014/main" id="{46138E14-6B7D-B3E7-FC27-30F1141C81D8}"/>
              </a:ext>
            </a:extLst>
          </p:cNvPr>
          <p:cNvGrpSpPr/>
          <p:nvPr/>
        </p:nvGrpSpPr>
        <p:grpSpPr>
          <a:xfrm>
            <a:off x="4724611" y="1841049"/>
            <a:ext cx="338073" cy="339996"/>
            <a:chOff x="6450013" y="5349875"/>
            <a:chExt cx="279399" cy="280988"/>
          </a:xfrm>
          <a:solidFill>
            <a:schemeClr val="bg1"/>
          </a:solidFill>
        </p:grpSpPr>
        <p:sp>
          <p:nvSpPr>
            <p:cNvPr id="10" name="Freeform 3673">
              <a:extLst>
                <a:ext uri="{FF2B5EF4-FFF2-40B4-BE49-F238E27FC236}">
                  <a16:creationId xmlns:a16="http://schemas.microsoft.com/office/drawing/2014/main" id="{238E8627-8AB3-96E4-816A-3D753DA89D23}"/>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3674">
              <a:extLst>
                <a:ext uri="{FF2B5EF4-FFF2-40B4-BE49-F238E27FC236}">
                  <a16:creationId xmlns:a16="http://schemas.microsoft.com/office/drawing/2014/main" id="{2C4D3C90-F19A-8B1D-20A0-735BF03866EE}"/>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7" name="Group 16" descr="Icons of bar chart and line graph.">
            <a:extLst>
              <a:ext uri="{FF2B5EF4-FFF2-40B4-BE49-F238E27FC236}">
                <a16:creationId xmlns:a16="http://schemas.microsoft.com/office/drawing/2014/main" id="{920CDECD-C403-7277-24AC-CFDE7231ADC8}"/>
              </a:ext>
            </a:extLst>
          </p:cNvPr>
          <p:cNvGrpSpPr/>
          <p:nvPr/>
        </p:nvGrpSpPr>
        <p:grpSpPr>
          <a:xfrm>
            <a:off x="7032982" y="5353558"/>
            <a:ext cx="347679" cy="347679"/>
            <a:chOff x="4319588" y="2492375"/>
            <a:chExt cx="287338" cy="287338"/>
          </a:xfrm>
          <a:solidFill>
            <a:schemeClr val="bg1"/>
          </a:solidFill>
        </p:grpSpPr>
        <p:sp>
          <p:nvSpPr>
            <p:cNvPr id="18" name="Freeform 372">
              <a:extLst>
                <a:ext uri="{FF2B5EF4-FFF2-40B4-BE49-F238E27FC236}">
                  <a16:creationId xmlns:a16="http://schemas.microsoft.com/office/drawing/2014/main" id="{B5E0F9A3-7BDB-C9BC-E8F5-4F50FD2B3615}"/>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373">
              <a:extLst>
                <a:ext uri="{FF2B5EF4-FFF2-40B4-BE49-F238E27FC236}">
                  <a16:creationId xmlns:a16="http://schemas.microsoft.com/office/drawing/2014/main" id="{FE2F5705-2907-3D9B-C8C0-093C724F2CF4}"/>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AC0C949-7A02-4C95-8017-D82E7E71C4F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9262872" y="522898"/>
            <a:ext cx="292912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414528" y="327440"/>
            <a:ext cx="1173480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chemeClr val="tx1">
                    <a:lumMod val="75000"/>
                    <a:lumOff val="25000"/>
                  </a:schemeClr>
                </a:solidFill>
              </a:rPr>
              <a:t>Problem Statement</a:t>
            </a:r>
            <a:endParaRPr lang="en-US" sz="20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30098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C781893-2A9E-911F-B3A2-108C34BE4BCD}"/>
              </a:ext>
            </a:extLst>
          </p:cNvPr>
          <p:cNvSpPr txBox="1"/>
          <p:nvPr/>
        </p:nvSpPr>
        <p:spPr>
          <a:xfrm>
            <a:off x="557784" y="1149465"/>
            <a:ext cx="10122408" cy="2965364"/>
          </a:xfrm>
          <a:prstGeom prst="rect">
            <a:avLst/>
          </a:prstGeom>
          <a:noFill/>
        </p:spPr>
        <p:txBody>
          <a:bodyPr wrap="square">
            <a:spAutoFit/>
          </a:bodyPr>
          <a:lstStyle/>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ea typeface="Calibri" panose="020F0502020204030204" pitchFamily="34" charset="0"/>
                <a:cs typeface="Times New Roman" panose="02020603050405020304" pitchFamily="18" charset="0"/>
              </a:rPr>
              <a:t>Objective</a:t>
            </a:r>
            <a:r>
              <a:rPr lang="en-IN" sz="1400" kern="100" dirty="0">
                <a:effectLst/>
                <a:ea typeface="Calibri" panose="020F0502020204030204" pitchFamily="34" charset="0"/>
                <a:cs typeface="Times New Roman" panose="02020603050405020304" pitchFamily="18" charset="0"/>
              </a:rPr>
              <a:t>: Analyse loan data from 2007 to 2011 to identify trends, key factors influencing loan defaults, and actionable insights.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400" kern="100" dirty="0">
                <a:effectLst/>
                <a:ea typeface="Calibri" panose="020F0502020204030204" pitchFamily="34" charset="0"/>
                <a:cs typeface="Times New Roman" panose="02020603050405020304" pitchFamily="18" charset="0"/>
              </a:rPr>
              <a:t>Analyse the given loan dataset to gain insights into key factors that influence loan defaults, loan approvals, or other relevant metrics.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ea typeface="Calibri" panose="020F0502020204030204" pitchFamily="34" charset="0"/>
                <a:cs typeface="Times New Roman" panose="02020603050405020304" pitchFamily="18" charset="0"/>
              </a:rPr>
              <a:t>Business Context</a:t>
            </a:r>
            <a:r>
              <a:rPr lang="en-IN" sz="1400" kern="100" dirty="0">
                <a:effectLst/>
                <a:ea typeface="Calibri" panose="020F0502020204030204" pitchFamily="34" charset="0"/>
                <a:cs typeface="Times New Roman" panose="02020603050405020304" pitchFamily="18" charset="0"/>
              </a:rPr>
              <a:t>: Understanding loan data can help financial institutions improve decision-making processes, mitigate risks, and optimize lending practices.</a:t>
            </a:r>
            <a:endParaRPr lang="en-IN" sz="2400"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ea typeface="Calibri" panose="020F0502020204030204" pitchFamily="34" charset="0"/>
                <a:cs typeface="Times New Roman" panose="02020603050405020304" pitchFamily="18" charset="0"/>
              </a:rPr>
              <a:t>Description</a:t>
            </a:r>
            <a:r>
              <a:rPr lang="en-IN" sz="1400" kern="100" dirty="0">
                <a:effectLst/>
                <a:ea typeface="Calibri" panose="020F0502020204030204" pitchFamily="34" charset="0"/>
                <a:cs typeface="Times New Roman" panose="02020603050405020304" pitchFamily="18" charset="0"/>
              </a:rPr>
              <a:t>: The dataset includes detailed loan data from 2007 to 2011.</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ea typeface="Calibri" panose="020F0502020204030204" pitchFamily="34" charset="0"/>
                <a:cs typeface="Times New Roman" panose="02020603050405020304" pitchFamily="18" charset="0"/>
              </a:rPr>
              <a:t>Key Features</a:t>
            </a:r>
            <a:r>
              <a:rPr lang="en-IN" sz="1400" kern="100" dirty="0">
                <a:effectLst/>
                <a:ea typeface="Calibri" panose="020F0502020204030204" pitchFamily="34" charset="0"/>
                <a:cs typeface="Times New Roman" panose="02020603050405020304" pitchFamily="18" charset="0"/>
              </a:rPr>
              <a:t>: Mention critical columns (e.g., </a:t>
            </a:r>
            <a:r>
              <a:rPr lang="en-IN" sz="1400" kern="100" dirty="0" err="1">
                <a:effectLst/>
                <a:ea typeface="Calibri" panose="020F0502020204030204" pitchFamily="34" charset="0"/>
                <a:cs typeface="Times New Roman" panose="02020603050405020304" pitchFamily="18" charset="0"/>
              </a:rPr>
              <a:t>loan_amnt</a:t>
            </a:r>
            <a:r>
              <a:rPr lang="en-IN" sz="1400" kern="100" dirty="0">
                <a:effectLst/>
                <a:ea typeface="Calibri" panose="020F0502020204030204" pitchFamily="34" charset="0"/>
                <a:cs typeface="Times New Roman" panose="02020603050405020304" pitchFamily="18" charset="0"/>
              </a:rPr>
              <a:t>, </a:t>
            </a:r>
            <a:r>
              <a:rPr lang="en-IN" sz="1400" kern="100" dirty="0" err="1">
                <a:effectLst/>
                <a:ea typeface="Calibri" panose="020F0502020204030204" pitchFamily="34" charset="0"/>
                <a:cs typeface="Times New Roman" panose="02020603050405020304" pitchFamily="18" charset="0"/>
              </a:rPr>
              <a:t>int_rate</a:t>
            </a:r>
            <a:r>
              <a:rPr lang="en-IN" sz="1400" kern="100" dirty="0">
                <a:effectLst/>
                <a:ea typeface="Calibri" panose="020F0502020204030204" pitchFamily="34" charset="0"/>
                <a:cs typeface="Times New Roman" panose="02020603050405020304" pitchFamily="18" charset="0"/>
              </a:rPr>
              <a:t>, grade, </a:t>
            </a:r>
            <a:r>
              <a:rPr lang="en-IN" sz="1400" kern="100" dirty="0" err="1">
                <a:effectLst/>
                <a:ea typeface="Calibri" panose="020F0502020204030204" pitchFamily="34" charset="0"/>
                <a:cs typeface="Times New Roman" panose="02020603050405020304" pitchFamily="18" charset="0"/>
              </a:rPr>
              <a:t>loan_status</a:t>
            </a:r>
            <a:r>
              <a:rPr lang="en-IN" sz="1400" kern="100" dirty="0">
                <a:effectLst/>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b="1" kern="100" dirty="0">
                <a:effectLst/>
                <a:ea typeface="Calibri" panose="020F0502020204030204" pitchFamily="34" charset="0"/>
                <a:cs typeface="Times New Roman" panose="02020603050405020304" pitchFamily="18" charset="0"/>
              </a:rPr>
              <a:t>Dataset Size</a:t>
            </a:r>
            <a:r>
              <a:rPr lang="en-IN" sz="1400" kern="100" dirty="0">
                <a:effectLst/>
                <a:ea typeface="Calibri" panose="020F0502020204030204" pitchFamily="34" charset="0"/>
                <a:cs typeface="Times New Roman" panose="02020603050405020304" pitchFamily="18" charset="0"/>
              </a:rPr>
              <a:t>: Total rows and columns.</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Picture 20">
            <a:extLst>
              <a:ext uri="{FF2B5EF4-FFF2-40B4-BE49-F238E27FC236}">
                <a16:creationId xmlns:a16="http://schemas.microsoft.com/office/drawing/2014/main" id="{A2FAD1DA-E74D-5982-A282-819B3760A7D5}"/>
              </a:ext>
            </a:extLst>
          </p:cNvPr>
          <p:cNvPicPr>
            <a:picLocks noChangeAspect="1"/>
          </p:cNvPicPr>
          <p:nvPr/>
        </p:nvPicPr>
        <p:blipFill>
          <a:blip r:embed="rId3"/>
          <a:stretch>
            <a:fillRect/>
          </a:stretch>
        </p:blipFill>
        <p:spPr>
          <a:xfrm>
            <a:off x="3053746" y="4114829"/>
            <a:ext cx="6084508" cy="2201767"/>
          </a:xfrm>
          <a:prstGeom prst="rect">
            <a:avLst/>
          </a:prstGeom>
        </p:spPr>
      </p:pic>
    </p:spTree>
    <p:extLst>
      <p:ext uri="{BB962C8B-B14F-4D97-AF65-F5344CB8AC3E}">
        <p14:creationId xmlns:p14="http://schemas.microsoft.com/office/powerpoint/2010/main" val="1212140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F14A-EF4F-7E9D-0B38-BB7F7F4B56D4}"/>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BACB9AED-DA1C-AA68-DDEB-F9DB99C18030}"/>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3DA2C545-1F78-9B89-3BAE-6EA7CEF7C7E8}"/>
              </a:ext>
              <a:ext uri="{C183D7F6-B498-43B3-948B-1728B52AA6E4}">
                <adec:decorative xmlns:adec="http://schemas.microsoft.com/office/drawing/2017/decorative" val="1"/>
              </a:ext>
            </a:extLst>
          </p:cNvPr>
          <p:cNvCxnSpPr>
            <a:cxnSpLocks/>
          </p:cNvCxnSpPr>
          <p:nvPr/>
        </p:nvCxnSpPr>
        <p:spPr>
          <a:xfrm>
            <a:off x="9262872" y="522898"/>
            <a:ext cx="292912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3915810-D536-F2C0-EB4E-D3CE49D7DBBE}"/>
              </a:ext>
            </a:extLst>
          </p:cNvPr>
          <p:cNvSpPr txBox="1">
            <a:spLocks/>
          </p:cNvSpPr>
          <p:nvPr/>
        </p:nvSpPr>
        <p:spPr>
          <a:xfrm>
            <a:off x="414528" y="327440"/>
            <a:ext cx="1173480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chemeClr val="tx1">
                    <a:lumMod val="75000"/>
                    <a:lumOff val="25000"/>
                  </a:schemeClr>
                </a:solidFill>
              </a:rPr>
              <a:t>Dataset Overview and Initial Data Exploration</a:t>
            </a:r>
            <a:endParaRPr lang="en-US" sz="20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F71D2481-DE5B-48D9-D309-277F4D312F20}"/>
              </a:ext>
              <a:ext uri="{C183D7F6-B498-43B3-948B-1728B52AA6E4}">
                <adec:decorative xmlns:adec="http://schemas.microsoft.com/office/drawing/2017/decorative" val="1"/>
              </a:ext>
            </a:extLst>
          </p:cNvPr>
          <p:cNvCxnSpPr>
            <a:cxnSpLocks/>
          </p:cNvCxnSpPr>
          <p:nvPr/>
        </p:nvCxnSpPr>
        <p:spPr>
          <a:xfrm>
            <a:off x="0" y="522898"/>
            <a:ext cx="330098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487EE1-A29A-1B13-1799-107F08CAF90A}"/>
              </a:ext>
              <a:ext uri="{C183D7F6-B498-43B3-948B-1728B52AA6E4}">
                <adec:decorative xmlns:adec="http://schemas.microsoft.com/office/drawing/2017/decorative" val="1"/>
              </a:ext>
            </a:extLst>
          </p:cNvPr>
          <p:cNvCxnSpPr/>
          <p:nvPr/>
        </p:nvCxnSpPr>
        <p:spPr>
          <a:xfrm>
            <a:off x="4152902" y="4879971"/>
            <a:ext cx="0" cy="120650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94D02C-07CB-A3F1-2ECD-BE9C8D62537F}"/>
              </a:ext>
              <a:ext uri="{C183D7F6-B498-43B3-948B-1728B52AA6E4}">
                <adec:decorative xmlns:adec="http://schemas.microsoft.com/office/drawing/2017/decorative" val="1"/>
              </a:ext>
            </a:extLst>
          </p:cNvPr>
          <p:cNvCxnSpPr/>
          <p:nvPr/>
        </p:nvCxnSpPr>
        <p:spPr>
          <a:xfrm>
            <a:off x="8039100" y="4879971"/>
            <a:ext cx="0" cy="120650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40F70AA6-63F5-260E-C98A-718DE2997037}"/>
              </a:ext>
            </a:extLst>
          </p:cNvPr>
          <p:cNvSpPr/>
          <p:nvPr/>
        </p:nvSpPr>
        <p:spPr>
          <a:xfrm>
            <a:off x="838205" y="5521007"/>
            <a:ext cx="2743195" cy="222561"/>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The overall sum of loans issued</a:t>
            </a:r>
          </a:p>
        </p:txBody>
      </p:sp>
      <p:sp>
        <p:nvSpPr>
          <p:cNvPr id="44" name="Rectangle 43">
            <a:extLst>
              <a:ext uri="{FF2B5EF4-FFF2-40B4-BE49-F238E27FC236}">
                <a16:creationId xmlns:a16="http://schemas.microsoft.com/office/drawing/2014/main" id="{9D638BB5-CC94-281C-519B-47F636D3DEC1}"/>
              </a:ext>
            </a:extLst>
          </p:cNvPr>
          <p:cNvSpPr/>
          <p:nvPr/>
        </p:nvSpPr>
        <p:spPr>
          <a:xfrm>
            <a:off x="838205" y="5000266"/>
            <a:ext cx="2743195" cy="492443"/>
          </a:xfrm>
          <a:prstGeom prst="rect">
            <a:avLst/>
          </a:prstGeom>
        </p:spPr>
        <p:txBody>
          <a:bodyPr wrap="square" lIns="0" tIns="0" rIns="0" bIns="0" anchor="t">
            <a:spAutoFit/>
          </a:bodyPr>
          <a:lstStyle/>
          <a:p>
            <a:r>
              <a:rPr lang="en-US" sz="3200" dirty="0">
                <a:solidFill>
                  <a:schemeClr val="accent3">
                    <a:lumMod val="75000"/>
                  </a:schemeClr>
                </a:solidFill>
                <a:cs typeface="Segoe UI" panose="020B0502040204020203" pitchFamily="34" charset="0"/>
              </a:rPr>
              <a:t>5,980</a:t>
            </a:r>
          </a:p>
        </p:txBody>
      </p:sp>
      <p:sp>
        <p:nvSpPr>
          <p:cNvPr id="45" name="Rectangle 44">
            <a:extLst>
              <a:ext uri="{FF2B5EF4-FFF2-40B4-BE49-F238E27FC236}">
                <a16:creationId xmlns:a16="http://schemas.microsoft.com/office/drawing/2014/main" id="{2469371D-CED4-BFEA-646A-67FAF7B66327}"/>
              </a:ext>
            </a:extLst>
          </p:cNvPr>
          <p:cNvSpPr/>
          <p:nvPr/>
        </p:nvSpPr>
        <p:spPr>
          <a:xfrm>
            <a:off x="838205" y="4748574"/>
            <a:ext cx="2743195" cy="223394"/>
          </a:xfrm>
          <a:prstGeom prst="rect">
            <a:avLst/>
          </a:prstGeom>
        </p:spPr>
        <p:txBody>
          <a:bodyPr wrap="square" lIns="0" tIns="0" rIns="0" bIns="0" anchor="t">
            <a:spAutoFit/>
          </a:bodyPr>
          <a:lstStyle/>
          <a:p>
            <a:pPr>
              <a:lnSpc>
                <a:spcPts val="1900"/>
              </a:lnSpc>
            </a:pPr>
            <a:r>
              <a:rPr lang="en-US" sz="1400" b="1" dirty="0">
                <a:solidFill>
                  <a:schemeClr val="accent3">
                    <a:lumMod val="75000"/>
                  </a:schemeClr>
                </a:solidFill>
                <a:latin typeface="+mj-lt"/>
                <a:cs typeface="Segoe UI" panose="020B0502040204020203" pitchFamily="34" charset="0"/>
              </a:rPr>
              <a:t>Total Loan Amount</a:t>
            </a:r>
          </a:p>
        </p:txBody>
      </p:sp>
      <p:sp>
        <p:nvSpPr>
          <p:cNvPr id="46" name="Rectangle 45">
            <a:extLst>
              <a:ext uri="{FF2B5EF4-FFF2-40B4-BE49-F238E27FC236}">
                <a16:creationId xmlns:a16="http://schemas.microsoft.com/office/drawing/2014/main" id="{C83FFEE1-C323-9C91-9D16-A75BC76D6566}"/>
              </a:ext>
            </a:extLst>
          </p:cNvPr>
          <p:cNvSpPr/>
          <p:nvPr/>
        </p:nvSpPr>
        <p:spPr>
          <a:xfrm>
            <a:off x="4724403" y="5521007"/>
            <a:ext cx="2743195" cy="466218"/>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The total count of loans provided</a:t>
            </a:r>
          </a:p>
        </p:txBody>
      </p:sp>
      <p:sp>
        <p:nvSpPr>
          <p:cNvPr id="47" name="Rectangle 46">
            <a:extLst>
              <a:ext uri="{FF2B5EF4-FFF2-40B4-BE49-F238E27FC236}">
                <a16:creationId xmlns:a16="http://schemas.microsoft.com/office/drawing/2014/main" id="{5D4AD746-D10F-8A0E-23C4-41871DB33FDE}"/>
              </a:ext>
            </a:extLst>
          </p:cNvPr>
          <p:cNvSpPr/>
          <p:nvPr/>
        </p:nvSpPr>
        <p:spPr>
          <a:xfrm>
            <a:off x="4724403" y="5000266"/>
            <a:ext cx="2743195" cy="492443"/>
          </a:xfrm>
          <a:prstGeom prst="rect">
            <a:avLst/>
          </a:prstGeom>
        </p:spPr>
        <p:txBody>
          <a:bodyPr wrap="square" lIns="0" tIns="0" rIns="0" bIns="0" anchor="t">
            <a:spAutoFit/>
          </a:bodyPr>
          <a:lstStyle/>
          <a:p>
            <a:r>
              <a:rPr lang="en-US" sz="3200" dirty="0">
                <a:solidFill>
                  <a:schemeClr val="accent4">
                    <a:lumMod val="75000"/>
                  </a:schemeClr>
                </a:solidFill>
                <a:cs typeface="Segoe UI" panose="020B0502040204020203" pitchFamily="34" charset="0"/>
              </a:rPr>
              <a:t>-1.19</a:t>
            </a:r>
          </a:p>
        </p:txBody>
      </p:sp>
      <p:sp>
        <p:nvSpPr>
          <p:cNvPr id="48" name="Rectangle 47">
            <a:extLst>
              <a:ext uri="{FF2B5EF4-FFF2-40B4-BE49-F238E27FC236}">
                <a16:creationId xmlns:a16="http://schemas.microsoft.com/office/drawing/2014/main" id="{528C68B8-1643-907D-62D3-08E076A4A41D}"/>
              </a:ext>
            </a:extLst>
          </p:cNvPr>
          <p:cNvSpPr/>
          <p:nvPr/>
        </p:nvSpPr>
        <p:spPr>
          <a:xfrm>
            <a:off x="4724403" y="4748574"/>
            <a:ext cx="2743195" cy="223394"/>
          </a:xfrm>
          <a:prstGeom prst="rect">
            <a:avLst/>
          </a:prstGeom>
        </p:spPr>
        <p:txBody>
          <a:bodyPr wrap="square" lIns="0" tIns="0" rIns="0" bIns="0" anchor="t">
            <a:spAutoFit/>
          </a:bodyPr>
          <a:lstStyle/>
          <a:p>
            <a:pPr>
              <a:lnSpc>
                <a:spcPts val="1900"/>
              </a:lnSpc>
            </a:pPr>
            <a:r>
              <a:rPr lang="en-US" sz="1400" b="1" dirty="0">
                <a:solidFill>
                  <a:schemeClr val="accent4">
                    <a:lumMod val="75000"/>
                  </a:schemeClr>
                </a:solidFill>
                <a:latin typeface="+mj-lt"/>
                <a:cs typeface="Segoe UI" panose="020B0502040204020203" pitchFamily="34" charset="0"/>
              </a:rPr>
              <a:t>Total Loans</a:t>
            </a:r>
          </a:p>
        </p:txBody>
      </p:sp>
      <p:sp>
        <p:nvSpPr>
          <p:cNvPr id="49" name="Rectangle 48">
            <a:extLst>
              <a:ext uri="{FF2B5EF4-FFF2-40B4-BE49-F238E27FC236}">
                <a16:creationId xmlns:a16="http://schemas.microsoft.com/office/drawing/2014/main" id="{FA2B7676-78FF-AD21-F4DF-25A4B7F44068}"/>
              </a:ext>
            </a:extLst>
          </p:cNvPr>
          <p:cNvSpPr/>
          <p:nvPr/>
        </p:nvSpPr>
        <p:spPr>
          <a:xfrm>
            <a:off x="8610600" y="5521007"/>
            <a:ext cx="2743195" cy="222561"/>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Mean Value of loans</a:t>
            </a:r>
          </a:p>
        </p:txBody>
      </p:sp>
      <p:sp>
        <p:nvSpPr>
          <p:cNvPr id="50" name="Rectangle 49">
            <a:extLst>
              <a:ext uri="{FF2B5EF4-FFF2-40B4-BE49-F238E27FC236}">
                <a16:creationId xmlns:a16="http://schemas.microsoft.com/office/drawing/2014/main" id="{AFACF217-EC9F-F23A-0CB4-701AAD02558E}"/>
              </a:ext>
            </a:extLst>
          </p:cNvPr>
          <p:cNvSpPr/>
          <p:nvPr/>
        </p:nvSpPr>
        <p:spPr>
          <a:xfrm>
            <a:off x="8610600" y="5000266"/>
            <a:ext cx="2743195" cy="492443"/>
          </a:xfrm>
          <a:prstGeom prst="rect">
            <a:avLst/>
          </a:prstGeom>
        </p:spPr>
        <p:txBody>
          <a:bodyPr wrap="square" lIns="0" tIns="0" rIns="0" bIns="0" anchor="t">
            <a:spAutoFit/>
          </a:bodyPr>
          <a:lstStyle/>
          <a:p>
            <a:r>
              <a:rPr lang="en-US" sz="3200" dirty="0">
                <a:solidFill>
                  <a:schemeClr val="tx1">
                    <a:lumMod val="75000"/>
                    <a:lumOff val="25000"/>
                  </a:schemeClr>
                </a:solidFill>
                <a:cs typeface="Segoe UI" panose="020B0502040204020203" pitchFamily="34" charset="0"/>
              </a:rPr>
              <a:t>$ 113,200.50</a:t>
            </a:r>
          </a:p>
        </p:txBody>
      </p:sp>
      <p:sp>
        <p:nvSpPr>
          <p:cNvPr id="51" name="Rectangle 50">
            <a:extLst>
              <a:ext uri="{FF2B5EF4-FFF2-40B4-BE49-F238E27FC236}">
                <a16:creationId xmlns:a16="http://schemas.microsoft.com/office/drawing/2014/main" id="{97FECA5D-BDD2-5D40-8E48-98630EE44A72}"/>
              </a:ext>
            </a:extLst>
          </p:cNvPr>
          <p:cNvSpPr/>
          <p:nvPr/>
        </p:nvSpPr>
        <p:spPr>
          <a:xfrm>
            <a:off x="8610600" y="4748574"/>
            <a:ext cx="2743195" cy="223394"/>
          </a:xfrm>
          <a:prstGeom prst="rect">
            <a:avLst/>
          </a:prstGeom>
        </p:spPr>
        <p:txBody>
          <a:bodyPr wrap="square" lIns="0" tIns="0" rIns="0" bIns="0" anchor="t">
            <a:spAutoFit/>
          </a:bodyPr>
          <a:lstStyle/>
          <a:p>
            <a:pPr>
              <a:lnSpc>
                <a:spcPts val="1900"/>
              </a:lnSpc>
            </a:pPr>
            <a:r>
              <a:rPr lang="en-US" sz="1400" b="1" dirty="0">
                <a:solidFill>
                  <a:schemeClr val="accent4">
                    <a:lumMod val="75000"/>
                  </a:schemeClr>
                </a:solidFill>
                <a:latin typeface="+mj-lt"/>
                <a:cs typeface="Segoe UI" panose="020B0502040204020203" pitchFamily="34" charset="0"/>
              </a:rPr>
              <a:t>Average Loan Amount</a:t>
            </a:r>
          </a:p>
        </p:txBody>
      </p:sp>
      <p:sp>
        <p:nvSpPr>
          <p:cNvPr id="6" name="Oval 5">
            <a:extLst>
              <a:ext uri="{FF2B5EF4-FFF2-40B4-BE49-F238E27FC236}">
                <a16:creationId xmlns:a16="http://schemas.microsoft.com/office/drawing/2014/main" id="{32E0EAE1-7779-BCDF-7626-0B7C10FCB1E2}"/>
              </a:ext>
            </a:extLst>
          </p:cNvPr>
          <p:cNvSpPr/>
          <p:nvPr/>
        </p:nvSpPr>
        <p:spPr>
          <a:xfrm>
            <a:off x="4397502" y="1540882"/>
            <a:ext cx="3099816" cy="2354462"/>
          </a:xfrm>
          <a:prstGeom prst="ellipse">
            <a:avLst/>
          </a:prstGeom>
          <a:solidFill>
            <a:schemeClr val="accent2">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AAD482F2-BCFC-8598-7966-05FC8FA02A45}"/>
              </a:ext>
            </a:extLst>
          </p:cNvPr>
          <p:cNvSpPr/>
          <p:nvPr/>
        </p:nvSpPr>
        <p:spPr>
          <a:xfrm>
            <a:off x="755904" y="1458505"/>
            <a:ext cx="3099816" cy="2354462"/>
          </a:xfrm>
          <a:prstGeom prst="ellipse">
            <a:avLst/>
          </a:prstGeom>
          <a:solidFill>
            <a:schemeClr val="accent2">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318A6A7-9749-8AB0-4AEF-1EBC18D01B22}"/>
              </a:ext>
            </a:extLst>
          </p:cNvPr>
          <p:cNvSpPr/>
          <p:nvPr/>
        </p:nvSpPr>
        <p:spPr>
          <a:xfrm>
            <a:off x="8039100" y="1540882"/>
            <a:ext cx="3099816" cy="2354462"/>
          </a:xfrm>
          <a:prstGeom prst="ellipse">
            <a:avLst/>
          </a:prstGeom>
          <a:solidFill>
            <a:schemeClr val="accent2">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1F81844-E561-0CB0-F914-1513350D7237}"/>
              </a:ext>
            </a:extLst>
          </p:cNvPr>
          <p:cNvSpPr txBox="1"/>
          <p:nvPr/>
        </p:nvSpPr>
        <p:spPr>
          <a:xfrm>
            <a:off x="1243584" y="2451070"/>
            <a:ext cx="2337816" cy="369332"/>
          </a:xfrm>
          <a:prstGeom prst="rect">
            <a:avLst/>
          </a:prstGeom>
          <a:noFill/>
        </p:spPr>
        <p:txBody>
          <a:bodyPr wrap="square" rtlCol="0">
            <a:spAutoFit/>
          </a:bodyPr>
          <a:lstStyle/>
          <a:p>
            <a:r>
              <a:rPr lang="en-US" dirty="0"/>
              <a:t>Total Loan Amount</a:t>
            </a:r>
            <a:endParaRPr lang="en-IN" dirty="0"/>
          </a:p>
        </p:txBody>
      </p:sp>
      <p:sp>
        <p:nvSpPr>
          <p:cNvPr id="16" name="TextBox 15">
            <a:extLst>
              <a:ext uri="{FF2B5EF4-FFF2-40B4-BE49-F238E27FC236}">
                <a16:creationId xmlns:a16="http://schemas.microsoft.com/office/drawing/2014/main" id="{7D9347D2-B586-CE70-F12C-52666E6BD210}"/>
              </a:ext>
            </a:extLst>
          </p:cNvPr>
          <p:cNvSpPr txBox="1"/>
          <p:nvPr/>
        </p:nvSpPr>
        <p:spPr>
          <a:xfrm>
            <a:off x="4614672" y="2491564"/>
            <a:ext cx="2882646" cy="369332"/>
          </a:xfrm>
          <a:prstGeom prst="rect">
            <a:avLst/>
          </a:prstGeom>
          <a:noFill/>
        </p:spPr>
        <p:txBody>
          <a:bodyPr wrap="square" rtlCol="0">
            <a:spAutoFit/>
          </a:bodyPr>
          <a:lstStyle/>
          <a:p>
            <a:r>
              <a:rPr lang="en-US" dirty="0"/>
              <a:t>Total Number of Loans</a:t>
            </a:r>
            <a:endParaRPr lang="en-IN" dirty="0"/>
          </a:p>
        </p:txBody>
      </p:sp>
      <p:sp>
        <p:nvSpPr>
          <p:cNvPr id="17" name="TextBox 16">
            <a:extLst>
              <a:ext uri="{FF2B5EF4-FFF2-40B4-BE49-F238E27FC236}">
                <a16:creationId xmlns:a16="http://schemas.microsoft.com/office/drawing/2014/main" id="{E3F237ED-C50E-4794-349E-07AC47A67DAD}"/>
              </a:ext>
            </a:extLst>
          </p:cNvPr>
          <p:cNvSpPr txBox="1"/>
          <p:nvPr/>
        </p:nvSpPr>
        <p:spPr>
          <a:xfrm>
            <a:off x="8317992" y="2451070"/>
            <a:ext cx="2755392" cy="369332"/>
          </a:xfrm>
          <a:prstGeom prst="rect">
            <a:avLst/>
          </a:prstGeom>
          <a:noFill/>
        </p:spPr>
        <p:txBody>
          <a:bodyPr wrap="square" rtlCol="0">
            <a:spAutoFit/>
          </a:bodyPr>
          <a:lstStyle/>
          <a:p>
            <a:r>
              <a:rPr lang="en-US" dirty="0" err="1"/>
              <a:t>Aveage</a:t>
            </a:r>
            <a:r>
              <a:rPr lang="en-US" dirty="0"/>
              <a:t> Loan Amount</a:t>
            </a:r>
            <a:endParaRPr lang="en-IN" dirty="0"/>
          </a:p>
        </p:txBody>
      </p:sp>
    </p:spTree>
    <p:extLst>
      <p:ext uri="{BB962C8B-B14F-4D97-AF65-F5344CB8AC3E}">
        <p14:creationId xmlns:p14="http://schemas.microsoft.com/office/powerpoint/2010/main" val="3072893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831D-4D1D-9F19-FFCA-4E0F1B390742}"/>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3BC56A85-CAB6-688B-051A-6D7164502048}"/>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D8718ECC-A8EB-C13F-3018-1545C7B487BD}"/>
              </a:ext>
              <a:ext uri="{C183D7F6-B498-43B3-948B-1728B52AA6E4}">
                <adec:decorative xmlns:adec="http://schemas.microsoft.com/office/drawing/2017/decorative" val="1"/>
              </a:ext>
            </a:extLst>
          </p:cNvPr>
          <p:cNvCxnSpPr>
            <a:cxnSpLocks/>
          </p:cNvCxnSpPr>
          <p:nvPr/>
        </p:nvCxnSpPr>
        <p:spPr>
          <a:xfrm>
            <a:off x="9262872" y="522898"/>
            <a:ext cx="292912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6C1511F-D9B1-EEAB-55FD-A05CA9B70BB1}"/>
              </a:ext>
            </a:extLst>
          </p:cNvPr>
          <p:cNvSpPr txBox="1">
            <a:spLocks/>
          </p:cNvSpPr>
          <p:nvPr/>
        </p:nvSpPr>
        <p:spPr>
          <a:xfrm>
            <a:off x="414528" y="32744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Data Cleaning and Preprocessing</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CED85BF4-D412-023A-1BA5-44D8A619246E}"/>
              </a:ext>
              <a:ext uri="{C183D7F6-B498-43B3-948B-1728B52AA6E4}">
                <adec:decorative xmlns:adec="http://schemas.microsoft.com/office/drawing/2017/decorative" val="1"/>
              </a:ext>
            </a:extLst>
          </p:cNvPr>
          <p:cNvCxnSpPr>
            <a:cxnSpLocks/>
          </p:cNvCxnSpPr>
          <p:nvPr/>
        </p:nvCxnSpPr>
        <p:spPr>
          <a:xfrm>
            <a:off x="0" y="522898"/>
            <a:ext cx="330098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3ECFDF-3301-17C3-F94F-54AF60642C27}"/>
              </a:ext>
            </a:extLst>
          </p:cNvPr>
          <p:cNvSpPr txBox="1"/>
          <p:nvPr/>
        </p:nvSpPr>
        <p:spPr>
          <a:xfrm>
            <a:off x="414528" y="1444753"/>
            <a:ext cx="11024616" cy="4031873"/>
          </a:xfrm>
          <a:prstGeom prst="rect">
            <a:avLst/>
          </a:prstGeom>
          <a:noFill/>
        </p:spPr>
        <p:txBody>
          <a:bodyPr wrap="square">
            <a:spAutoFit/>
          </a:bodyPr>
          <a:lstStyle/>
          <a:p>
            <a:r>
              <a:rPr lang="en-US" b="1" dirty="0"/>
              <a:t>Identify and remove duplicate entries</a:t>
            </a:r>
          </a:p>
          <a:p>
            <a:endParaRPr lang="en-US" b="1" dirty="0"/>
          </a:p>
          <a:p>
            <a:r>
              <a:rPr lang="en-US" sz="1400" dirty="0"/>
              <a:t>Ensure dataset integrity by eliminating redundant data points.</a:t>
            </a:r>
          </a:p>
          <a:p>
            <a:endParaRPr lang="en-US" dirty="0"/>
          </a:p>
          <a:p>
            <a:r>
              <a:rPr lang="en-US" b="1" dirty="0"/>
              <a:t>Handle missing values</a:t>
            </a:r>
          </a:p>
          <a:p>
            <a:endParaRPr lang="en-US" b="1" dirty="0"/>
          </a:p>
          <a:p>
            <a:r>
              <a:rPr lang="en-US" sz="1400" dirty="0"/>
              <a:t>Impute missing values using appropriate techniques such as mean, median, or mode.</a:t>
            </a:r>
          </a:p>
          <a:p>
            <a:endParaRPr lang="en-US" dirty="0"/>
          </a:p>
          <a:p>
            <a:r>
              <a:rPr lang="en-US" b="1" dirty="0"/>
              <a:t>Standardize numerical features</a:t>
            </a:r>
          </a:p>
          <a:p>
            <a:endParaRPr lang="en-US" b="1" dirty="0"/>
          </a:p>
          <a:p>
            <a:r>
              <a:rPr lang="en-US" sz="1400" dirty="0"/>
              <a:t>Transform numerical features to have a mean of 0 and a standard deviation of 1 for consistency.</a:t>
            </a:r>
          </a:p>
          <a:p>
            <a:endParaRPr lang="en-US" dirty="0"/>
          </a:p>
          <a:p>
            <a:r>
              <a:rPr lang="en-US" b="1" dirty="0"/>
              <a:t>Encode categorical variables</a:t>
            </a:r>
          </a:p>
          <a:p>
            <a:endParaRPr lang="en-US" b="1" dirty="0"/>
          </a:p>
          <a:p>
            <a:r>
              <a:rPr lang="en-US" sz="1400" dirty="0"/>
              <a:t>Use one-hot encoding to convert categorical variables into a format suitable for machine learning models.</a:t>
            </a:r>
          </a:p>
        </p:txBody>
      </p:sp>
    </p:spTree>
    <p:extLst>
      <p:ext uri="{BB962C8B-B14F-4D97-AF65-F5344CB8AC3E}">
        <p14:creationId xmlns:p14="http://schemas.microsoft.com/office/powerpoint/2010/main" val="2752883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7C70995F-D8C5-410A-AA8B-1EE172A29454}"/>
              </a:ext>
            </a:extLst>
          </p:cNvPr>
          <p:cNvSpPr>
            <a:spLocks noGrp="1"/>
          </p:cNvSpPr>
          <p:nvPr>
            <p:ph type="title" idx="4294967295"/>
          </p:nvPr>
        </p:nvSpPr>
        <p:spPr>
          <a:xfrm>
            <a:off x="0" y="365125"/>
            <a:ext cx="10515600" cy="1325563"/>
          </a:xfrm>
        </p:spPr>
        <p:txBody>
          <a:bodyPr/>
          <a:lstStyle/>
          <a:p>
            <a:r>
              <a:rPr lang="en-US" dirty="0"/>
              <a:t>Project analysis slide 10</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9491418" y="522898"/>
            <a:ext cx="270058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1563624" y="190500"/>
            <a:ext cx="9089136"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Findings from Univariate Analysis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70662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aphicFrame>
        <p:nvGraphicFramePr>
          <p:cNvPr id="4" name="Chart 3" descr="This image is a bar chart. ">
            <a:extLst>
              <a:ext uri="{FF2B5EF4-FFF2-40B4-BE49-F238E27FC236}">
                <a16:creationId xmlns:a16="http://schemas.microsoft.com/office/drawing/2014/main" id="{8B833BE5-F2DA-4155-B25C-866FA190EFEA}"/>
              </a:ext>
            </a:extLst>
          </p:cNvPr>
          <p:cNvGraphicFramePr/>
          <p:nvPr>
            <p:extLst>
              <p:ext uri="{D42A27DB-BD31-4B8C-83A1-F6EECF244321}">
                <p14:modId xmlns:p14="http://schemas.microsoft.com/office/powerpoint/2010/main" val="951326935"/>
              </p:ext>
            </p:extLst>
          </p:nvPr>
        </p:nvGraphicFramePr>
        <p:xfrm>
          <a:off x="522777" y="1511874"/>
          <a:ext cx="6551476" cy="4367651"/>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1A997C66-4ED4-4017-9439-1D07ED31D783}"/>
              </a:ext>
            </a:extLst>
          </p:cNvPr>
          <p:cNvSpPr/>
          <p:nvPr/>
        </p:nvSpPr>
        <p:spPr>
          <a:xfrm>
            <a:off x="7400925" y="2026444"/>
            <a:ext cx="4268298" cy="710707"/>
          </a:xfrm>
          <a:prstGeom prst="rect">
            <a:avLst/>
          </a:prstGeom>
        </p:spPr>
        <p:txBody>
          <a:bodyPr wrap="square" lIns="0" tIns="0" rIns="0" bIns="0" anchor="t">
            <a:spAutoFit/>
          </a:bodyPr>
          <a:lstStyle/>
          <a:p>
            <a:pPr algn="ct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Duis suscipit in tellus ac bibendum. Sed congue lacus vitae tellus finibus, eu faucibus nisi ullamcorper. </a:t>
            </a:r>
          </a:p>
        </p:txBody>
      </p:sp>
      <p:sp>
        <p:nvSpPr>
          <p:cNvPr id="12" name="Rectangle 11">
            <a:extLst>
              <a:ext uri="{FF2B5EF4-FFF2-40B4-BE49-F238E27FC236}">
                <a16:creationId xmlns:a16="http://schemas.microsoft.com/office/drawing/2014/main" id="{690C1A7A-78BB-48B4-B5CE-2B9C34E5E67B}"/>
              </a:ext>
            </a:extLst>
          </p:cNvPr>
          <p:cNvSpPr/>
          <p:nvPr/>
        </p:nvSpPr>
        <p:spPr>
          <a:xfrm>
            <a:off x="7400925" y="3546456"/>
            <a:ext cx="4268298" cy="710707"/>
          </a:xfrm>
          <a:prstGeom prst="rect">
            <a:avLst/>
          </a:prstGeom>
        </p:spPr>
        <p:txBody>
          <a:bodyPr wrap="square" lIns="0" tIns="0" rIns="0" bIns="0" anchor="t">
            <a:spAutoFit/>
          </a:bodyPr>
          <a:lstStyle/>
          <a:p>
            <a:pPr algn="ct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Duis suscipit in tellus ac bibendum. Sed congue lacus vitae tellus finibus, eu faucibus nisi ullamcorper. </a:t>
            </a:r>
          </a:p>
        </p:txBody>
      </p:sp>
      <p:sp>
        <p:nvSpPr>
          <p:cNvPr id="13" name="Rectangle 12">
            <a:extLst>
              <a:ext uri="{FF2B5EF4-FFF2-40B4-BE49-F238E27FC236}">
                <a16:creationId xmlns:a16="http://schemas.microsoft.com/office/drawing/2014/main" id="{53CF038C-66AF-4E81-9068-703EC0088620}"/>
              </a:ext>
            </a:extLst>
          </p:cNvPr>
          <p:cNvSpPr/>
          <p:nvPr/>
        </p:nvSpPr>
        <p:spPr>
          <a:xfrm>
            <a:off x="7400925" y="5066469"/>
            <a:ext cx="4268298" cy="710707"/>
          </a:xfrm>
          <a:prstGeom prst="rect">
            <a:avLst/>
          </a:prstGeom>
        </p:spPr>
        <p:txBody>
          <a:bodyPr wrap="square" lIns="0" tIns="0" rIns="0" bIns="0" anchor="t">
            <a:spAutoFit/>
          </a:bodyPr>
          <a:lstStyle/>
          <a:p>
            <a:pPr algn="ct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Duis suscipit in tellus ac bibendum. Sed congue lacus vitae tellus finibus, eu faucibus nisi ullamcorper. </a:t>
            </a:r>
          </a:p>
        </p:txBody>
      </p:sp>
      <p:sp>
        <p:nvSpPr>
          <p:cNvPr id="15" name="Freeform 931" descr="Icon of line chart.">
            <a:extLst>
              <a:ext uri="{FF2B5EF4-FFF2-40B4-BE49-F238E27FC236}">
                <a16:creationId xmlns:a16="http://schemas.microsoft.com/office/drawing/2014/main" id="{D6E99607-03B7-41E5-AD6F-79DCFC17E713}"/>
              </a:ext>
            </a:extLst>
          </p:cNvPr>
          <p:cNvSpPr>
            <a:spLocks noEditPoints="1"/>
          </p:cNvSpPr>
          <p:nvPr/>
        </p:nvSpPr>
        <p:spPr bwMode="auto">
          <a:xfrm>
            <a:off x="9425537" y="1614222"/>
            <a:ext cx="219075" cy="285750"/>
          </a:xfrm>
          <a:custGeom>
            <a:avLst/>
            <a:gdLst>
              <a:gd name="T0" fmla="*/ 348 w 553"/>
              <a:gd name="T1" fmla="*/ 11 h 722"/>
              <a:gd name="T2" fmla="*/ 348 w 553"/>
              <a:gd name="T3" fmla="*/ 204 h 722"/>
              <a:gd name="T4" fmla="*/ 108 w 553"/>
              <a:gd name="T5" fmla="*/ 602 h 722"/>
              <a:gd name="T6" fmla="*/ 99 w 553"/>
              <a:gd name="T7" fmla="*/ 599 h 722"/>
              <a:gd name="T8" fmla="*/ 95 w 553"/>
              <a:gd name="T9" fmla="*/ 590 h 722"/>
              <a:gd name="T10" fmla="*/ 96 w 553"/>
              <a:gd name="T11" fmla="*/ 236 h 722"/>
              <a:gd name="T12" fmla="*/ 104 w 553"/>
              <a:gd name="T13" fmla="*/ 230 h 722"/>
              <a:gd name="T14" fmla="*/ 113 w 553"/>
              <a:gd name="T15" fmla="*/ 230 h 722"/>
              <a:gd name="T16" fmla="*/ 119 w 553"/>
              <a:gd name="T17" fmla="*/ 236 h 722"/>
              <a:gd name="T18" fmla="*/ 120 w 553"/>
              <a:gd name="T19" fmla="*/ 467 h 722"/>
              <a:gd name="T20" fmla="*/ 233 w 553"/>
              <a:gd name="T21" fmla="*/ 365 h 722"/>
              <a:gd name="T22" fmla="*/ 241 w 553"/>
              <a:gd name="T23" fmla="*/ 365 h 722"/>
              <a:gd name="T24" fmla="*/ 327 w 553"/>
              <a:gd name="T25" fmla="*/ 421 h 722"/>
              <a:gd name="T26" fmla="*/ 440 w 553"/>
              <a:gd name="T27" fmla="*/ 303 h 722"/>
              <a:gd name="T28" fmla="*/ 447 w 553"/>
              <a:gd name="T29" fmla="*/ 301 h 722"/>
              <a:gd name="T30" fmla="*/ 451 w 553"/>
              <a:gd name="T31" fmla="*/ 303 h 722"/>
              <a:gd name="T32" fmla="*/ 456 w 553"/>
              <a:gd name="T33" fmla="*/ 308 h 722"/>
              <a:gd name="T34" fmla="*/ 456 w 553"/>
              <a:gd name="T35" fmla="*/ 317 h 722"/>
              <a:gd name="T36" fmla="*/ 338 w 553"/>
              <a:gd name="T37" fmla="*/ 446 h 722"/>
              <a:gd name="T38" fmla="*/ 330 w 553"/>
              <a:gd name="T39" fmla="*/ 449 h 722"/>
              <a:gd name="T40" fmla="*/ 322 w 553"/>
              <a:gd name="T41" fmla="*/ 448 h 722"/>
              <a:gd name="T42" fmla="*/ 120 w 553"/>
              <a:gd name="T43" fmla="*/ 500 h 722"/>
              <a:gd name="T44" fmla="*/ 450 w 553"/>
              <a:gd name="T45" fmla="*/ 577 h 722"/>
              <a:gd name="T46" fmla="*/ 458 w 553"/>
              <a:gd name="T47" fmla="*/ 581 h 722"/>
              <a:gd name="T48" fmla="*/ 462 w 553"/>
              <a:gd name="T49" fmla="*/ 590 h 722"/>
              <a:gd name="T50" fmla="*/ 458 w 553"/>
              <a:gd name="T51" fmla="*/ 599 h 722"/>
              <a:gd name="T52" fmla="*/ 450 w 553"/>
              <a:gd name="T53" fmla="*/ 602 h 722"/>
              <a:gd name="T54" fmla="*/ 357 w 553"/>
              <a:gd name="T55" fmla="*/ 3 h 722"/>
              <a:gd name="T56" fmla="*/ 348 w 553"/>
              <a:gd name="T57" fmla="*/ 0 h 722"/>
              <a:gd name="T58" fmla="*/ 7 w 553"/>
              <a:gd name="T59" fmla="*/ 1 h 722"/>
              <a:gd name="T60" fmla="*/ 1 w 553"/>
              <a:gd name="T61" fmla="*/ 7 h 722"/>
              <a:gd name="T62" fmla="*/ 0 w 553"/>
              <a:gd name="T63" fmla="*/ 710 h 722"/>
              <a:gd name="T64" fmla="*/ 3 w 553"/>
              <a:gd name="T65" fmla="*/ 719 h 722"/>
              <a:gd name="T66" fmla="*/ 12 w 553"/>
              <a:gd name="T67" fmla="*/ 722 h 722"/>
              <a:gd name="T68" fmla="*/ 546 w 553"/>
              <a:gd name="T69" fmla="*/ 721 h 722"/>
              <a:gd name="T70" fmla="*/ 552 w 553"/>
              <a:gd name="T71" fmla="*/ 715 h 722"/>
              <a:gd name="T72" fmla="*/ 553 w 553"/>
              <a:gd name="T73" fmla="*/ 204 h 722"/>
              <a:gd name="T74" fmla="*/ 550 w 553"/>
              <a:gd name="T75" fmla="*/ 19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3" h="722">
                <a:moveTo>
                  <a:pt x="348" y="204"/>
                </a:moveTo>
                <a:lnTo>
                  <a:pt x="348" y="11"/>
                </a:lnTo>
                <a:lnTo>
                  <a:pt x="541" y="204"/>
                </a:lnTo>
                <a:lnTo>
                  <a:pt x="348" y="204"/>
                </a:lnTo>
                <a:close/>
                <a:moveTo>
                  <a:pt x="450" y="602"/>
                </a:moveTo>
                <a:lnTo>
                  <a:pt x="108" y="602"/>
                </a:lnTo>
                <a:lnTo>
                  <a:pt x="104" y="601"/>
                </a:lnTo>
                <a:lnTo>
                  <a:pt x="99" y="599"/>
                </a:lnTo>
                <a:lnTo>
                  <a:pt x="96" y="595"/>
                </a:lnTo>
                <a:lnTo>
                  <a:pt x="95" y="590"/>
                </a:lnTo>
                <a:lnTo>
                  <a:pt x="95" y="241"/>
                </a:lnTo>
                <a:lnTo>
                  <a:pt x="96" y="236"/>
                </a:lnTo>
                <a:lnTo>
                  <a:pt x="99" y="232"/>
                </a:lnTo>
                <a:lnTo>
                  <a:pt x="104" y="230"/>
                </a:lnTo>
                <a:lnTo>
                  <a:pt x="108" y="229"/>
                </a:lnTo>
                <a:lnTo>
                  <a:pt x="113" y="230"/>
                </a:lnTo>
                <a:lnTo>
                  <a:pt x="117" y="232"/>
                </a:lnTo>
                <a:lnTo>
                  <a:pt x="119" y="236"/>
                </a:lnTo>
                <a:lnTo>
                  <a:pt x="120" y="241"/>
                </a:lnTo>
                <a:lnTo>
                  <a:pt x="120" y="467"/>
                </a:lnTo>
                <a:lnTo>
                  <a:pt x="230" y="368"/>
                </a:lnTo>
                <a:lnTo>
                  <a:pt x="233" y="365"/>
                </a:lnTo>
                <a:lnTo>
                  <a:pt x="237" y="364"/>
                </a:lnTo>
                <a:lnTo>
                  <a:pt x="241" y="365"/>
                </a:lnTo>
                <a:lnTo>
                  <a:pt x="244" y="367"/>
                </a:lnTo>
                <a:lnTo>
                  <a:pt x="327" y="421"/>
                </a:lnTo>
                <a:lnTo>
                  <a:pt x="436" y="306"/>
                </a:lnTo>
                <a:lnTo>
                  <a:pt x="440" y="303"/>
                </a:lnTo>
                <a:lnTo>
                  <a:pt x="445" y="301"/>
                </a:lnTo>
                <a:lnTo>
                  <a:pt x="447" y="301"/>
                </a:lnTo>
                <a:lnTo>
                  <a:pt x="449" y="302"/>
                </a:lnTo>
                <a:lnTo>
                  <a:pt x="451" y="303"/>
                </a:lnTo>
                <a:lnTo>
                  <a:pt x="453" y="304"/>
                </a:lnTo>
                <a:lnTo>
                  <a:pt x="456" y="308"/>
                </a:lnTo>
                <a:lnTo>
                  <a:pt x="457" y="313"/>
                </a:lnTo>
                <a:lnTo>
                  <a:pt x="456" y="317"/>
                </a:lnTo>
                <a:lnTo>
                  <a:pt x="454" y="321"/>
                </a:lnTo>
                <a:lnTo>
                  <a:pt x="338" y="446"/>
                </a:lnTo>
                <a:lnTo>
                  <a:pt x="334" y="448"/>
                </a:lnTo>
                <a:lnTo>
                  <a:pt x="330" y="449"/>
                </a:lnTo>
                <a:lnTo>
                  <a:pt x="326" y="449"/>
                </a:lnTo>
                <a:lnTo>
                  <a:pt x="322" y="448"/>
                </a:lnTo>
                <a:lnTo>
                  <a:pt x="239" y="393"/>
                </a:lnTo>
                <a:lnTo>
                  <a:pt x="120" y="500"/>
                </a:lnTo>
                <a:lnTo>
                  <a:pt x="120" y="577"/>
                </a:lnTo>
                <a:lnTo>
                  <a:pt x="450" y="577"/>
                </a:lnTo>
                <a:lnTo>
                  <a:pt x="455" y="578"/>
                </a:lnTo>
                <a:lnTo>
                  <a:pt x="458" y="581"/>
                </a:lnTo>
                <a:lnTo>
                  <a:pt x="461" y="585"/>
                </a:lnTo>
                <a:lnTo>
                  <a:pt x="462" y="590"/>
                </a:lnTo>
                <a:lnTo>
                  <a:pt x="461" y="595"/>
                </a:lnTo>
                <a:lnTo>
                  <a:pt x="458" y="599"/>
                </a:lnTo>
                <a:lnTo>
                  <a:pt x="455" y="601"/>
                </a:lnTo>
                <a:lnTo>
                  <a:pt x="450" y="602"/>
                </a:lnTo>
                <a:close/>
                <a:moveTo>
                  <a:pt x="550" y="196"/>
                </a:moveTo>
                <a:lnTo>
                  <a:pt x="357"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41" y="722"/>
                </a:lnTo>
                <a:lnTo>
                  <a:pt x="546" y="721"/>
                </a:lnTo>
                <a:lnTo>
                  <a:pt x="550" y="719"/>
                </a:lnTo>
                <a:lnTo>
                  <a:pt x="552" y="715"/>
                </a:lnTo>
                <a:lnTo>
                  <a:pt x="553" y="710"/>
                </a:lnTo>
                <a:lnTo>
                  <a:pt x="553" y="204"/>
                </a:lnTo>
                <a:lnTo>
                  <a:pt x="552" y="200"/>
                </a:lnTo>
                <a:lnTo>
                  <a:pt x="550" y="196"/>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6" name="Group 15" descr="This image is an icon of four sheets of paper. ">
            <a:extLst>
              <a:ext uri="{FF2B5EF4-FFF2-40B4-BE49-F238E27FC236}">
                <a16:creationId xmlns:a16="http://schemas.microsoft.com/office/drawing/2014/main" id="{6071F41E-4B08-43F7-BBE7-4A555CA73C1B}"/>
              </a:ext>
            </a:extLst>
          </p:cNvPr>
          <p:cNvGrpSpPr/>
          <p:nvPr/>
        </p:nvGrpSpPr>
        <p:grpSpPr>
          <a:xfrm>
            <a:off x="9415218" y="4652698"/>
            <a:ext cx="239712" cy="285750"/>
            <a:chOff x="5494338" y="1370013"/>
            <a:chExt cx="239712" cy="285750"/>
          </a:xfrm>
          <a:solidFill>
            <a:schemeClr val="accent4">
              <a:lumMod val="75000"/>
            </a:schemeClr>
          </a:solidFill>
        </p:grpSpPr>
        <p:sp>
          <p:nvSpPr>
            <p:cNvPr id="17" name="Freeform 961">
              <a:extLst>
                <a:ext uri="{FF2B5EF4-FFF2-40B4-BE49-F238E27FC236}">
                  <a16:creationId xmlns:a16="http://schemas.microsoft.com/office/drawing/2014/main" id="{A4A2E5CB-F1CB-4509-8FE7-B24010CB57EC}"/>
                </a:ext>
              </a:extLst>
            </p:cNvPr>
            <p:cNvSpPr>
              <a:spLocks noEditPoints="1"/>
            </p:cNvSpPr>
            <p:nvPr/>
          </p:nvSpPr>
          <p:spPr bwMode="auto">
            <a:xfrm>
              <a:off x="5629275" y="1370013"/>
              <a:ext cx="104775" cy="133350"/>
            </a:xfrm>
            <a:custGeom>
              <a:avLst/>
              <a:gdLst>
                <a:gd name="T0" fmla="*/ 156 w 265"/>
                <a:gd name="T1" fmla="*/ 108 h 337"/>
                <a:gd name="T2" fmla="*/ 156 w 265"/>
                <a:gd name="T3" fmla="*/ 12 h 337"/>
                <a:gd name="T4" fmla="*/ 252 w 265"/>
                <a:gd name="T5" fmla="*/ 108 h 337"/>
                <a:gd name="T6" fmla="*/ 156 w 265"/>
                <a:gd name="T7" fmla="*/ 108 h 337"/>
                <a:gd name="T8" fmla="*/ 261 w 265"/>
                <a:gd name="T9" fmla="*/ 100 h 337"/>
                <a:gd name="T10" fmla="*/ 165 w 265"/>
                <a:gd name="T11" fmla="*/ 3 h 337"/>
                <a:gd name="T12" fmla="*/ 161 w 265"/>
                <a:gd name="T13" fmla="*/ 1 h 337"/>
                <a:gd name="T14" fmla="*/ 156 w 265"/>
                <a:gd name="T15" fmla="*/ 0 h 337"/>
                <a:gd name="T16" fmla="*/ 12 w 265"/>
                <a:gd name="T17" fmla="*/ 0 h 337"/>
                <a:gd name="T18" fmla="*/ 7 w 265"/>
                <a:gd name="T19" fmla="*/ 1 h 337"/>
                <a:gd name="T20" fmla="*/ 3 w 265"/>
                <a:gd name="T21" fmla="*/ 3 h 337"/>
                <a:gd name="T22" fmla="*/ 1 w 265"/>
                <a:gd name="T23" fmla="*/ 7 h 337"/>
                <a:gd name="T24" fmla="*/ 0 w 265"/>
                <a:gd name="T25" fmla="*/ 12 h 337"/>
                <a:gd name="T26" fmla="*/ 0 w 265"/>
                <a:gd name="T27" fmla="*/ 325 h 337"/>
                <a:gd name="T28" fmla="*/ 1 w 265"/>
                <a:gd name="T29" fmla="*/ 329 h 337"/>
                <a:gd name="T30" fmla="*/ 3 w 265"/>
                <a:gd name="T31" fmla="*/ 334 h 337"/>
                <a:gd name="T32" fmla="*/ 7 w 265"/>
                <a:gd name="T33" fmla="*/ 337 h 337"/>
                <a:gd name="T34" fmla="*/ 12 w 265"/>
                <a:gd name="T35" fmla="*/ 337 h 337"/>
                <a:gd name="T36" fmla="*/ 253 w 265"/>
                <a:gd name="T37" fmla="*/ 337 h 337"/>
                <a:gd name="T38" fmla="*/ 258 w 265"/>
                <a:gd name="T39" fmla="*/ 337 h 337"/>
                <a:gd name="T40" fmla="*/ 261 w 265"/>
                <a:gd name="T41" fmla="*/ 334 h 337"/>
                <a:gd name="T42" fmla="*/ 264 w 265"/>
                <a:gd name="T43" fmla="*/ 329 h 337"/>
                <a:gd name="T44" fmla="*/ 265 w 265"/>
                <a:gd name="T45" fmla="*/ 325 h 337"/>
                <a:gd name="T46" fmla="*/ 265 w 265"/>
                <a:gd name="T47" fmla="*/ 108 h 337"/>
                <a:gd name="T48" fmla="*/ 264 w 265"/>
                <a:gd name="T49" fmla="*/ 104 h 337"/>
                <a:gd name="T50" fmla="*/ 261 w 265"/>
                <a:gd name="T51" fmla="*/ 10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7">
                  <a:moveTo>
                    <a:pt x="156" y="108"/>
                  </a:moveTo>
                  <a:lnTo>
                    <a:pt x="156" y="12"/>
                  </a:lnTo>
                  <a:lnTo>
                    <a:pt x="252" y="108"/>
                  </a:lnTo>
                  <a:lnTo>
                    <a:pt x="156" y="108"/>
                  </a:lnTo>
                  <a:close/>
                  <a:moveTo>
                    <a:pt x="261" y="100"/>
                  </a:moveTo>
                  <a:lnTo>
                    <a:pt x="165" y="3"/>
                  </a:lnTo>
                  <a:lnTo>
                    <a:pt x="161" y="1"/>
                  </a:lnTo>
                  <a:lnTo>
                    <a:pt x="156" y="0"/>
                  </a:lnTo>
                  <a:lnTo>
                    <a:pt x="12" y="0"/>
                  </a:lnTo>
                  <a:lnTo>
                    <a:pt x="7" y="1"/>
                  </a:lnTo>
                  <a:lnTo>
                    <a:pt x="3" y="3"/>
                  </a:lnTo>
                  <a:lnTo>
                    <a:pt x="1" y="7"/>
                  </a:lnTo>
                  <a:lnTo>
                    <a:pt x="0" y="12"/>
                  </a:lnTo>
                  <a:lnTo>
                    <a:pt x="0" y="325"/>
                  </a:lnTo>
                  <a:lnTo>
                    <a:pt x="1" y="329"/>
                  </a:lnTo>
                  <a:lnTo>
                    <a:pt x="3" y="334"/>
                  </a:lnTo>
                  <a:lnTo>
                    <a:pt x="7" y="337"/>
                  </a:lnTo>
                  <a:lnTo>
                    <a:pt x="12" y="337"/>
                  </a:lnTo>
                  <a:lnTo>
                    <a:pt x="253" y="337"/>
                  </a:lnTo>
                  <a:lnTo>
                    <a:pt x="258" y="337"/>
                  </a:lnTo>
                  <a:lnTo>
                    <a:pt x="261" y="334"/>
                  </a:lnTo>
                  <a:lnTo>
                    <a:pt x="264" y="329"/>
                  </a:lnTo>
                  <a:lnTo>
                    <a:pt x="265" y="325"/>
                  </a:lnTo>
                  <a:lnTo>
                    <a:pt x="265" y="108"/>
                  </a:lnTo>
                  <a:lnTo>
                    <a:pt x="264" y="104"/>
                  </a:lnTo>
                  <a:lnTo>
                    <a:pt x="261"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962">
              <a:extLst>
                <a:ext uri="{FF2B5EF4-FFF2-40B4-BE49-F238E27FC236}">
                  <a16:creationId xmlns:a16="http://schemas.microsoft.com/office/drawing/2014/main" id="{644A9833-5FFF-4479-A665-0AEDD8C25D5D}"/>
                </a:ext>
              </a:extLst>
            </p:cNvPr>
            <p:cNvSpPr>
              <a:spLocks noEditPoints="1"/>
            </p:cNvSpPr>
            <p:nvPr/>
          </p:nvSpPr>
          <p:spPr bwMode="auto">
            <a:xfrm>
              <a:off x="5494338" y="1370013"/>
              <a:ext cx="106363" cy="133350"/>
            </a:xfrm>
            <a:custGeom>
              <a:avLst/>
              <a:gdLst>
                <a:gd name="T0" fmla="*/ 157 w 266"/>
                <a:gd name="T1" fmla="*/ 108 h 337"/>
                <a:gd name="T2" fmla="*/ 157 w 266"/>
                <a:gd name="T3" fmla="*/ 12 h 337"/>
                <a:gd name="T4" fmla="*/ 252 w 266"/>
                <a:gd name="T5" fmla="*/ 108 h 337"/>
                <a:gd name="T6" fmla="*/ 157 w 266"/>
                <a:gd name="T7" fmla="*/ 108 h 337"/>
                <a:gd name="T8" fmla="*/ 166 w 266"/>
                <a:gd name="T9" fmla="*/ 3 h 337"/>
                <a:gd name="T10" fmla="*/ 162 w 266"/>
                <a:gd name="T11" fmla="*/ 1 h 337"/>
                <a:gd name="T12" fmla="*/ 157 w 266"/>
                <a:gd name="T13" fmla="*/ 0 h 337"/>
                <a:gd name="T14" fmla="*/ 13 w 266"/>
                <a:gd name="T15" fmla="*/ 0 h 337"/>
                <a:gd name="T16" fmla="*/ 8 w 266"/>
                <a:gd name="T17" fmla="*/ 1 h 337"/>
                <a:gd name="T18" fmla="*/ 5 w 266"/>
                <a:gd name="T19" fmla="*/ 3 h 337"/>
                <a:gd name="T20" fmla="*/ 1 w 266"/>
                <a:gd name="T21" fmla="*/ 7 h 337"/>
                <a:gd name="T22" fmla="*/ 0 w 266"/>
                <a:gd name="T23" fmla="*/ 12 h 337"/>
                <a:gd name="T24" fmla="*/ 0 w 266"/>
                <a:gd name="T25" fmla="*/ 325 h 337"/>
                <a:gd name="T26" fmla="*/ 1 w 266"/>
                <a:gd name="T27" fmla="*/ 329 h 337"/>
                <a:gd name="T28" fmla="*/ 5 w 266"/>
                <a:gd name="T29" fmla="*/ 334 h 337"/>
                <a:gd name="T30" fmla="*/ 8 w 266"/>
                <a:gd name="T31" fmla="*/ 337 h 337"/>
                <a:gd name="T32" fmla="*/ 13 w 266"/>
                <a:gd name="T33" fmla="*/ 337 h 337"/>
                <a:gd name="T34" fmla="*/ 253 w 266"/>
                <a:gd name="T35" fmla="*/ 337 h 337"/>
                <a:gd name="T36" fmla="*/ 258 w 266"/>
                <a:gd name="T37" fmla="*/ 337 h 337"/>
                <a:gd name="T38" fmla="*/ 263 w 266"/>
                <a:gd name="T39" fmla="*/ 334 h 337"/>
                <a:gd name="T40" fmla="*/ 265 w 266"/>
                <a:gd name="T41" fmla="*/ 329 h 337"/>
                <a:gd name="T42" fmla="*/ 266 w 266"/>
                <a:gd name="T43" fmla="*/ 325 h 337"/>
                <a:gd name="T44" fmla="*/ 266 w 266"/>
                <a:gd name="T45" fmla="*/ 108 h 337"/>
                <a:gd name="T46" fmla="*/ 265 w 266"/>
                <a:gd name="T47" fmla="*/ 104 h 337"/>
                <a:gd name="T48" fmla="*/ 263 w 266"/>
                <a:gd name="T49" fmla="*/ 100 h 337"/>
                <a:gd name="T50" fmla="*/ 166 w 266"/>
                <a:gd name="T51" fmla="*/ 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7">
                  <a:moveTo>
                    <a:pt x="157" y="108"/>
                  </a:moveTo>
                  <a:lnTo>
                    <a:pt x="157" y="12"/>
                  </a:lnTo>
                  <a:lnTo>
                    <a:pt x="252" y="108"/>
                  </a:lnTo>
                  <a:lnTo>
                    <a:pt x="157" y="108"/>
                  </a:lnTo>
                  <a:close/>
                  <a:moveTo>
                    <a:pt x="166" y="3"/>
                  </a:moveTo>
                  <a:lnTo>
                    <a:pt x="162" y="1"/>
                  </a:lnTo>
                  <a:lnTo>
                    <a:pt x="157" y="0"/>
                  </a:lnTo>
                  <a:lnTo>
                    <a:pt x="13" y="0"/>
                  </a:lnTo>
                  <a:lnTo>
                    <a:pt x="8" y="1"/>
                  </a:lnTo>
                  <a:lnTo>
                    <a:pt x="5" y="3"/>
                  </a:lnTo>
                  <a:lnTo>
                    <a:pt x="1" y="7"/>
                  </a:lnTo>
                  <a:lnTo>
                    <a:pt x="0" y="12"/>
                  </a:lnTo>
                  <a:lnTo>
                    <a:pt x="0" y="325"/>
                  </a:lnTo>
                  <a:lnTo>
                    <a:pt x="1" y="329"/>
                  </a:lnTo>
                  <a:lnTo>
                    <a:pt x="5" y="334"/>
                  </a:lnTo>
                  <a:lnTo>
                    <a:pt x="8" y="337"/>
                  </a:lnTo>
                  <a:lnTo>
                    <a:pt x="13" y="337"/>
                  </a:lnTo>
                  <a:lnTo>
                    <a:pt x="253" y="337"/>
                  </a:lnTo>
                  <a:lnTo>
                    <a:pt x="258" y="337"/>
                  </a:lnTo>
                  <a:lnTo>
                    <a:pt x="263" y="334"/>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963">
              <a:extLst>
                <a:ext uri="{FF2B5EF4-FFF2-40B4-BE49-F238E27FC236}">
                  <a16:creationId xmlns:a16="http://schemas.microsoft.com/office/drawing/2014/main" id="{A6452485-9CCD-4979-A80D-5838A64EDB28}"/>
                </a:ext>
              </a:extLst>
            </p:cNvPr>
            <p:cNvSpPr>
              <a:spLocks noEditPoints="1"/>
            </p:cNvSpPr>
            <p:nvPr/>
          </p:nvSpPr>
          <p:spPr bwMode="auto">
            <a:xfrm>
              <a:off x="5629275" y="1522413"/>
              <a:ext cx="104775" cy="133350"/>
            </a:xfrm>
            <a:custGeom>
              <a:avLst/>
              <a:gdLst>
                <a:gd name="T0" fmla="*/ 156 w 265"/>
                <a:gd name="T1" fmla="*/ 108 h 336"/>
                <a:gd name="T2" fmla="*/ 156 w 265"/>
                <a:gd name="T3" fmla="*/ 11 h 336"/>
                <a:gd name="T4" fmla="*/ 252 w 265"/>
                <a:gd name="T5" fmla="*/ 108 h 336"/>
                <a:gd name="T6" fmla="*/ 156 w 265"/>
                <a:gd name="T7" fmla="*/ 108 h 336"/>
                <a:gd name="T8" fmla="*/ 165 w 265"/>
                <a:gd name="T9" fmla="*/ 3 h 336"/>
                <a:gd name="T10" fmla="*/ 161 w 265"/>
                <a:gd name="T11" fmla="*/ 1 h 336"/>
                <a:gd name="T12" fmla="*/ 156 w 265"/>
                <a:gd name="T13" fmla="*/ 0 h 336"/>
                <a:gd name="T14" fmla="*/ 12 w 265"/>
                <a:gd name="T15" fmla="*/ 0 h 336"/>
                <a:gd name="T16" fmla="*/ 7 w 265"/>
                <a:gd name="T17" fmla="*/ 1 h 336"/>
                <a:gd name="T18" fmla="*/ 3 w 265"/>
                <a:gd name="T19" fmla="*/ 3 h 336"/>
                <a:gd name="T20" fmla="*/ 1 w 265"/>
                <a:gd name="T21" fmla="*/ 7 h 336"/>
                <a:gd name="T22" fmla="*/ 0 w 265"/>
                <a:gd name="T23" fmla="*/ 11 h 336"/>
                <a:gd name="T24" fmla="*/ 0 w 265"/>
                <a:gd name="T25" fmla="*/ 325 h 336"/>
                <a:gd name="T26" fmla="*/ 1 w 265"/>
                <a:gd name="T27" fmla="*/ 329 h 336"/>
                <a:gd name="T28" fmla="*/ 3 w 265"/>
                <a:gd name="T29" fmla="*/ 333 h 336"/>
                <a:gd name="T30" fmla="*/ 7 w 265"/>
                <a:gd name="T31" fmla="*/ 335 h 336"/>
                <a:gd name="T32" fmla="*/ 12 w 265"/>
                <a:gd name="T33" fmla="*/ 336 h 336"/>
                <a:gd name="T34" fmla="*/ 253 w 265"/>
                <a:gd name="T35" fmla="*/ 336 h 336"/>
                <a:gd name="T36" fmla="*/ 258 w 265"/>
                <a:gd name="T37" fmla="*/ 335 h 336"/>
                <a:gd name="T38" fmla="*/ 261 w 265"/>
                <a:gd name="T39" fmla="*/ 333 h 336"/>
                <a:gd name="T40" fmla="*/ 264 w 265"/>
                <a:gd name="T41" fmla="*/ 329 h 336"/>
                <a:gd name="T42" fmla="*/ 265 w 265"/>
                <a:gd name="T43" fmla="*/ 325 h 336"/>
                <a:gd name="T44" fmla="*/ 265 w 265"/>
                <a:gd name="T45" fmla="*/ 108 h 336"/>
                <a:gd name="T46" fmla="*/ 264 w 265"/>
                <a:gd name="T47" fmla="*/ 104 h 336"/>
                <a:gd name="T48" fmla="*/ 261 w 265"/>
                <a:gd name="T49" fmla="*/ 100 h 336"/>
                <a:gd name="T50" fmla="*/ 165 w 265"/>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6">
                  <a:moveTo>
                    <a:pt x="156" y="108"/>
                  </a:moveTo>
                  <a:lnTo>
                    <a:pt x="156" y="11"/>
                  </a:lnTo>
                  <a:lnTo>
                    <a:pt x="252" y="108"/>
                  </a:lnTo>
                  <a:lnTo>
                    <a:pt x="156" y="108"/>
                  </a:lnTo>
                  <a:close/>
                  <a:moveTo>
                    <a:pt x="165" y="3"/>
                  </a:moveTo>
                  <a:lnTo>
                    <a:pt x="161" y="1"/>
                  </a:lnTo>
                  <a:lnTo>
                    <a:pt x="156" y="0"/>
                  </a:lnTo>
                  <a:lnTo>
                    <a:pt x="12" y="0"/>
                  </a:lnTo>
                  <a:lnTo>
                    <a:pt x="7" y="1"/>
                  </a:lnTo>
                  <a:lnTo>
                    <a:pt x="3" y="3"/>
                  </a:lnTo>
                  <a:lnTo>
                    <a:pt x="1" y="7"/>
                  </a:lnTo>
                  <a:lnTo>
                    <a:pt x="0" y="11"/>
                  </a:lnTo>
                  <a:lnTo>
                    <a:pt x="0" y="325"/>
                  </a:lnTo>
                  <a:lnTo>
                    <a:pt x="1" y="329"/>
                  </a:lnTo>
                  <a:lnTo>
                    <a:pt x="3" y="333"/>
                  </a:lnTo>
                  <a:lnTo>
                    <a:pt x="7" y="335"/>
                  </a:lnTo>
                  <a:lnTo>
                    <a:pt x="12" y="336"/>
                  </a:lnTo>
                  <a:lnTo>
                    <a:pt x="253" y="336"/>
                  </a:lnTo>
                  <a:lnTo>
                    <a:pt x="258" y="335"/>
                  </a:lnTo>
                  <a:lnTo>
                    <a:pt x="261" y="333"/>
                  </a:lnTo>
                  <a:lnTo>
                    <a:pt x="264" y="329"/>
                  </a:lnTo>
                  <a:lnTo>
                    <a:pt x="265" y="325"/>
                  </a:lnTo>
                  <a:lnTo>
                    <a:pt x="265" y="108"/>
                  </a:lnTo>
                  <a:lnTo>
                    <a:pt x="264" y="104"/>
                  </a:lnTo>
                  <a:lnTo>
                    <a:pt x="261" y="100"/>
                  </a:lnTo>
                  <a:lnTo>
                    <a:pt x="16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964">
              <a:extLst>
                <a:ext uri="{FF2B5EF4-FFF2-40B4-BE49-F238E27FC236}">
                  <a16:creationId xmlns:a16="http://schemas.microsoft.com/office/drawing/2014/main" id="{5FFD2F41-7C2C-45FD-8108-197BFC996F06}"/>
                </a:ext>
              </a:extLst>
            </p:cNvPr>
            <p:cNvSpPr>
              <a:spLocks noEditPoints="1"/>
            </p:cNvSpPr>
            <p:nvPr/>
          </p:nvSpPr>
          <p:spPr bwMode="auto">
            <a:xfrm>
              <a:off x="5494338" y="1522413"/>
              <a:ext cx="106363" cy="133350"/>
            </a:xfrm>
            <a:custGeom>
              <a:avLst/>
              <a:gdLst>
                <a:gd name="T0" fmla="*/ 157 w 266"/>
                <a:gd name="T1" fmla="*/ 108 h 336"/>
                <a:gd name="T2" fmla="*/ 157 w 266"/>
                <a:gd name="T3" fmla="*/ 11 h 336"/>
                <a:gd name="T4" fmla="*/ 252 w 266"/>
                <a:gd name="T5" fmla="*/ 108 h 336"/>
                <a:gd name="T6" fmla="*/ 157 w 266"/>
                <a:gd name="T7" fmla="*/ 108 h 336"/>
                <a:gd name="T8" fmla="*/ 166 w 266"/>
                <a:gd name="T9" fmla="*/ 3 h 336"/>
                <a:gd name="T10" fmla="*/ 162 w 266"/>
                <a:gd name="T11" fmla="*/ 1 h 336"/>
                <a:gd name="T12" fmla="*/ 157 w 266"/>
                <a:gd name="T13" fmla="*/ 0 h 336"/>
                <a:gd name="T14" fmla="*/ 13 w 266"/>
                <a:gd name="T15" fmla="*/ 0 h 336"/>
                <a:gd name="T16" fmla="*/ 8 w 266"/>
                <a:gd name="T17" fmla="*/ 1 h 336"/>
                <a:gd name="T18" fmla="*/ 5 w 266"/>
                <a:gd name="T19" fmla="*/ 3 h 336"/>
                <a:gd name="T20" fmla="*/ 1 w 266"/>
                <a:gd name="T21" fmla="*/ 7 h 336"/>
                <a:gd name="T22" fmla="*/ 0 w 266"/>
                <a:gd name="T23" fmla="*/ 11 h 336"/>
                <a:gd name="T24" fmla="*/ 0 w 266"/>
                <a:gd name="T25" fmla="*/ 325 h 336"/>
                <a:gd name="T26" fmla="*/ 1 w 266"/>
                <a:gd name="T27" fmla="*/ 329 h 336"/>
                <a:gd name="T28" fmla="*/ 5 w 266"/>
                <a:gd name="T29" fmla="*/ 333 h 336"/>
                <a:gd name="T30" fmla="*/ 8 w 266"/>
                <a:gd name="T31" fmla="*/ 335 h 336"/>
                <a:gd name="T32" fmla="*/ 13 w 266"/>
                <a:gd name="T33" fmla="*/ 336 h 336"/>
                <a:gd name="T34" fmla="*/ 253 w 266"/>
                <a:gd name="T35" fmla="*/ 336 h 336"/>
                <a:gd name="T36" fmla="*/ 258 w 266"/>
                <a:gd name="T37" fmla="*/ 335 h 336"/>
                <a:gd name="T38" fmla="*/ 263 w 266"/>
                <a:gd name="T39" fmla="*/ 333 h 336"/>
                <a:gd name="T40" fmla="*/ 265 w 266"/>
                <a:gd name="T41" fmla="*/ 329 h 336"/>
                <a:gd name="T42" fmla="*/ 266 w 266"/>
                <a:gd name="T43" fmla="*/ 325 h 336"/>
                <a:gd name="T44" fmla="*/ 266 w 266"/>
                <a:gd name="T45" fmla="*/ 108 h 336"/>
                <a:gd name="T46" fmla="*/ 265 w 266"/>
                <a:gd name="T47" fmla="*/ 104 h 336"/>
                <a:gd name="T48" fmla="*/ 263 w 266"/>
                <a:gd name="T49" fmla="*/ 100 h 336"/>
                <a:gd name="T50" fmla="*/ 166 w 266"/>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6">
                  <a:moveTo>
                    <a:pt x="157" y="108"/>
                  </a:moveTo>
                  <a:lnTo>
                    <a:pt x="157" y="11"/>
                  </a:lnTo>
                  <a:lnTo>
                    <a:pt x="252" y="108"/>
                  </a:lnTo>
                  <a:lnTo>
                    <a:pt x="157" y="108"/>
                  </a:lnTo>
                  <a:close/>
                  <a:moveTo>
                    <a:pt x="166" y="3"/>
                  </a:moveTo>
                  <a:lnTo>
                    <a:pt x="162" y="1"/>
                  </a:lnTo>
                  <a:lnTo>
                    <a:pt x="157" y="0"/>
                  </a:lnTo>
                  <a:lnTo>
                    <a:pt x="13" y="0"/>
                  </a:lnTo>
                  <a:lnTo>
                    <a:pt x="8" y="1"/>
                  </a:lnTo>
                  <a:lnTo>
                    <a:pt x="5" y="3"/>
                  </a:lnTo>
                  <a:lnTo>
                    <a:pt x="1" y="7"/>
                  </a:lnTo>
                  <a:lnTo>
                    <a:pt x="0" y="11"/>
                  </a:lnTo>
                  <a:lnTo>
                    <a:pt x="0" y="325"/>
                  </a:lnTo>
                  <a:lnTo>
                    <a:pt x="1" y="329"/>
                  </a:lnTo>
                  <a:lnTo>
                    <a:pt x="5" y="333"/>
                  </a:lnTo>
                  <a:lnTo>
                    <a:pt x="8" y="335"/>
                  </a:lnTo>
                  <a:lnTo>
                    <a:pt x="13" y="336"/>
                  </a:lnTo>
                  <a:lnTo>
                    <a:pt x="253" y="336"/>
                  </a:lnTo>
                  <a:lnTo>
                    <a:pt x="258" y="335"/>
                  </a:lnTo>
                  <a:lnTo>
                    <a:pt x="263" y="333"/>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descr="This image is an icon of two sheets of paper. ">
            <a:extLst>
              <a:ext uri="{FF2B5EF4-FFF2-40B4-BE49-F238E27FC236}">
                <a16:creationId xmlns:a16="http://schemas.microsoft.com/office/drawing/2014/main" id="{411839F8-FB7F-4D1C-9734-BE03FFF894B2}"/>
              </a:ext>
            </a:extLst>
          </p:cNvPr>
          <p:cNvGrpSpPr/>
          <p:nvPr/>
        </p:nvGrpSpPr>
        <p:grpSpPr>
          <a:xfrm>
            <a:off x="9391405" y="3139847"/>
            <a:ext cx="287338" cy="285750"/>
            <a:chOff x="4319588" y="1370013"/>
            <a:chExt cx="287338" cy="285750"/>
          </a:xfrm>
          <a:solidFill>
            <a:schemeClr val="accent3">
              <a:lumMod val="75000"/>
            </a:schemeClr>
          </a:solidFill>
        </p:grpSpPr>
        <p:sp>
          <p:nvSpPr>
            <p:cNvPr id="22" name="Freeform 1084">
              <a:extLst>
                <a:ext uri="{FF2B5EF4-FFF2-40B4-BE49-F238E27FC236}">
                  <a16:creationId xmlns:a16="http://schemas.microsoft.com/office/drawing/2014/main" id="{07EEFD79-9F4F-4E94-94F0-8CD35D787759}"/>
                </a:ext>
              </a:extLst>
            </p:cNvPr>
            <p:cNvSpPr>
              <a:spLocks noEditPoints="1"/>
            </p:cNvSpPr>
            <p:nvPr/>
          </p:nvSpPr>
          <p:spPr bwMode="auto">
            <a:xfrm>
              <a:off x="4319588" y="1370013"/>
              <a:ext cx="161925" cy="209550"/>
            </a:xfrm>
            <a:custGeom>
              <a:avLst/>
              <a:gdLst>
                <a:gd name="T0" fmla="*/ 278 w 410"/>
                <a:gd name="T1" fmla="*/ 133 h 529"/>
                <a:gd name="T2" fmla="*/ 278 w 410"/>
                <a:gd name="T3" fmla="*/ 12 h 529"/>
                <a:gd name="T4" fmla="*/ 398 w 410"/>
                <a:gd name="T5" fmla="*/ 133 h 529"/>
                <a:gd name="T6" fmla="*/ 278 w 410"/>
                <a:gd name="T7" fmla="*/ 133 h 529"/>
                <a:gd name="T8" fmla="*/ 410 w 410"/>
                <a:gd name="T9" fmla="*/ 133 h 529"/>
                <a:gd name="T10" fmla="*/ 409 w 410"/>
                <a:gd name="T11" fmla="*/ 129 h 529"/>
                <a:gd name="T12" fmla="*/ 406 w 410"/>
                <a:gd name="T13" fmla="*/ 123 h 529"/>
                <a:gd name="T14" fmla="*/ 286 w 410"/>
                <a:gd name="T15" fmla="*/ 3 h 529"/>
                <a:gd name="T16" fmla="*/ 282 w 410"/>
                <a:gd name="T17" fmla="*/ 1 h 529"/>
                <a:gd name="T18" fmla="*/ 278 w 410"/>
                <a:gd name="T19" fmla="*/ 0 h 529"/>
                <a:gd name="T20" fmla="*/ 12 w 410"/>
                <a:gd name="T21" fmla="*/ 0 h 529"/>
                <a:gd name="T22" fmla="*/ 7 w 410"/>
                <a:gd name="T23" fmla="*/ 1 h 529"/>
                <a:gd name="T24" fmla="*/ 4 w 410"/>
                <a:gd name="T25" fmla="*/ 3 h 529"/>
                <a:gd name="T26" fmla="*/ 1 w 410"/>
                <a:gd name="T27" fmla="*/ 7 h 529"/>
                <a:gd name="T28" fmla="*/ 0 w 410"/>
                <a:gd name="T29" fmla="*/ 12 h 529"/>
                <a:gd name="T30" fmla="*/ 0 w 410"/>
                <a:gd name="T31" fmla="*/ 518 h 529"/>
                <a:gd name="T32" fmla="*/ 1 w 410"/>
                <a:gd name="T33" fmla="*/ 522 h 529"/>
                <a:gd name="T34" fmla="*/ 4 w 410"/>
                <a:gd name="T35" fmla="*/ 526 h 529"/>
                <a:gd name="T36" fmla="*/ 7 w 410"/>
                <a:gd name="T37" fmla="*/ 529 h 529"/>
                <a:gd name="T38" fmla="*/ 12 w 410"/>
                <a:gd name="T39" fmla="*/ 529 h 529"/>
                <a:gd name="T40" fmla="*/ 290 w 410"/>
                <a:gd name="T41" fmla="*/ 529 h 529"/>
                <a:gd name="T42" fmla="*/ 290 w 410"/>
                <a:gd name="T43" fmla="*/ 181 h 529"/>
                <a:gd name="T44" fmla="*/ 290 w 410"/>
                <a:gd name="T45" fmla="*/ 177 h 529"/>
                <a:gd name="T46" fmla="*/ 293 w 410"/>
                <a:gd name="T47" fmla="*/ 172 h 529"/>
                <a:gd name="T48" fmla="*/ 297 w 410"/>
                <a:gd name="T49" fmla="*/ 169 h 529"/>
                <a:gd name="T50" fmla="*/ 301 w 410"/>
                <a:gd name="T51" fmla="*/ 168 h 529"/>
                <a:gd name="T52" fmla="*/ 410 w 410"/>
                <a:gd name="T53" fmla="*/ 168 h 529"/>
                <a:gd name="T54" fmla="*/ 410 w 410"/>
                <a:gd name="T55" fmla="*/ 13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0" h="529">
                  <a:moveTo>
                    <a:pt x="278" y="133"/>
                  </a:moveTo>
                  <a:lnTo>
                    <a:pt x="278" y="12"/>
                  </a:lnTo>
                  <a:lnTo>
                    <a:pt x="398" y="133"/>
                  </a:lnTo>
                  <a:lnTo>
                    <a:pt x="278" y="133"/>
                  </a:lnTo>
                  <a:close/>
                  <a:moveTo>
                    <a:pt x="410" y="133"/>
                  </a:moveTo>
                  <a:lnTo>
                    <a:pt x="409" y="129"/>
                  </a:lnTo>
                  <a:lnTo>
                    <a:pt x="406" y="123"/>
                  </a:lnTo>
                  <a:lnTo>
                    <a:pt x="286" y="3"/>
                  </a:lnTo>
                  <a:lnTo>
                    <a:pt x="282" y="1"/>
                  </a:lnTo>
                  <a:lnTo>
                    <a:pt x="278" y="0"/>
                  </a:lnTo>
                  <a:lnTo>
                    <a:pt x="12" y="0"/>
                  </a:lnTo>
                  <a:lnTo>
                    <a:pt x="7" y="1"/>
                  </a:lnTo>
                  <a:lnTo>
                    <a:pt x="4" y="3"/>
                  </a:lnTo>
                  <a:lnTo>
                    <a:pt x="1" y="7"/>
                  </a:lnTo>
                  <a:lnTo>
                    <a:pt x="0" y="12"/>
                  </a:lnTo>
                  <a:lnTo>
                    <a:pt x="0" y="518"/>
                  </a:lnTo>
                  <a:lnTo>
                    <a:pt x="1" y="522"/>
                  </a:lnTo>
                  <a:lnTo>
                    <a:pt x="4" y="526"/>
                  </a:lnTo>
                  <a:lnTo>
                    <a:pt x="7" y="529"/>
                  </a:lnTo>
                  <a:lnTo>
                    <a:pt x="12" y="529"/>
                  </a:lnTo>
                  <a:lnTo>
                    <a:pt x="290" y="529"/>
                  </a:lnTo>
                  <a:lnTo>
                    <a:pt x="290" y="181"/>
                  </a:lnTo>
                  <a:lnTo>
                    <a:pt x="290" y="177"/>
                  </a:lnTo>
                  <a:lnTo>
                    <a:pt x="293" y="172"/>
                  </a:lnTo>
                  <a:lnTo>
                    <a:pt x="297" y="169"/>
                  </a:lnTo>
                  <a:lnTo>
                    <a:pt x="301" y="168"/>
                  </a:lnTo>
                  <a:lnTo>
                    <a:pt x="410" y="168"/>
                  </a:lnTo>
                  <a:lnTo>
                    <a:pt x="410"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085">
              <a:extLst>
                <a:ext uri="{FF2B5EF4-FFF2-40B4-BE49-F238E27FC236}">
                  <a16:creationId xmlns:a16="http://schemas.microsoft.com/office/drawing/2014/main" id="{1EA0DC39-43EE-4E75-8303-A6AAAF344A20}"/>
                </a:ext>
              </a:extLst>
            </p:cNvPr>
            <p:cNvSpPr>
              <a:spLocks/>
            </p:cNvSpPr>
            <p:nvPr/>
          </p:nvSpPr>
          <p:spPr bwMode="auto">
            <a:xfrm>
              <a:off x="4505325" y="1374775"/>
              <a:ext cx="90488" cy="66675"/>
            </a:xfrm>
            <a:custGeom>
              <a:avLst/>
              <a:gdLst>
                <a:gd name="T0" fmla="*/ 2 w 229"/>
                <a:gd name="T1" fmla="*/ 80 h 169"/>
                <a:gd name="T2" fmla="*/ 3 w 229"/>
                <a:gd name="T3" fmla="*/ 82 h 169"/>
                <a:gd name="T4" fmla="*/ 64 w 229"/>
                <a:gd name="T5" fmla="*/ 141 h 169"/>
                <a:gd name="T6" fmla="*/ 73 w 229"/>
                <a:gd name="T7" fmla="*/ 144 h 169"/>
                <a:gd name="T8" fmla="*/ 81 w 229"/>
                <a:gd name="T9" fmla="*/ 141 h 169"/>
                <a:gd name="T10" fmla="*/ 84 w 229"/>
                <a:gd name="T11" fmla="*/ 132 h 169"/>
                <a:gd name="T12" fmla="*/ 81 w 229"/>
                <a:gd name="T13" fmla="*/ 124 h 169"/>
                <a:gd name="T14" fmla="*/ 163 w 229"/>
                <a:gd name="T15" fmla="*/ 85 h 169"/>
                <a:gd name="T16" fmla="*/ 179 w 229"/>
                <a:gd name="T17" fmla="*/ 88 h 169"/>
                <a:gd name="T18" fmla="*/ 192 w 229"/>
                <a:gd name="T19" fmla="*/ 96 h 169"/>
                <a:gd name="T20" fmla="*/ 201 w 229"/>
                <a:gd name="T21" fmla="*/ 107 h 169"/>
                <a:gd name="T22" fmla="*/ 204 w 229"/>
                <a:gd name="T23" fmla="*/ 121 h 169"/>
                <a:gd name="T24" fmla="*/ 205 w 229"/>
                <a:gd name="T25" fmla="*/ 161 h 169"/>
                <a:gd name="T26" fmla="*/ 212 w 229"/>
                <a:gd name="T27" fmla="*/ 168 h 169"/>
                <a:gd name="T28" fmla="*/ 222 w 229"/>
                <a:gd name="T29" fmla="*/ 168 h 169"/>
                <a:gd name="T30" fmla="*/ 228 w 229"/>
                <a:gd name="T31" fmla="*/ 161 h 169"/>
                <a:gd name="T32" fmla="*/ 229 w 229"/>
                <a:gd name="T33" fmla="*/ 121 h 169"/>
                <a:gd name="T34" fmla="*/ 228 w 229"/>
                <a:gd name="T35" fmla="*/ 108 h 169"/>
                <a:gd name="T36" fmla="*/ 223 w 229"/>
                <a:gd name="T37" fmla="*/ 97 h 169"/>
                <a:gd name="T38" fmla="*/ 217 w 229"/>
                <a:gd name="T39" fmla="*/ 87 h 169"/>
                <a:gd name="T40" fmla="*/ 207 w 229"/>
                <a:gd name="T41" fmla="*/ 78 h 169"/>
                <a:gd name="T42" fmla="*/ 187 w 229"/>
                <a:gd name="T43" fmla="*/ 66 h 169"/>
                <a:gd name="T44" fmla="*/ 176 w 229"/>
                <a:gd name="T45" fmla="*/ 63 h 169"/>
                <a:gd name="T46" fmla="*/ 163 w 229"/>
                <a:gd name="T47" fmla="*/ 62 h 169"/>
                <a:gd name="T48" fmla="*/ 81 w 229"/>
                <a:gd name="T49" fmla="*/ 21 h 169"/>
                <a:gd name="T50" fmla="*/ 85 w 229"/>
                <a:gd name="T51" fmla="*/ 13 h 169"/>
                <a:gd name="T52" fmla="*/ 81 w 229"/>
                <a:gd name="T53" fmla="*/ 3 h 169"/>
                <a:gd name="T54" fmla="*/ 73 w 229"/>
                <a:gd name="T55" fmla="*/ 0 h 169"/>
                <a:gd name="T56" fmla="*/ 65 w 229"/>
                <a:gd name="T57" fmla="*/ 3 h 169"/>
                <a:gd name="T58" fmla="*/ 2 w 229"/>
                <a:gd name="T59" fmla="*/ 67 h 169"/>
                <a:gd name="T60" fmla="*/ 0 w 229"/>
                <a:gd name="T61" fmla="*/ 71 h 169"/>
                <a:gd name="T62" fmla="*/ 0 w 229"/>
                <a:gd name="T63" fmla="*/ 73 h 169"/>
                <a:gd name="T64" fmla="*/ 0 w 229"/>
                <a:gd name="T65" fmla="*/ 74 h 169"/>
                <a:gd name="T66" fmla="*/ 1 w 229"/>
                <a:gd name="T67"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9" h="169">
                  <a:moveTo>
                    <a:pt x="1" y="78"/>
                  </a:moveTo>
                  <a:lnTo>
                    <a:pt x="2" y="80"/>
                  </a:lnTo>
                  <a:lnTo>
                    <a:pt x="3" y="82"/>
                  </a:lnTo>
                  <a:lnTo>
                    <a:pt x="3" y="82"/>
                  </a:lnTo>
                  <a:lnTo>
                    <a:pt x="3" y="82"/>
                  </a:lnTo>
                  <a:lnTo>
                    <a:pt x="64" y="141"/>
                  </a:lnTo>
                  <a:lnTo>
                    <a:pt x="68" y="143"/>
                  </a:lnTo>
                  <a:lnTo>
                    <a:pt x="73" y="144"/>
                  </a:lnTo>
                  <a:lnTo>
                    <a:pt x="77" y="143"/>
                  </a:lnTo>
                  <a:lnTo>
                    <a:pt x="81" y="141"/>
                  </a:lnTo>
                  <a:lnTo>
                    <a:pt x="83" y="137"/>
                  </a:lnTo>
                  <a:lnTo>
                    <a:pt x="84" y="132"/>
                  </a:lnTo>
                  <a:lnTo>
                    <a:pt x="83" y="128"/>
                  </a:lnTo>
                  <a:lnTo>
                    <a:pt x="81" y="124"/>
                  </a:lnTo>
                  <a:lnTo>
                    <a:pt x="41" y="85"/>
                  </a:lnTo>
                  <a:lnTo>
                    <a:pt x="163" y="85"/>
                  </a:lnTo>
                  <a:lnTo>
                    <a:pt x="172" y="86"/>
                  </a:lnTo>
                  <a:lnTo>
                    <a:pt x="179" y="88"/>
                  </a:lnTo>
                  <a:lnTo>
                    <a:pt x="186" y="92"/>
                  </a:lnTo>
                  <a:lnTo>
                    <a:pt x="192" y="96"/>
                  </a:lnTo>
                  <a:lnTo>
                    <a:pt x="197" y="102"/>
                  </a:lnTo>
                  <a:lnTo>
                    <a:pt x="201" y="107"/>
                  </a:lnTo>
                  <a:lnTo>
                    <a:pt x="203" y="114"/>
                  </a:lnTo>
                  <a:lnTo>
                    <a:pt x="204" y="121"/>
                  </a:lnTo>
                  <a:lnTo>
                    <a:pt x="204" y="156"/>
                  </a:lnTo>
                  <a:lnTo>
                    <a:pt x="205" y="161"/>
                  </a:lnTo>
                  <a:lnTo>
                    <a:pt x="208" y="166"/>
                  </a:lnTo>
                  <a:lnTo>
                    <a:pt x="212" y="168"/>
                  </a:lnTo>
                  <a:lnTo>
                    <a:pt x="217" y="169"/>
                  </a:lnTo>
                  <a:lnTo>
                    <a:pt x="222" y="168"/>
                  </a:lnTo>
                  <a:lnTo>
                    <a:pt x="226" y="166"/>
                  </a:lnTo>
                  <a:lnTo>
                    <a:pt x="228" y="161"/>
                  </a:lnTo>
                  <a:lnTo>
                    <a:pt x="229" y="156"/>
                  </a:lnTo>
                  <a:lnTo>
                    <a:pt x="229" y="121"/>
                  </a:lnTo>
                  <a:lnTo>
                    <a:pt x="229" y="115"/>
                  </a:lnTo>
                  <a:lnTo>
                    <a:pt x="228" y="108"/>
                  </a:lnTo>
                  <a:lnTo>
                    <a:pt x="226" y="102"/>
                  </a:lnTo>
                  <a:lnTo>
                    <a:pt x="223" y="97"/>
                  </a:lnTo>
                  <a:lnTo>
                    <a:pt x="220" y="92"/>
                  </a:lnTo>
                  <a:lnTo>
                    <a:pt x="217" y="87"/>
                  </a:lnTo>
                  <a:lnTo>
                    <a:pt x="212" y="82"/>
                  </a:lnTo>
                  <a:lnTo>
                    <a:pt x="207" y="78"/>
                  </a:lnTo>
                  <a:lnTo>
                    <a:pt x="197" y="71"/>
                  </a:lnTo>
                  <a:lnTo>
                    <a:pt x="187" y="66"/>
                  </a:lnTo>
                  <a:lnTo>
                    <a:pt x="181" y="64"/>
                  </a:lnTo>
                  <a:lnTo>
                    <a:pt x="176" y="63"/>
                  </a:lnTo>
                  <a:lnTo>
                    <a:pt x="170" y="62"/>
                  </a:lnTo>
                  <a:lnTo>
                    <a:pt x="163" y="62"/>
                  </a:lnTo>
                  <a:lnTo>
                    <a:pt x="41" y="62"/>
                  </a:lnTo>
                  <a:lnTo>
                    <a:pt x="81" y="21"/>
                  </a:lnTo>
                  <a:lnTo>
                    <a:pt x="84" y="17"/>
                  </a:lnTo>
                  <a:lnTo>
                    <a:pt x="85" y="13"/>
                  </a:lnTo>
                  <a:lnTo>
                    <a:pt x="84" y="7"/>
                  </a:lnTo>
                  <a:lnTo>
                    <a:pt x="81" y="3"/>
                  </a:lnTo>
                  <a:lnTo>
                    <a:pt x="77" y="0"/>
                  </a:lnTo>
                  <a:lnTo>
                    <a:pt x="73" y="0"/>
                  </a:lnTo>
                  <a:lnTo>
                    <a:pt x="69" y="0"/>
                  </a:lnTo>
                  <a:lnTo>
                    <a:pt x="65" y="3"/>
                  </a:lnTo>
                  <a:lnTo>
                    <a:pt x="3" y="65"/>
                  </a:lnTo>
                  <a:lnTo>
                    <a:pt x="2" y="67"/>
                  </a:lnTo>
                  <a:lnTo>
                    <a:pt x="1" y="69"/>
                  </a:lnTo>
                  <a:lnTo>
                    <a:pt x="0" y="71"/>
                  </a:lnTo>
                  <a:lnTo>
                    <a:pt x="0" y="72"/>
                  </a:lnTo>
                  <a:lnTo>
                    <a:pt x="0" y="73"/>
                  </a:lnTo>
                  <a:lnTo>
                    <a:pt x="0" y="74"/>
                  </a:lnTo>
                  <a:lnTo>
                    <a:pt x="0" y="74"/>
                  </a:lnTo>
                  <a:lnTo>
                    <a:pt x="0" y="76"/>
                  </a:lnTo>
                  <a:lnTo>
                    <a:pt x="1"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086">
              <a:extLst>
                <a:ext uri="{FF2B5EF4-FFF2-40B4-BE49-F238E27FC236}">
                  <a16:creationId xmlns:a16="http://schemas.microsoft.com/office/drawing/2014/main" id="{D8023874-1D0B-4F45-BAF8-7FD883B21079}"/>
                </a:ext>
              </a:extLst>
            </p:cNvPr>
            <p:cNvSpPr>
              <a:spLocks/>
            </p:cNvSpPr>
            <p:nvPr/>
          </p:nvSpPr>
          <p:spPr bwMode="auto">
            <a:xfrm>
              <a:off x="4329113" y="1593850"/>
              <a:ext cx="90488" cy="58738"/>
            </a:xfrm>
            <a:custGeom>
              <a:avLst/>
              <a:gdLst>
                <a:gd name="T0" fmla="*/ 225 w 228"/>
                <a:gd name="T1" fmla="*/ 65 h 146"/>
                <a:gd name="T2" fmla="*/ 165 w 228"/>
                <a:gd name="T3" fmla="*/ 5 h 146"/>
                <a:gd name="T4" fmla="*/ 161 w 228"/>
                <a:gd name="T5" fmla="*/ 2 h 146"/>
                <a:gd name="T6" fmla="*/ 156 w 228"/>
                <a:gd name="T7" fmla="*/ 1 h 146"/>
                <a:gd name="T8" fmla="*/ 152 w 228"/>
                <a:gd name="T9" fmla="*/ 2 h 146"/>
                <a:gd name="T10" fmla="*/ 148 w 228"/>
                <a:gd name="T11" fmla="*/ 5 h 146"/>
                <a:gd name="T12" fmla="*/ 145 w 228"/>
                <a:gd name="T13" fmla="*/ 8 h 146"/>
                <a:gd name="T14" fmla="*/ 144 w 228"/>
                <a:gd name="T15" fmla="*/ 13 h 146"/>
                <a:gd name="T16" fmla="*/ 145 w 228"/>
                <a:gd name="T17" fmla="*/ 17 h 146"/>
                <a:gd name="T18" fmla="*/ 148 w 228"/>
                <a:gd name="T19" fmla="*/ 21 h 146"/>
                <a:gd name="T20" fmla="*/ 187 w 228"/>
                <a:gd name="T21" fmla="*/ 61 h 146"/>
                <a:gd name="T22" fmla="*/ 64 w 228"/>
                <a:gd name="T23" fmla="*/ 61 h 146"/>
                <a:gd name="T24" fmla="*/ 58 w 228"/>
                <a:gd name="T25" fmla="*/ 61 h 146"/>
                <a:gd name="T26" fmla="*/ 51 w 228"/>
                <a:gd name="T27" fmla="*/ 60 h 146"/>
                <a:gd name="T28" fmla="*/ 45 w 228"/>
                <a:gd name="T29" fmla="*/ 58 h 146"/>
                <a:gd name="T30" fmla="*/ 37 w 228"/>
                <a:gd name="T31" fmla="*/ 55 h 146"/>
                <a:gd name="T32" fmla="*/ 32 w 228"/>
                <a:gd name="T33" fmla="*/ 52 h 146"/>
                <a:gd name="T34" fmla="*/ 27 w 228"/>
                <a:gd name="T35" fmla="*/ 48 h 146"/>
                <a:gd name="T36" fmla="*/ 26 w 228"/>
                <a:gd name="T37" fmla="*/ 45 h 146"/>
                <a:gd name="T38" fmla="*/ 24 w 228"/>
                <a:gd name="T39" fmla="*/ 42 h 146"/>
                <a:gd name="T40" fmla="*/ 24 w 228"/>
                <a:gd name="T41" fmla="*/ 39 h 146"/>
                <a:gd name="T42" fmla="*/ 23 w 228"/>
                <a:gd name="T43" fmla="*/ 36 h 146"/>
                <a:gd name="T44" fmla="*/ 23 w 228"/>
                <a:gd name="T45" fmla="*/ 12 h 146"/>
                <a:gd name="T46" fmla="*/ 22 w 228"/>
                <a:gd name="T47" fmla="*/ 7 h 146"/>
                <a:gd name="T48" fmla="*/ 20 w 228"/>
                <a:gd name="T49" fmla="*/ 4 h 146"/>
                <a:gd name="T50" fmla="*/ 16 w 228"/>
                <a:gd name="T51" fmla="*/ 1 h 146"/>
                <a:gd name="T52" fmla="*/ 12 w 228"/>
                <a:gd name="T53" fmla="*/ 0 h 146"/>
                <a:gd name="T54" fmla="*/ 7 w 228"/>
                <a:gd name="T55" fmla="*/ 1 h 146"/>
                <a:gd name="T56" fmla="*/ 3 w 228"/>
                <a:gd name="T57" fmla="*/ 4 h 146"/>
                <a:gd name="T58" fmla="*/ 1 w 228"/>
                <a:gd name="T59" fmla="*/ 7 h 146"/>
                <a:gd name="T60" fmla="*/ 0 w 228"/>
                <a:gd name="T61" fmla="*/ 12 h 146"/>
                <a:gd name="T62" fmla="*/ 0 w 228"/>
                <a:gd name="T63" fmla="*/ 36 h 146"/>
                <a:gd name="T64" fmla="*/ 0 w 228"/>
                <a:gd name="T65" fmla="*/ 42 h 146"/>
                <a:gd name="T66" fmla="*/ 1 w 228"/>
                <a:gd name="T67" fmla="*/ 48 h 146"/>
                <a:gd name="T68" fmla="*/ 3 w 228"/>
                <a:gd name="T69" fmla="*/ 53 h 146"/>
                <a:gd name="T70" fmla="*/ 5 w 228"/>
                <a:gd name="T71" fmla="*/ 58 h 146"/>
                <a:gd name="T72" fmla="*/ 8 w 228"/>
                <a:gd name="T73" fmla="*/ 62 h 146"/>
                <a:gd name="T74" fmla="*/ 12 w 228"/>
                <a:gd name="T75" fmla="*/ 66 h 146"/>
                <a:gd name="T76" fmla="*/ 16 w 228"/>
                <a:gd name="T77" fmla="*/ 70 h 146"/>
                <a:gd name="T78" fmla="*/ 20 w 228"/>
                <a:gd name="T79" fmla="*/ 73 h 146"/>
                <a:gd name="T80" fmla="*/ 30 w 228"/>
                <a:gd name="T81" fmla="*/ 79 h 146"/>
                <a:gd name="T82" fmla="*/ 41 w 228"/>
                <a:gd name="T83" fmla="*/ 83 h 146"/>
                <a:gd name="T84" fmla="*/ 53 w 228"/>
                <a:gd name="T85" fmla="*/ 85 h 146"/>
                <a:gd name="T86" fmla="*/ 64 w 228"/>
                <a:gd name="T87" fmla="*/ 86 h 146"/>
                <a:gd name="T88" fmla="*/ 187 w 228"/>
                <a:gd name="T89" fmla="*/ 86 h 146"/>
                <a:gd name="T90" fmla="*/ 148 w 228"/>
                <a:gd name="T91" fmla="*/ 125 h 146"/>
                <a:gd name="T92" fmla="*/ 145 w 228"/>
                <a:gd name="T93" fmla="*/ 130 h 146"/>
                <a:gd name="T94" fmla="*/ 144 w 228"/>
                <a:gd name="T95" fmla="*/ 134 h 146"/>
                <a:gd name="T96" fmla="*/ 145 w 228"/>
                <a:gd name="T97" fmla="*/ 138 h 146"/>
                <a:gd name="T98" fmla="*/ 148 w 228"/>
                <a:gd name="T99" fmla="*/ 142 h 146"/>
                <a:gd name="T100" fmla="*/ 152 w 228"/>
                <a:gd name="T101" fmla="*/ 145 h 146"/>
                <a:gd name="T102" fmla="*/ 156 w 228"/>
                <a:gd name="T103" fmla="*/ 146 h 146"/>
                <a:gd name="T104" fmla="*/ 161 w 228"/>
                <a:gd name="T105" fmla="*/ 145 h 146"/>
                <a:gd name="T106" fmla="*/ 165 w 228"/>
                <a:gd name="T107" fmla="*/ 142 h 146"/>
                <a:gd name="T108" fmla="*/ 225 w 228"/>
                <a:gd name="T109" fmla="*/ 82 h 146"/>
                <a:gd name="T110" fmla="*/ 226 w 228"/>
                <a:gd name="T111" fmla="*/ 80 h 146"/>
                <a:gd name="T112" fmla="*/ 227 w 228"/>
                <a:gd name="T113" fmla="*/ 79 h 146"/>
                <a:gd name="T114" fmla="*/ 228 w 228"/>
                <a:gd name="T115" fmla="*/ 72 h 146"/>
                <a:gd name="T116" fmla="*/ 227 w 228"/>
                <a:gd name="T117" fmla="*/ 68 h 146"/>
                <a:gd name="T118" fmla="*/ 226 w 228"/>
                <a:gd name="T119" fmla="*/ 66 h 146"/>
                <a:gd name="T120" fmla="*/ 225 w 228"/>
                <a:gd name="T121" fmla="*/ 6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8" h="146">
                  <a:moveTo>
                    <a:pt x="225" y="65"/>
                  </a:moveTo>
                  <a:lnTo>
                    <a:pt x="165" y="5"/>
                  </a:lnTo>
                  <a:lnTo>
                    <a:pt x="161" y="2"/>
                  </a:lnTo>
                  <a:lnTo>
                    <a:pt x="156" y="1"/>
                  </a:lnTo>
                  <a:lnTo>
                    <a:pt x="152" y="2"/>
                  </a:lnTo>
                  <a:lnTo>
                    <a:pt x="148" y="5"/>
                  </a:lnTo>
                  <a:lnTo>
                    <a:pt x="145" y="8"/>
                  </a:lnTo>
                  <a:lnTo>
                    <a:pt x="144" y="13"/>
                  </a:lnTo>
                  <a:lnTo>
                    <a:pt x="145" y="17"/>
                  </a:lnTo>
                  <a:lnTo>
                    <a:pt x="148" y="21"/>
                  </a:lnTo>
                  <a:lnTo>
                    <a:pt x="187" y="61"/>
                  </a:lnTo>
                  <a:lnTo>
                    <a:pt x="64" y="61"/>
                  </a:lnTo>
                  <a:lnTo>
                    <a:pt x="58" y="61"/>
                  </a:lnTo>
                  <a:lnTo>
                    <a:pt x="51" y="60"/>
                  </a:lnTo>
                  <a:lnTo>
                    <a:pt x="45" y="58"/>
                  </a:lnTo>
                  <a:lnTo>
                    <a:pt x="37" y="55"/>
                  </a:lnTo>
                  <a:lnTo>
                    <a:pt x="32" y="52"/>
                  </a:lnTo>
                  <a:lnTo>
                    <a:pt x="27" y="48"/>
                  </a:lnTo>
                  <a:lnTo>
                    <a:pt x="26" y="45"/>
                  </a:lnTo>
                  <a:lnTo>
                    <a:pt x="24" y="42"/>
                  </a:lnTo>
                  <a:lnTo>
                    <a:pt x="24" y="39"/>
                  </a:lnTo>
                  <a:lnTo>
                    <a:pt x="23" y="36"/>
                  </a:lnTo>
                  <a:lnTo>
                    <a:pt x="23" y="12"/>
                  </a:lnTo>
                  <a:lnTo>
                    <a:pt x="22" y="7"/>
                  </a:lnTo>
                  <a:lnTo>
                    <a:pt x="20" y="4"/>
                  </a:lnTo>
                  <a:lnTo>
                    <a:pt x="16" y="1"/>
                  </a:lnTo>
                  <a:lnTo>
                    <a:pt x="12" y="0"/>
                  </a:lnTo>
                  <a:lnTo>
                    <a:pt x="7" y="1"/>
                  </a:lnTo>
                  <a:lnTo>
                    <a:pt x="3" y="4"/>
                  </a:lnTo>
                  <a:lnTo>
                    <a:pt x="1" y="7"/>
                  </a:lnTo>
                  <a:lnTo>
                    <a:pt x="0" y="12"/>
                  </a:lnTo>
                  <a:lnTo>
                    <a:pt x="0" y="36"/>
                  </a:lnTo>
                  <a:lnTo>
                    <a:pt x="0" y="42"/>
                  </a:lnTo>
                  <a:lnTo>
                    <a:pt x="1" y="48"/>
                  </a:lnTo>
                  <a:lnTo>
                    <a:pt x="3" y="53"/>
                  </a:lnTo>
                  <a:lnTo>
                    <a:pt x="5" y="58"/>
                  </a:lnTo>
                  <a:lnTo>
                    <a:pt x="8" y="62"/>
                  </a:lnTo>
                  <a:lnTo>
                    <a:pt x="12" y="66"/>
                  </a:lnTo>
                  <a:lnTo>
                    <a:pt x="16" y="70"/>
                  </a:lnTo>
                  <a:lnTo>
                    <a:pt x="20" y="73"/>
                  </a:lnTo>
                  <a:lnTo>
                    <a:pt x="30" y="79"/>
                  </a:lnTo>
                  <a:lnTo>
                    <a:pt x="41" y="83"/>
                  </a:lnTo>
                  <a:lnTo>
                    <a:pt x="53" y="85"/>
                  </a:lnTo>
                  <a:lnTo>
                    <a:pt x="64" y="86"/>
                  </a:lnTo>
                  <a:lnTo>
                    <a:pt x="187" y="86"/>
                  </a:lnTo>
                  <a:lnTo>
                    <a:pt x="148" y="125"/>
                  </a:lnTo>
                  <a:lnTo>
                    <a:pt x="145" y="130"/>
                  </a:lnTo>
                  <a:lnTo>
                    <a:pt x="144" y="134"/>
                  </a:lnTo>
                  <a:lnTo>
                    <a:pt x="145" y="138"/>
                  </a:lnTo>
                  <a:lnTo>
                    <a:pt x="148" y="142"/>
                  </a:lnTo>
                  <a:lnTo>
                    <a:pt x="152" y="145"/>
                  </a:lnTo>
                  <a:lnTo>
                    <a:pt x="156" y="146"/>
                  </a:lnTo>
                  <a:lnTo>
                    <a:pt x="161" y="145"/>
                  </a:lnTo>
                  <a:lnTo>
                    <a:pt x="165" y="142"/>
                  </a:lnTo>
                  <a:lnTo>
                    <a:pt x="225" y="82"/>
                  </a:lnTo>
                  <a:lnTo>
                    <a:pt x="226" y="80"/>
                  </a:lnTo>
                  <a:lnTo>
                    <a:pt x="227" y="79"/>
                  </a:lnTo>
                  <a:lnTo>
                    <a:pt x="228" y="72"/>
                  </a:lnTo>
                  <a:lnTo>
                    <a:pt x="227" y="68"/>
                  </a:lnTo>
                  <a:lnTo>
                    <a:pt x="226" y="66"/>
                  </a:lnTo>
                  <a:lnTo>
                    <a:pt x="225" y="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087">
              <a:extLst>
                <a:ext uri="{FF2B5EF4-FFF2-40B4-BE49-F238E27FC236}">
                  <a16:creationId xmlns:a16="http://schemas.microsoft.com/office/drawing/2014/main" id="{CA85A1E3-5078-4027-BAFF-0C6D14C74A55}"/>
                </a:ext>
              </a:extLst>
            </p:cNvPr>
            <p:cNvSpPr>
              <a:spLocks noEditPoints="1"/>
            </p:cNvSpPr>
            <p:nvPr/>
          </p:nvSpPr>
          <p:spPr bwMode="auto">
            <a:xfrm>
              <a:off x="4443413" y="1446213"/>
              <a:ext cx="163513" cy="209550"/>
            </a:xfrm>
            <a:custGeom>
              <a:avLst/>
              <a:gdLst>
                <a:gd name="T0" fmla="*/ 278 w 410"/>
                <a:gd name="T1" fmla="*/ 132 h 529"/>
                <a:gd name="T2" fmla="*/ 278 w 410"/>
                <a:gd name="T3" fmla="*/ 12 h 529"/>
                <a:gd name="T4" fmla="*/ 398 w 410"/>
                <a:gd name="T5" fmla="*/ 132 h 529"/>
                <a:gd name="T6" fmla="*/ 278 w 410"/>
                <a:gd name="T7" fmla="*/ 132 h 529"/>
                <a:gd name="T8" fmla="*/ 406 w 410"/>
                <a:gd name="T9" fmla="*/ 123 h 529"/>
                <a:gd name="T10" fmla="*/ 286 w 410"/>
                <a:gd name="T11" fmla="*/ 3 h 529"/>
                <a:gd name="T12" fmla="*/ 282 w 410"/>
                <a:gd name="T13" fmla="*/ 1 h 529"/>
                <a:gd name="T14" fmla="*/ 278 w 410"/>
                <a:gd name="T15" fmla="*/ 0 h 529"/>
                <a:gd name="T16" fmla="*/ 13 w 410"/>
                <a:gd name="T17" fmla="*/ 0 h 529"/>
                <a:gd name="T18" fmla="*/ 0 w 410"/>
                <a:gd name="T19" fmla="*/ 0 h 529"/>
                <a:gd name="T20" fmla="*/ 0 w 410"/>
                <a:gd name="T21" fmla="*/ 12 h 529"/>
                <a:gd name="T22" fmla="*/ 0 w 410"/>
                <a:gd name="T23" fmla="*/ 518 h 529"/>
                <a:gd name="T24" fmla="*/ 1 w 410"/>
                <a:gd name="T25" fmla="*/ 522 h 529"/>
                <a:gd name="T26" fmla="*/ 4 w 410"/>
                <a:gd name="T27" fmla="*/ 526 h 529"/>
                <a:gd name="T28" fmla="*/ 7 w 410"/>
                <a:gd name="T29" fmla="*/ 528 h 529"/>
                <a:gd name="T30" fmla="*/ 13 w 410"/>
                <a:gd name="T31" fmla="*/ 529 h 529"/>
                <a:gd name="T32" fmla="*/ 398 w 410"/>
                <a:gd name="T33" fmla="*/ 529 h 529"/>
                <a:gd name="T34" fmla="*/ 402 w 410"/>
                <a:gd name="T35" fmla="*/ 528 h 529"/>
                <a:gd name="T36" fmla="*/ 406 w 410"/>
                <a:gd name="T37" fmla="*/ 526 h 529"/>
                <a:gd name="T38" fmla="*/ 409 w 410"/>
                <a:gd name="T39" fmla="*/ 522 h 529"/>
                <a:gd name="T40" fmla="*/ 410 w 410"/>
                <a:gd name="T41" fmla="*/ 518 h 529"/>
                <a:gd name="T42" fmla="*/ 410 w 410"/>
                <a:gd name="T43" fmla="*/ 132 h 529"/>
                <a:gd name="T44" fmla="*/ 409 w 410"/>
                <a:gd name="T45" fmla="*/ 127 h 529"/>
                <a:gd name="T46" fmla="*/ 406 w 410"/>
                <a:gd name="T47" fmla="*/ 12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0" h="529">
                  <a:moveTo>
                    <a:pt x="278" y="132"/>
                  </a:moveTo>
                  <a:lnTo>
                    <a:pt x="278" y="12"/>
                  </a:lnTo>
                  <a:lnTo>
                    <a:pt x="398" y="132"/>
                  </a:lnTo>
                  <a:lnTo>
                    <a:pt x="278" y="132"/>
                  </a:lnTo>
                  <a:close/>
                  <a:moveTo>
                    <a:pt x="406" y="123"/>
                  </a:moveTo>
                  <a:lnTo>
                    <a:pt x="286" y="3"/>
                  </a:lnTo>
                  <a:lnTo>
                    <a:pt x="282" y="1"/>
                  </a:lnTo>
                  <a:lnTo>
                    <a:pt x="278" y="0"/>
                  </a:lnTo>
                  <a:lnTo>
                    <a:pt x="13" y="0"/>
                  </a:lnTo>
                  <a:lnTo>
                    <a:pt x="0" y="0"/>
                  </a:lnTo>
                  <a:lnTo>
                    <a:pt x="0" y="12"/>
                  </a:lnTo>
                  <a:lnTo>
                    <a:pt x="0" y="518"/>
                  </a:lnTo>
                  <a:lnTo>
                    <a:pt x="1" y="522"/>
                  </a:lnTo>
                  <a:lnTo>
                    <a:pt x="4" y="526"/>
                  </a:lnTo>
                  <a:lnTo>
                    <a:pt x="7" y="528"/>
                  </a:lnTo>
                  <a:lnTo>
                    <a:pt x="13" y="529"/>
                  </a:lnTo>
                  <a:lnTo>
                    <a:pt x="398" y="529"/>
                  </a:lnTo>
                  <a:lnTo>
                    <a:pt x="402" y="528"/>
                  </a:lnTo>
                  <a:lnTo>
                    <a:pt x="406" y="526"/>
                  </a:lnTo>
                  <a:lnTo>
                    <a:pt x="409" y="522"/>
                  </a:lnTo>
                  <a:lnTo>
                    <a:pt x="410" y="518"/>
                  </a:lnTo>
                  <a:lnTo>
                    <a:pt x="410" y="132"/>
                  </a:lnTo>
                  <a:lnTo>
                    <a:pt x="409" y="127"/>
                  </a:lnTo>
                  <a:lnTo>
                    <a:pt x="406"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061713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2E268-448E-1AEC-A30E-4ACA95E0A8B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3A1C111-3658-D335-BB7F-A8731D01D46D}"/>
              </a:ext>
              <a:ext uri="{C183D7F6-B498-43B3-948B-1728B52AA6E4}">
                <adec:decorative xmlns:adec="http://schemas.microsoft.com/office/drawing/2017/decorative" val="1"/>
              </a:ext>
            </a:extLst>
          </p:cNvPr>
          <p:cNvSpPr/>
          <p:nvPr/>
        </p:nvSpPr>
        <p:spPr>
          <a:xfrm>
            <a:off x="0" y="990601"/>
            <a:ext cx="12192000" cy="3513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1BA445AF-FF10-ED30-F8EB-7CF74C1B524D}"/>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1277E8F3-D19D-E408-0A6C-4922CDF5C884}"/>
              </a:ext>
              <a:ext uri="{C183D7F6-B498-43B3-948B-1728B52AA6E4}">
                <adec:decorative xmlns:adec="http://schemas.microsoft.com/office/drawing/2017/decorative" val="1"/>
              </a:ext>
            </a:extLst>
          </p:cNvPr>
          <p:cNvCxnSpPr>
            <a:cxnSpLocks/>
          </p:cNvCxnSpPr>
          <p:nvPr/>
        </p:nvCxnSpPr>
        <p:spPr>
          <a:xfrm>
            <a:off x="9262872" y="522898"/>
            <a:ext cx="292912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F79467A-472D-D33B-BED5-44E399A60FB4}"/>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Findings from Bivariate Analysis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9A62E35-B4DF-7153-6753-6EE86C9C45F8}"/>
              </a:ext>
              <a:ext uri="{C183D7F6-B498-43B3-948B-1728B52AA6E4}">
                <adec:decorative xmlns:adec="http://schemas.microsoft.com/office/drawing/2017/decorative" val="1"/>
              </a:ext>
            </a:extLst>
          </p:cNvPr>
          <p:cNvCxnSpPr>
            <a:cxnSpLocks/>
          </p:cNvCxnSpPr>
          <p:nvPr/>
        </p:nvCxnSpPr>
        <p:spPr>
          <a:xfrm>
            <a:off x="0" y="522898"/>
            <a:ext cx="330098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aphicFrame>
        <p:nvGraphicFramePr>
          <p:cNvPr id="7" name="Chart 6" descr="Chart.">
            <a:extLst>
              <a:ext uri="{FF2B5EF4-FFF2-40B4-BE49-F238E27FC236}">
                <a16:creationId xmlns:a16="http://schemas.microsoft.com/office/drawing/2014/main" id="{5C08221A-2AB6-5F07-F8F4-9AB5AD7E2DCC}"/>
              </a:ext>
            </a:extLst>
          </p:cNvPr>
          <p:cNvGraphicFramePr/>
          <p:nvPr/>
        </p:nvGraphicFramePr>
        <p:xfrm>
          <a:off x="654050" y="1075266"/>
          <a:ext cx="10883900" cy="3344334"/>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Straight Connector 14">
            <a:extLst>
              <a:ext uri="{FF2B5EF4-FFF2-40B4-BE49-F238E27FC236}">
                <a16:creationId xmlns:a16="http://schemas.microsoft.com/office/drawing/2014/main" id="{9327764A-8C43-9265-604A-EC595496F6B5}"/>
              </a:ext>
              <a:ext uri="{C183D7F6-B498-43B3-948B-1728B52AA6E4}">
                <adec:decorative xmlns:adec="http://schemas.microsoft.com/office/drawing/2017/decorative" val="1"/>
              </a:ext>
            </a:extLst>
          </p:cNvPr>
          <p:cNvCxnSpPr/>
          <p:nvPr/>
        </p:nvCxnSpPr>
        <p:spPr>
          <a:xfrm>
            <a:off x="4152902" y="4879971"/>
            <a:ext cx="0" cy="120650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7EEF4CA-B44F-AA52-E4C5-3333576A9F57}"/>
              </a:ext>
              <a:ext uri="{C183D7F6-B498-43B3-948B-1728B52AA6E4}">
                <adec:decorative xmlns:adec="http://schemas.microsoft.com/office/drawing/2017/decorative" val="1"/>
              </a:ext>
            </a:extLst>
          </p:cNvPr>
          <p:cNvCxnSpPr/>
          <p:nvPr/>
        </p:nvCxnSpPr>
        <p:spPr>
          <a:xfrm>
            <a:off x="8039100" y="4879971"/>
            <a:ext cx="0" cy="120650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15B0A97-4920-E10A-ECD6-D14A3E52BBE8}"/>
              </a:ext>
            </a:extLst>
          </p:cNvPr>
          <p:cNvSpPr/>
          <p:nvPr/>
        </p:nvSpPr>
        <p:spPr>
          <a:xfrm>
            <a:off x="838205" y="5521007"/>
            <a:ext cx="2743195" cy="710707"/>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a:t>
            </a:r>
          </a:p>
        </p:txBody>
      </p:sp>
      <p:sp>
        <p:nvSpPr>
          <p:cNvPr id="44" name="Rectangle 43">
            <a:extLst>
              <a:ext uri="{FF2B5EF4-FFF2-40B4-BE49-F238E27FC236}">
                <a16:creationId xmlns:a16="http://schemas.microsoft.com/office/drawing/2014/main" id="{F0E06CA2-B7D7-E51F-C18F-F41F562AFD53}"/>
              </a:ext>
            </a:extLst>
          </p:cNvPr>
          <p:cNvSpPr/>
          <p:nvPr/>
        </p:nvSpPr>
        <p:spPr>
          <a:xfrm>
            <a:off x="838205" y="5000266"/>
            <a:ext cx="2743195" cy="492443"/>
          </a:xfrm>
          <a:prstGeom prst="rect">
            <a:avLst/>
          </a:prstGeom>
        </p:spPr>
        <p:txBody>
          <a:bodyPr wrap="square" lIns="0" tIns="0" rIns="0" bIns="0" anchor="t">
            <a:spAutoFit/>
          </a:bodyPr>
          <a:lstStyle/>
          <a:p>
            <a:r>
              <a:rPr lang="en-US" sz="3200" dirty="0">
                <a:solidFill>
                  <a:schemeClr val="accent3">
                    <a:lumMod val="75000"/>
                  </a:schemeClr>
                </a:solidFill>
                <a:cs typeface="Segoe UI" panose="020B0502040204020203" pitchFamily="34" charset="0"/>
              </a:rPr>
              <a:t>5,980</a:t>
            </a:r>
          </a:p>
        </p:txBody>
      </p:sp>
      <p:sp>
        <p:nvSpPr>
          <p:cNvPr id="45" name="Rectangle 44">
            <a:extLst>
              <a:ext uri="{FF2B5EF4-FFF2-40B4-BE49-F238E27FC236}">
                <a16:creationId xmlns:a16="http://schemas.microsoft.com/office/drawing/2014/main" id="{1C477EC7-980A-04E8-4662-C83FFC88FA93}"/>
              </a:ext>
            </a:extLst>
          </p:cNvPr>
          <p:cNvSpPr/>
          <p:nvPr/>
        </p:nvSpPr>
        <p:spPr>
          <a:xfrm>
            <a:off x="838205" y="4748574"/>
            <a:ext cx="2743195" cy="223394"/>
          </a:xfrm>
          <a:prstGeom prst="rect">
            <a:avLst/>
          </a:prstGeom>
        </p:spPr>
        <p:txBody>
          <a:bodyPr wrap="square" lIns="0" tIns="0" rIns="0" bIns="0" anchor="t">
            <a:spAutoFit/>
          </a:bodyPr>
          <a:lstStyle/>
          <a:p>
            <a:pPr>
              <a:lnSpc>
                <a:spcPts val="1900"/>
              </a:lnSpc>
            </a:pPr>
            <a:r>
              <a:rPr lang="en-US" sz="1400" b="1" dirty="0">
                <a:solidFill>
                  <a:schemeClr val="accent3">
                    <a:lumMod val="75000"/>
                  </a:schemeClr>
                </a:solidFill>
                <a:latin typeface="+mj-lt"/>
                <a:cs typeface="Segoe UI" panose="020B0502040204020203" pitchFamily="34" charset="0"/>
              </a:rPr>
              <a:t>LOREM IPSUM</a:t>
            </a:r>
          </a:p>
        </p:txBody>
      </p:sp>
      <p:sp>
        <p:nvSpPr>
          <p:cNvPr id="46" name="Rectangle 45">
            <a:extLst>
              <a:ext uri="{FF2B5EF4-FFF2-40B4-BE49-F238E27FC236}">
                <a16:creationId xmlns:a16="http://schemas.microsoft.com/office/drawing/2014/main" id="{C49B198C-CCB4-5216-2653-13F06030A9CE}"/>
              </a:ext>
            </a:extLst>
          </p:cNvPr>
          <p:cNvSpPr/>
          <p:nvPr/>
        </p:nvSpPr>
        <p:spPr>
          <a:xfrm>
            <a:off x="4724403" y="5521007"/>
            <a:ext cx="2743195" cy="710707"/>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a:t>
            </a:r>
          </a:p>
        </p:txBody>
      </p:sp>
      <p:sp>
        <p:nvSpPr>
          <p:cNvPr id="47" name="Rectangle 46">
            <a:extLst>
              <a:ext uri="{FF2B5EF4-FFF2-40B4-BE49-F238E27FC236}">
                <a16:creationId xmlns:a16="http://schemas.microsoft.com/office/drawing/2014/main" id="{0FA0D587-140B-3CBF-A4C1-486FF8DD5A37}"/>
              </a:ext>
            </a:extLst>
          </p:cNvPr>
          <p:cNvSpPr/>
          <p:nvPr/>
        </p:nvSpPr>
        <p:spPr>
          <a:xfrm>
            <a:off x="4724403" y="5000266"/>
            <a:ext cx="2743195" cy="492443"/>
          </a:xfrm>
          <a:prstGeom prst="rect">
            <a:avLst/>
          </a:prstGeom>
        </p:spPr>
        <p:txBody>
          <a:bodyPr wrap="square" lIns="0" tIns="0" rIns="0" bIns="0" anchor="t">
            <a:spAutoFit/>
          </a:bodyPr>
          <a:lstStyle/>
          <a:p>
            <a:r>
              <a:rPr lang="en-US" sz="3200" dirty="0">
                <a:solidFill>
                  <a:schemeClr val="accent4">
                    <a:lumMod val="75000"/>
                  </a:schemeClr>
                </a:solidFill>
                <a:cs typeface="Segoe UI" panose="020B0502040204020203" pitchFamily="34" charset="0"/>
              </a:rPr>
              <a:t>-1.19</a:t>
            </a:r>
          </a:p>
        </p:txBody>
      </p:sp>
      <p:sp>
        <p:nvSpPr>
          <p:cNvPr id="48" name="Rectangle 47">
            <a:extLst>
              <a:ext uri="{FF2B5EF4-FFF2-40B4-BE49-F238E27FC236}">
                <a16:creationId xmlns:a16="http://schemas.microsoft.com/office/drawing/2014/main" id="{2EE96B02-84B2-5499-117A-BBE7C481492A}"/>
              </a:ext>
            </a:extLst>
          </p:cNvPr>
          <p:cNvSpPr/>
          <p:nvPr/>
        </p:nvSpPr>
        <p:spPr>
          <a:xfrm>
            <a:off x="4724403" y="4748574"/>
            <a:ext cx="2743195" cy="223394"/>
          </a:xfrm>
          <a:prstGeom prst="rect">
            <a:avLst/>
          </a:prstGeom>
        </p:spPr>
        <p:txBody>
          <a:bodyPr wrap="square" lIns="0" tIns="0" rIns="0" bIns="0" anchor="t">
            <a:spAutoFit/>
          </a:bodyPr>
          <a:lstStyle/>
          <a:p>
            <a:pPr>
              <a:lnSpc>
                <a:spcPts val="1900"/>
              </a:lnSpc>
            </a:pPr>
            <a:r>
              <a:rPr lang="en-US" sz="1400" b="1" dirty="0">
                <a:solidFill>
                  <a:schemeClr val="accent4">
                    <a:lumMod val="75000"/>
                  </a:schemeClr>
                </a:solidFill>
                <a:latin typeface="+mj-lt"/>
                <a:cs typeface="Segoe UI" panose="020B0502040204020203" pitchFamily="34" charset="0"/>
              </a:rPr>
              <a:t>LOREM IPSUM</a:t>
            </a:r>
          </a:p>
        </p:txBody>
      </p:sp>
      <p:sp>
        <p:nvSpPr>
          <p:cNvPr id="49" name="Rectangle 48">
            <a:extLst>
              <a:ext uri="{FF2B5EF4-FFF2-40B4-BE49-F238E27FC236}">
                <a16:creationId xmlns:a16="http://schemas.microsoft.com/office/drawing/2014/main" id="{0BF13289-B5C3-A47A-088F-18096B71F104}"/>
              </a:ext>
            </a:extLst>
          </p:cNvPr>
          <p:cNvSpPr/>
          <p:nvPr/>
        </p:nvSpPr>
        <p:spPr>
          <a:xfrm>
            <a:off x="8610600" y="5521007"/>
            <a:ext cx="2743195" cy="710707"/>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a:t>
            </a:r>
          </a:p>
        </p:txBody>
      </p:sp>
      <p:sp>
        <p:nvSpPr>
          <p:cNvPr id="50" name="Rectangle 49">
            <a:extLst>
              <a:ext uri="{FF2B5EF4-FFF2-40B4-BE49-F238E27FC236}">
                <a16:creationId xmlns:a16="http://schemas.microsoft.com/office/drawing/2014/main" id="{E4C47D79-6F58-8310-378E-3545AADD29A6}"/>
              </a:ext>
            </a:extLst>
          </p:cNvPr>
          <p:cNvSpPr/>
          <p:nvPr/>
        </p:nvSpPr>
        <p:spPr>
          <a:xfrm>
            <a:off x="8610600" y="5000266"/>
            <a:ext cx="2743195" cy="492443"/>
          </a:xfrm>
          <a:prstGeom prst="rect">
            <a:avLst/>
          </a:prstGeom>
        </p:spPr>
        <p:txBody>
          <a:bodyPr wrap="square" lIns="0" tIns="0" rIns="0" bIns="0" anchor="t">
            <a:spAutoFit/>
          </a:bodyPr>
          <a:lstStyle/>
          <a:p>
            <a:r>
              <a:rPr lang="en-US" sz="3200" dirty="0">
                <a:solidFill>
                  <a:schemeClr val="tx1">
                    <a:lumMod val="75000"/>
                    <a:lumOff val="25000"/>
                  </a:schemeClr>
                </a:solidFill>
                <a:cs typeface="Segoe UI" panose="020B0502040204020203" pitchFamily="34" charset="0"/>
              </a:rPr>
              <a:t>$ 113,200.50</a:t>
            </a:r>
          </a:p>
        </p:txBody>
      </p:sp>
      <p:sp>
        <p:nvSpPr>
          <p:cNvPr id="51" name="Rectangle 50">
            <a:extLst>
              <a:ext uri="{FF2B5EF4-FFF2-40B4-BE49-F238E27FC236}">
                <a16:creationId xmlns:a16="http://schemas.microsoft.com/office/drawing/2014/main" id="{11335CB2-D0C1-B66A-F146-BE58C57DFBA1}"/>
              </a:ext>
            </a:extLst>
          </p:cNvPr>
          <p:cNvSpPr/>
          <p:nvPr/>
        </p:nvSpPr>
        <p:spPr>
          <a:xfrm>
            <a:off x="8610600" y="4748574"/>
            <a:ext cx="2743195" cy="223394"/>
          </a:xfrm>
          <a:prstGeom prst="rect">
            <a:avLst/>
          </a:prstGeom>
        </p:spPr>
        <p:txBody>
          <a:bodyPr wrap="square" lIns="0" tIns="0" rIns="0" bIns="0" anchor="t">
            <a:spAutoFit/>
          </a:bodyPr>
          <a:lstStyle/>
          <a:p>
            <a:pPr>
              <a:lnSpc>
                <a:spcPts val="1900"/>
              </a:lnSpc>
            </a:pPr>
            <a:r>
              <a:rPr lang="en-US" sz="1400" b="1" dirty="0">
                <a:solidFill>
                  <a:schemeClr val="tx1">
                    <a:lumMod val="75000"/>
                    <a:lumOff val="25000"/>
                  </a:schemeClr>
                </a:solidFill>
                <a:latin typeface="+mj-lt"/>
                <a:cs typeface="Segoe UI" panose="020B0502040204020203" pitchFamily="34" charset="0"/>
              </a:rPr>
              <a:t>LOREM IPSUM</a:t>
            </a:r>
          </a:p>
        </p:txBody>
      </p:sp>
    </p:spTree>
    <p:extLst>
      <p:ext uri="{BB962C8B-B14F-4D97-AF65-F5344CB8AC3E}">
        <p14:creationId xmlns:p14="http://schemas.microsoft.com/office/powerpoint/2010/main" val="254028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Multivariate Analysis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Circle: Hollow 2">
            <a:extLst>
              <a:ext uri="{FF2B5EF4-FFF2-40B4-BE49-F238E27FC236}">
                <a16:creationId xmlns:a16="http://schemas.microsoft.com/office/drawing/2014/main" id="{8DC8DEBA-4D8D-4704-A04E-32A1E0BF41F4}"/>
              </a:ext>
              <a:ext uri="{C183D7F6-B498-43B3-948B-1728B52AA6E4}">
                <adec:decorative xmlns:adec="http://schemas.microsoft.com/office/drawing/2017/decorative" val="1"/>
              </a:ext>
            </a:extLst>
          </p:cNvPr>
          <p:cNvSpPr/>
          <p:nvPr/>
        </p:nvSpPr>
        <p:spPr>
          <a:xfrm>
            <a:off x="3536828" y="2296212"/>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Circle: Hollow 21">
            <a:extLst>
              <a:ext uri="{FF2B5EF4-FFF2-40B4-BE49-F238E27FC236}">
                <a16:creationId xmlns:a16="http://schemas.microsoft.com/office/drawing/2014/main" id="{769CE3F0-8651-4FF1-8CAF-1E986C3831C4}"/>
              </a:ext>
              <a:ext uri="{C183D7F6-B498-43B3-948B-1728B52AA6E4}">
                <adec:decorative xmlns:adec="http://schemas.microsoft.com/office/drawing/2017/decorative" val="1"/>
              </a:ext>
            </a:extLst>
          </p:cNvPr>
          <p:cNvSpPr/>
          <p:nvPr/>
        </p:nvSpPr>
        <p:spPr>
          <a:xfrm>
            <a:off x="4946623" y="2296212"/>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Circle: Hollow 22">
            <a:extLst>
              <a:ext uri="{FF2B5EF4-FFF2-40B4-BE49-F238E27FC236}">
                <a16:creationId xmlns:a16="http://schemas.microsoft.com/office/drawing/2014/main" id="{59423939-1DC9-4306-AA5D-6C0111336356}"/>
              </a:ext>
              <a:ext uri="{C183D7F6-B498-43B3-948B-1728B52AA6E4}">
                <adec:decorative xmlns:adec="http://schemas.microsoft.com/office/drawing/2017/decorative" val="1"/>
              </a:ext>
            </a:extLst>
          </p:cNvPr>
          <p:cNvSpPr/>
          <p:nvPr/>
        </p:nvSpPr>
        <p:spPr>
          <a:xfrm>
            <a:off x="6356419" y="2296212"/>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Circle: Hollow 23">
            <a:extLst>
              <a:ext uri="{FF2B5EF4-FFF2-40B4-BE49-F238E27FC236}">
                <a16:creationId xmlns:a16="http://schemas.microsoft.com/office/drawing/2014/main" id="{A838DD0B-E018-44D0-A4C0-13DF2FD0288D}"/>
              </a:ext>
              <a:ext uri="{C183D7F6-B498-43B3-948B-1728B52AA6E4}">
                <adec:decorative xmlns:adec="http://schemas.microsoft.com/office/drawing/2017/decorative" val="1"/>
              </a:ext>
            </a:extLst>
          </p:cNvPr>
          <p:cNvSpPr/>
          <p:nvPr/>
        </p:nvSpPr>
        <p:spPr>
          <a:xfrm>
            <a:off x="4241725" y="3501330"/>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Circle: Hollow 24">
            <a:extLst>
              <a:ext uri="{FF2B5EF4-FFF2-40B4-BE49-F238E27FC236}">
                <a16:creationId xmlns:a16="http://schemas.microsoft.com/office/drawing/2014/main" id="{B5265A05-9A0F-4DEC-9382-F51EEE742251}"/>
              </a:ext>
              <a:ext uri="{C183D7F6-B498-43B3-948B-1728B52AA6E4}">
                <adec:decorative xmlns:adec="http://schemas.microsoft.com/office/drawing/2017/decorative" val="1"/>
              </a:ext>
            </a:extLst>
          </p:cNvPr>
          <p:cNvSpPr/>
          <p:nvPr/>
        </p:nvSpPr>
        <p:spPr>
          <a:xfrm>
            <a:off x="5651521" y="3501330"/>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29" name="Circle: Hollow 28">
            <a:extLst>
              <a:ext uri="{FF2B5EF4-FFF2-40B4-BE49-F238E27FC236}">
                <a16:creationId xmlns:a16="http://schemas.microsoft.com/office/drawing/2014/main" id="{8770E695-5D11-488D-931B-4C4259EC25FF}"/>
              </a:ext>
              <a:ext uri="{C183D7F6-B498-43B3-948B-1728B52AA6E4}">
                <adec:decorative xmlns:adec="http://schemas.microsoft.com/office/drawing/2017/decorative" val="1"/>
              </a:ext>
            </a:extLst>
          </p:cNvPr>
          <p:cNvSpPr/>
          <p:nvPr/>
        </p:nvSpPr>
        <p:spPr>
          <a:xfrm>
            <a:off x="7061316" y="3501330"/>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Rectangle 31">
            <a:extLst>
              <a:ext uri="{FF2B5EF4-FFF2-40B4-BE49-F238E27FC236}">
                <a16:creationId xmlns:a16="http://schemas.microsoft.com/office/drawing/2014/main" id="{16FB0785-0013-474B-B959-F2CC8F4C0C1E}"/>
              </a:ext>
            </a:extLst>
          </p:cNvPr>
          <p:cNvSpPr/>
          <p:nvPr/>
        </p:nvSpPr>
        <p:spPr>
          <a:xfrm>
            <a:off x="1292015" y="1357350"/>
            <a:ext cx="2428875" cy="710707"/>
          </a:xfrm>
          <a:prstGeom prst="rect">
            <a:avLst/>
          </a:prstGeom>
        </p:spPr>
        <p:txBody>
          <a:bodyPr wrap="square" lIns="0" tIns="0" rIns="0" bIns="0" anchor="t">
            <a:spAutoFit/>
          </a:bodyPr>
          <a:lstStyle/>
          <a:p>
            <a:pPr algn="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33" name="Rectangle 32">
            <a:extLst>
              <a:ext uri="{FF2B5EF4-FFF2-40B4-BE49-F238E27FC236}">
                <a16:creationId xmlns:a16="http://schemas.microsoft.com/office/drawing/2014/main" id="{913AB221-FD8D-4664-9B4C-AE1B1660ECAA}"/>
              </a:ext>
            </a:extLst>
          </p:cNvPr>
          <p:cNvSpPr/>
          <p:nvPr/>
        </p:nvSpPr>
        <p:spPr>
          <a:xfrm>
            <a:off x="4529115" y="1357350"/>
            <a:ext cx="2428875" cy="710707"/>
          </a:xfrm>
          <a:prstGeom prst="rect">
            <a:avLst/>
          </a:prstGeom>
        </p:spPr>
        <p:txBody>
          <a:bodyPr wrap="square" lIns="0" tIns="0" rIns="0" bIns="0" anchor="t">
            <a:spAutoFit/>
          </a:bodyPr>
          <a:lstStyle/>
          <a:p>
            <a:pPr algn="ct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34" name="Rectangle 33">
            <a:extLst>
              <a:ext uri="{FF2B5EF4-FFF2-40B4-BE49-F238E27FC236}">
                <a16:creationId xmlns:a16="http://schemas.microsoft.com/office/drawing/2014/main" id="{53F5EDC0-C02E-4790-A681-CA7AB9133338}"/>
              </a:ext>
            </a:extLst>
          </p:cNvPr>
          <p:cNvSpPr/>
          <p:nvPr/>
        </p:nvSpPr>
        <p:spPr>
          <a:xfrm>
            <a:off x="7766215" y="1357350"/>
            <a:ext cx="2428875" cy="710707"/>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35" name="Rectangle 34">
            <a:extLst>
              <a:ext uri="{FF2B5EF4-FFF2-40B4-BE49-F238E27FC236}">
                <a16:creationId xmlns:a16="http://schemas.microsoft.com/office/drawing/2014/main" id="{857F5370-BF8E-406B-BEAE-B1224615626A}"/>
              </a:ext>
            </a:extLst>
          </p:cNvPr>
          <p:cNvSpPr/>
          <p:nvPr/>
        </p:nvSpPr>
        <p:spPr>
          <a:xfrm>
            <a:off x="1996865" y="5332295"/>
            <a:ext cx="2428875" cy="710707"/>
          </a:xfrm>
          <a:prstGeom prst="rect">
            <a:avLst/>
          </a:prstGeom>
        </p:spPr>
        <p:txBody>
          <a:bodyPr wrap="square" lIns="0" tIns="0" rIns="0" bIns="0" anchor="t">
            <a:spAutoFit/>
          </a:bodyPr>
          <a:lstStyle/>
          <a:p>
            <a:pPr algn="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36" name="Rectangle 35">
            <a:extLst>
              <a:ext uri="{FF2B5EF4-FFF2-40B4-BE49-F238E27FC236}">
                <a16:creationId xmlns:a16="http://schemas.microsoft.com/office/drawing/2014/main" id="{98F5A313-1C6C-4AEE-8556-576074B1BF06}"/>
              </a:ext>
            </a:extLst>
          </p:cNvPr>
          <p:cNvSpPr/>
          <p:nvPr/>
        </p:nvSpPr>
        <p:spPr>
          <a:xfrm>
            <a:off x="5233965" y="5332295"/>
            <a:ext cx="2428875" cy="710707"/>
          </a:xfrm>
          <a:prstGeom prst="rect">
            <a:avLst/>
          </a:prstGeom>
        </p:spPr>
        <p:txBody>
          <a:bodyPr wrap="square" lIns="0" tIns="0" rIns="0" bIns="0" anchor="t">
            <a:spAutoFit/>
          </a:bodyPr>
          <a:lstStyle/>
          <a:p>
            <a:pPr algn="ct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37" name="Rectangle 36">
            <a:extLst>
              <a:ext uri="{FF2B5EF4-FFF2-40B4-BE49-F238E27FC236}">
                <a16:creationId xmlns:a16="http://schemas.microsoft.com/office/drawing/2014/main" id="{0C310CC8-6624-4352-A642-89EF6FA7DCE6}"/>
              </a:ext>
            </a:extLst>
          </p:cNvPr>
          <p:cNvSpPr/>
          <p:nvPr/>
        </p:nvSpPr>
        <p:spPr>
          <a:xfrm>
            <a:off x="8471065" y="5332295"/>
            <a:ext cx="2428875" cy="710707"/>
          </a:xfrm>
          <a:prstGeom prst="rect">
            <a:avLst/>
          </a:prstGeom>
        </p:spPr>
        <p:txBody>
          <a:bodyPr wrap="square" lIns="0" tIns="0" rIns="0" bIns="0" anchor="t">
            <a:spAutoFit/>
          </a:bodyPr>
          <a:lstStyle/>
          <a:p>
            <a:pPr>
              <a:lnSpc>
                <a:spcPts val="1900"/>
              </a:lnSpc>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grpSp>
        <p:nvGrpSpPr>
          <p:cNvPr id="41" name="Group 40" descr="Icon of human being and speech bubble. ">
            <a:extLst>
              <a:ext uri="{FF2B5EF4-FFF2-40B4-BE49-F238E27FC236}">
                <a16:creationId xmlns:a16="http://schemas.microsoft.com/office/drawing/2014/main" id="{F9B9D0B7-66BB-408F-A1CC-EA2209284AAD}"/>
              </a:ext>
            </a:extLst>
          </p:cNvPr>
          <p:cNvGrpSpPr/>
          <p:nvPr/>
        </p:nvGrpSpPr>
        <p:grpSpPr>
          <a:xfrm>
            <a:off x="4144646" y="2903628"/>
            <a:ext cx="378221" cy="380335"/>
            <a:chOff x="3171788" y="779462"/>
            <a:chExt cx="284163" cy="285751"/>
          </a:xfrm>
          <a:solidFill>
            <a:schemeClr val="accent3">
              <a:lumMod val="75000"/>
            </a:schemeClr>
          </a:solidFill>
        </p:grpSpPr>
        <p:sp>
          <p:nvSpPr>
            <p:cNvPr id="42" name="Freeform 2993">
              <a:extLst>
                <a:ext uri="{FF2B5EF4-FFF2-40B4-BE49-F238E27FC236}">
                  <a16:creationId xmlns:a16="http://schemas.microsoft.com/office/drawing/2014/main" id="{214A5167-4E01-4042-851A-88AFE72AE2DD}"/>
                </a:ext>
              </a:extLst>
            </p:cNvPr>
            <p:cNvSpPr>
              <a:spLocks noEditPoints="1"/>
            </p:cNvSpPr>
            <p:nvPr/>
          </p:nvSpPr>
          <p:spPr bwMode="auto">
            <a:xfrm>
              <a:off x="3290851" y="779462"/>
              <a:ext cx="165100" cy="196850"/>
            </a:xfrm>
            <a:custGeom>
              <a:avLst/>
              <a:gdLst>
                <a:gd name="T0" fmla="*/ 291 w 416"/>
                <a:gd name="T1" fmla="*/ 221 h 493"/>
                <a:gd name="T2" fmla="*/ 339 w 416"/>
                <a:gd name="T3" fmla="*/ 173 h 493"/>
                <a:gd name="T4" fmla="*/ 242 w 416"/>
                <a:gd name="T5" fmla="*/ 221 h 493"/>
                <a:gd name="T6" fmla="*/ 195 w 416"/>
                <a:gd name="T7" fmla="*/ 173 h 493"/>
                <a:gd name="T8" fmla="*/ 242 w 416"/>
                <a:gd name="T9" fmla="*/ 221 h 493"/>
                <a:gd name="T10" fmla="*/ 99 w 416"/>
                <a:gd name="T11" fmla="*/ 221 h 493"/>
                <a:gd name="T12" fmla="*/ 147 w 416"/>
                <a:gd name="T13" fmla="*/ 173 h 493"/>
                <a:gd name="T14" fmla="*/ 208 w 416"/>
                <a:gd name="T15" fmla="*/ 0 h 493"/>
                <a:gd name="T16" fmla="*/ 166 w 416"/>
                <a:gd name="T17" fmla="*/ 3 h 493"/>
                <a:gd name="T18" fmla="*/ 127 w 416"/>
                <a:gd name="T19" fmla="*/ 15 h 493"/>
                <a:gd name="T20" fmla="*/ 92 w 416"/>
                <a:gd name="T21" fmla="*/ 33 h 493"/>
                <a:gd name="T22" fmla="*/ 61 w 416"/>
                <a:gd name="T23" fmla="*/ 57 h 493"/>
                <a:gd name="T24" fmla="*/ 35 w 416"/>
                <a:gd name="T25" fmla="*/ 85 h 493"/>
                <a:gd name="T26" fmla="*/ 16 w 416"/>
                <a:gd name="T27" fmla="*/ 117 h 493"/>
                <a:gd name="T28" fmla="*/ 4 w 416"/>
                <a:gd name="T29" fmla="*/ 153 h 493"/>
                <a:gd name="T30" fmla="*/ 0 w 416"/>
                <a:gd name="T31" fmla="*/ 192 h 493"/>
                <a:gd name="T32" fmla="*/ 0 w 416"/>
                <a:gd name="T33" fmla="*/ 194 h 493"/>
                <a:gd name="T34" fmla="*/ 26 w 416"/>
                <a:gd name="T35" fmla="*/ 204 h 493"/>
                <a:gd name="T36" fmla="*/ 47 w 416"/>
                <a:gd name="T37" fmla="*/ 220 h 493"/>
                <a:gd name="T38" fmla="*/ 64 w 416"/>
                <a:gd name="T39" fmla="*/ 238 h 493"/>
                <a:gd name="T40" fmla="*/ 72 w 416"/>
                <a:gd name="T41" fmla="*/ 260 h 493"/>
                <a:gd name="T42" fmla="*/ 76 w 416"/>
                <a:gd name="T43" fmla="*/ 277 h 493"/>
                <a:gd name="T44" fmla="*/ 76 w 416"/>
                <a:gd name="T45" fmla="*/ 293 h 493"/>
                <a:gd name="T46" fmla="*/ 73 w 416"/>
                <a:gd name="T47" fmla="*/ 311 h 493"/>
                <a:gd name="T48" fmla="*/ 67 w 416"/>
                <a:gd name="T49" fmla="*/ 330 h 493"/>
                <a:gd name="T50" fmla="*/ 70 w 416"/>
                <a:gd name="T51" fmla="*/ 333 h 493"/>
                <a:gd name="T52" fmla="*/ 77 w 416"/>
                <a:gd name="T53" fmla="*/ 349 h 493"/>
                <a:gd name="T54" fmla="*/ 94 w 416"/>
                <a:gd name="T55" fmla="*/ 361 h 493"/>
                <a:gd name="T56" fmla="*/ 114 w 416"/>
                <a:gd name="T57" fmla="*/ 371 h 493"/>
                <a:gd name="T58" fmla="*/ 132 w 416"/>
                <a:gd name="T59" fmla="*/ 378 h 493"/>
                <a:gd name="T60" fmla="*/ 153 w 416"/>
                <a:gd name="T61" fmla="*/ 383 h 493"/>
                <a:gd name="T62" fmla="*/ 153 w 416"/>
                <a:gd name="T63" fmla="*/ 428 h 493"/>
                <a:gd name="T64" fmla="*/ 153 w 416"/>
                <a:gd name="T65" fmla="*/ 465 h 493"/>
                <a:gd name="T66" fmla="*/ 173 w 416"/>
                <a:gd name="T67" fmla="*/ 473 h 493"/>
                <a:gd name="T68" fmla="*/ 203 w 416"/>
                <a:gd name="T69" fmla="*/ 446 h 493"/>
                <a:gd name="T70" fmla="*/ 249 w 416"/>
                <a:gd name="T71" fmla="*/ 406 h 493"/>
                <a:gd name="T72" fmla="*/ 274 w 416"/>
                <a:gd name="T73" fmla="*/ 385 h 493"/>
                <a:gd name="T74" fmla="*/ 290 w 416"/>
                <a:gd name="T75" fmla="*/ 371 h 493"/>
                <a:gd name="T76" fmla="*/ 317 w 416"/>
                <a:gd name="T77" fmla="*/ 358 h 493"/>
                <a:gd name="T78" fmla="*/ 342 w 416"/>
                <a:gd name="T79" fmla="*/ 341 h 493"/>
                <a:gd name="T80" fmla="*/ 364 w 416"/>
                <a:gd name="T81" fmla="*/ 321 h 493"/>
                <a:gd name="T82" fmla="*/ 383 w 416"/>
                <a:gd name="T83" fmla="*/ 299 h 493"/>
                <a:gd name="T84" fmla="*/ 397 w 416"/>
                <a:gd name="T85" fmla="*/ 276 h 493"/>
                <a:gd name="T86" fmla="*/ 408 w 416"/>
                <a:gd name="T87" fmla="*/ 249 h 493"/>
                <a:gd name="T88" fmla="*/ 415 w 416"/>
                <a:gd name="T89" fmla="*/ 222 h 493"/>
                <a:gd name="T90" fmla="*/ 416 w 416"/>
                <a:gd name="T91" fmla="*/ 192 h 493"/>
                <a:gd name="T92" fmla="*/ 412 w 416"/>
                <a:gd name="T93" fmla="*/ 154 h 493"/>
                <a:gd name="T94" fmla="*/ 400 w 416"/>
                <a:gd name="T95" fmla="*/ 117 h 493"/>
                <a:gd name="T96" fmla="*/ 381 w 416"/>
                <a:gd name="T97" fmla="*/ 85 h 493"/>
                <a:gd name="T98" fmla="*/ 355 w 416"/>
                <a:gd name="T99" fmla="*/ 57 h 493"/>
                <a:gd name="T100" fmla="*/ 324 w 416"/>
                <a:gd name="T101" fmla="*/ 33 h 493"/>
                <a:gd name="T102" fmla="*/ 289 w 416"/>
                <a:gd name="T103" fmla="*/ 15 h 493"/>
                <a:gd name="T104" fmla="*/ 251 w 416"/>
                <a:gd name="T105" fmla="*/ 3 h 493"/>
                <a:gd name="T106" fmla="*/ 208 w 416"/>
                <a:gd name="T107" fmla="*/ 0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 h="493">
                  <a:moveTo>
                    <a:pt x="339" y="221"/>
                  </a:moveTo>
                  <a:lnTo>
                    <a:pt x="291" y="221"/>
                  </a:lnTo>
                  <a:lnTo>
                    <a:pt x="291" y="173"/>
                  </a:lnTo>
                  <a:lnTo>
                    <a:pt x="339" y="173"/>
                  </a:lnTo>
                  <a:lnTo>
                    <a:pt x="339" y="221"/>
                  </a:lnTo>
                  <a:close/>
                  <a:moveTo>
                    <a:pt x="242" y="221"/>
                  </a:moveTo>
                  <a:lnTo>
                    <a:pt x="195" y="221"/>
                  </a:lnTo>
                  <a:lnTo>
                    <a:pt x="195" y="173"/>
                  </a:lnTo>
                  <a:lnTo>
                    <a:pt x="242" y="173"/>
                  </a:lnTo>
                  <a:lnTo>
                    <a:pt x="242" y="221"/>
                  </a:lnTo>
                  <a:close/>
                  <a:moveTo>
                    <a:pt x="147" y="221"/>
                  </a:moveTo>
                  <a:lnTo>
                    <a:pt x="99" y="221"/>
                  </a:lnTo>
                  <a:lnTo>
                    <a:pt x="99" y="173"/>
                  </a:lnTo>
                  <a:lnTo>
                    <a:pt x="147" y="173"/>
                  </a:lnTo>
                  <a:lnTo>
                    <a:pt x="147" y="221"/>
                  </a:lnTo>
                  <a:close/>
                  <a:moveTo>
                    <a:pt x="208" y="0"/>
                  </a:moveTo>
                  <a:lnTo>
                    <a:pt x="186" y="1"/>
                  </a:lnTo>
                  <a:lnTo>
                    <a:pt x="166" y="3"/>
                  </a:lnTo>
                  <a:lnTo>
                    <a:pt x="146" y="8"/>
                  </a:lnTo>
                  <a:lnTo>
                    <a:pt x="127" y="15"/>
                  </a:lnTo>
                  <a:lnTo>
                    <a:pt x="109" y="23"/>
                  </a:lnTo>
                  <a:lnTo>
                    <a:pt x="92" y="33"/>
                  </a:lnTo>
                  <a:lnTo>
                    <a:pt x="76" y="44"/>
                  </a:lnTo>
                  <a:lnTo>
                    <a:pt x="61" y="57"/>
                  </a:lnTo>
                  <a:lnTo>
                    <a:pt x="47" y="70"/>
                  </a:lnTo>
                  <a:lnTo>
                    <a:pt x="35" y="85"/>
                  </a:lnTo>
                  <a:lnTo>
                    <a:pt x="25" y="101"/>
                  </a:lnTo>
                  <a:lnTo>
                    <a:pt x="16" y="117"/>
                  </a:lnTo>
                  <a:lnTo>
                    <a:pt x="9" y="135"/>
                  </a:lnTo>
                  <a:lnTo>
                    <a:pt x="4" y="153"/>
                  </a:lnTo>
                  <a:lnTo>
                    <a:pt x="1" y="173"/>
                  </a:lnTo>
                  <a:lnTo>
                    <a:pt x="0" y="192"/>
                  </a:lnTo>
                  <a:lnTo>
                    <a:pt x="0" y="192"/>
                  </a:lnTo>
                  <a:lnTo>
                    <a:pt x="0" y="194"/>
                  </a:lnTo>
                  <a:lnTo>
                    <a:pt x="14" y="198"/>
                  </a:lnTo>
                  <a:lnTo>
                    <a:pt x="26" y="204"/>
                  </a:lnTo>
                  <a:lnTo>
                    <a:pt x="38" y="211"/>
                  </a:lnTo>
                  <a:lnTo>
                    <a:pt x="47" y="220"/>
                  </a:lnTo>
                  <a:lnTo>
                    <a:pt x="57" y="228"/>
                  </a:lnTo>
                  <a:lnTo>
                    <a:pt x="64" y="238"/>
                  </a:lnTo>
                  <a:lnTo>
                    <a:pt x="69" y="248"/>
                  </a:lnTo>
                  <a:lnTo>
                    <a:pt x="72" y="260"/>
                  </a:lnTo>
                  <a:lnTo>
                    <a:pt x="74" y="268"/>
                  </a:lnTo>
                  <a:lnTo>
                    <a:pt x="76" y="277"/>
                  </a:lnTo>
                  <a:lnTo>
                    <a:pt x="76" y="285"/>
                  </a:lnTo>
                  <a:lnTo>
                    <a:pt x="76" y="293"/>
                  </a:lnTo>
                  <a:lnTo>
                    <a:pt x="74" y="303"/>
                  </a:lnTo>
                  <a:lnTo>
                    <a:pt x="73" y="311"/>
                  </a:lnTo>
                  <a:lnTo>
                    <a:pt x="71" y="321"/>
                  </a:lnTo>
                  <a:lnTo>
                    <a:pt x="67" y="330"/>
                  </a:lnTo>
                  <a:lnTo>
                    <a:pt x="69" y="332"/>
                  </a:lnTo>
                  <a:lnTo>
                    <a:pt x="70" y="333"/>
                  </a:lnTo>
                  <a:lnTo>
                    <a:pt x="73" y="341"/>
                  </a:lnTo>
                  <a:lnTo>
                    <a:pt x="77" y="349"/>
                  </a:lnTo>
                  <a:lnTo>
                    <a:pt x="85" y="355"/>
                  </a:lnTo>
                  <a:lnTo>
                    <a:pt x="94" y="361"/>
                  </a:lnTo>
                  <a:lnTo>
                    <a:pt x="104" y="366"/>
                  </a:lnTo>
                  <a:lnTo>
                    <a:pt x="114" y="371"/>
                  </a:lnTo>
                  <a:lnTo>
                    <a:pt x="123" y="374"/>
                  </a:lnTo>
                  <a:lnTo>
                    <a:pt x="132" y="378"/>
                  </a:lnTo>
                  <a:lnTo>
                    <a:pt x="142" y="380"/>
                  </a:lnTo>
                  <a:lnTo>
                    <a:pt x="153" y="383"/>
                  </a:lnTo>
                  <a:lnTo>
                    <a:pt x="153" y="403"/>
                  </a:lnTo>
                  <a:lnTo>
                    <a:pt x="153" y="428"/>
                  </a:lnTo>
                  <a:lnTo>
                    <a:pt x="153" y="449"/>
                  </a:lnTo>
                  <a:lnTo>
                    <a:pt x="153" y="465"/>
                  </a:lnTo>
                  <a:lnTo>
                    <a:pt x="153" y="493"/>
                  </a:lnTo>
                  <a:lnTo>
                    <a:pt x="173" y="473"/>
                  </a:lnTo>
                  <a:lnTo>
                    <a:pt x="185" y="462"/>
                  </a:lnTo>
                  <a:lnTo>
                    <a:pt x="203" y="446"/>
                  </a:lnTo>
                  <a:lnTo>
                    <a:pt x="227" y="427"/>
                  </a:lnTo>
                  <a:lnTo>
                    <a:pt x="249" y="406"/>
                  </a:lnTo>
                  <a:lnTo>
                    <a:pt x="262" y="395"/>
                  </a:lnTo>
                  <a:lnTo>
                    <a:pt x="274" y="385"/>
                  </a:lnTo>
                  <a:lnTo>
                    <a:pt x="284" y="377"/>
                  </a:lnTo>
                  <a:lnTo>
                    <a:pt x="290" y="371"/>
                  </a:lnTo>
                  <a:lnTo>
                    <a:pt x="304" y="365"/>
                  </a:lnTo>
                  <a:lnTo>
                    <a:pt x="317" y="358"/>
                  </a:lnTo>
                  <a:lnTo>
                    <a:pt x="330" y="349"/>
                  </a:lnTo>
                  <a:lnTo>
                    <a:pt x="342" y="341"/>
                  </a:lnTo>
                  <a:lnTo>
                    <a:pt x="353" y="332"/>
                  </a:lnTo>
                  <a:lnTo>
                    <a:pt x="364" y="321"/>
                  </a:lnTo>
                  <a:lnTo>
                    <a:pt x="373" y="310"/>
                  </a:lnTo>
                  <a:lnTo>
                    <a:pt x="383" y="299"/>
                  </a:lnTo>
                  <a:lnTo>
                    <a:pt x="390" y="288"/>
                  </a:lnTo>
                  <a:lnTo>
                    <a:pt x="397" y="276"/>
                  </a:lnTo>
                  <a:lnTo>
                    <a:pt x="403" y="263"/>
                  </a:lnTo>
                  <a:lnTo>
                    <a:pt x="408" y="249"/>
                  </a:lnTo>
                  <a:lnTo>
                    <a:pt x="411" y="235"/>
                  </a:lnTo>
                  <a:lnTo>
                    <a:pt x="415" y="222"/>
                  </a:lnTo>
                  <a:lnTo>
                    <a:pt x="416" y="208"/>
                  </a:lnTo>
                  <a:lnTo>
                    <a:pt x="416" y="192"/>
                  </a:lnTo>
                  <a:lnTo>
                    <a:pt x="416" y="173"/>
                  </a:lnTo>
                  <a:lnTo>
                    <a:pt x="412" y="154"/>
                  </a:lnTo>
                  <a:lnTo>
                    <a:pt x="408" y="135"/>
                  </a:lnTo>
                  <a:lnTo>
                    <a:pt x="400" y="117"/>
                  </a:lnTo>
                  <a:lnTo>
                    <a:pt x="391" y="101"/>
                  </a:lnTo>
                  <a:lnTo>
                    <a:pt x="381" y="85"/>
                  </a:lnTo>
                  <a:lnTo>
                    <a:pt x="368" y="70"/>
                  </a:lnTo>
                  <a:lnTo>
                    <a:pt x="355" y="57"/>
                  </a:lnTo>
                  <a:lnTo>
                    <a:pt x="341" y="44"/>
                  </a:lnTo>
                  <a:lnTo>
                    <a:pt x="324" y="33"/>
                  </a:lnTo>
                  <a:lnTo>
                    <a:pt x="308" y="23"/>
                  </a:lnTo>
                  <a:lnTo>
                    <a:pt x="289" y="15"/>
                  </a:lnTo>
                  <a:lnTo>
                    <a:pt x="270" y="8"/>
                  </a:lnTo>
                  <a:lnTo>
                    <a:pt x="251" y="3"/>
                  </a:lnTo>
                  <a:lnTo>
                    <a:pt x="229" y="1"/>
                  </a:lnTo>
                  <a:lnTo>
                    <a:pt x="2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2994">
              <a:extLst>
                <a:ext uri="{FF2B5EF4-FFF2-40B4-BE49-F238E27FC236}">
                  <a16:creationId xmlns:a16="http://schemas.microsoft.com/office/drawing/2014/main" id="{EF3D2201-62FC-4C65-ADA0-327F681139C4}"/>
                </a:ext>
              </a:extLst>
            </p:cNvPr>
            <p:cNvSpPr>
              <a:spLocks/>
            </p:cNvSpPr>
            <p:nvPr/>
          </p:nvSpPr>
          <p:spPr bwMode="auto">
            <a:xfrm>
              <a:off x="3171788" y="863600"/>
              <a:ext cx="190500" cy="201613"/>
            </a:xfrm>
            <a:custGeom>
              <a:avLst/>
              <a:gdLst>
                <a:gd name="T0" fmla="*/ 393 w 480"/>
                <a:gd name="T1" fmla="*/ 357 h 507"/>
                <a:gd name="T2" fmla="*/ 312 w 480"/>
                <a:gd name="T3" fmla="*/ 312 h 507"/>
                <a:gd name="T4" fmla="*/ 320 w 480"/>
                <a:gd name="T5" fmla="*/ 267 h 507"/>
                <a:gd name="T6" fmla="*/ 324 w 480"/>
                <a:gd name="T7" fmla="*/ 261 h 507"/>
                <a:gd name="T8" fmla="*/ 329 w 480"/>
                <a:gd name="T9" fmla="*/ 254 h 507"/>
                <a:gd name="T10" fmla="*/ 332 w 480"/>
                <a:gd name="T11" fmla="*/ 244 h 507"/>
                <a:gd name="T12" fmla="*/ 336 w 480"/>
                <a:gd name="T13" fmla="*/ 231 h 507"/>
                <a:gd name="T14" fmla="*/ 338 w 480"/>
                <a:gd name="T15" fmla="*/ 219 h 507"/>
                <a:gd name="T16" fmla="*/ 339 w 480"/>
                <a:gd name="T17" fmla="*/ 203 h 507"/>
                <a:gd name="T18" fmla="*/ 350 w 480"/>
                <a:gd name="T19" fmla="*/ 190 h 507"/>
                <a:gd name="T20" fmla="*/ 354 w 480"/>
                <a:gd name="T21" fmla="*/ 185 h 507"/>
                <a:gd name="T22" fmla="*/ 356 w 480"/>
                <a:gd name="T23" fmla="*/ 179 h 507"/>
                <a:gd name="T24" fmla="*/ 357 w 480"/>
                <a:gd name="T25" fmla="*/ 173 h 507"/>
                <a:gd name="T26" fmla="*/ 358 w 480"/>
                <a:gd name="T27" fmla="*/ 166 h 507"/>
                <a:gd name="T28" fmla="*/ 357 w 480"/>
                <a:gd name="T29" fmla="*/ 149 h 507"/>
                <a:gd name="T30" fmla="*/ 354 w 480"/>
                <a:gd name="T31" fmla="*/ 140 h 507"/>
                <a:gd name="T32" fmla="*/ 350 w 480"/>
                <a:gd name="T33" fmla="*/ 131 h 507"/>
                <a:gd name="T34" fmla="*/ 343 w 480"/>
                <a:gd name="T35" fmla="*/ 125 h 507"/>
                <a:gd name="T36" fmla="*/ 355 w 480"/>
                <a:gd name="T37" fmla="*/ 84 h 507"/>
                <a:gd name="T38" fmla="*/ 353 w 480"/>
                <a:gd name="T39" fmla="*/ 54 h 507"/>
                <a:gd name="T40" fmla="*/ 336 w 480"/>
                <a:gd name="T41" fmla="*/ 28 h 507"/>
                <a:gd name="T42" fmla="*/ 305 w 480"/>
                <a:gd name="T43" fmla="*/ 9 h 507"/>
                <a:gd name="T44" fmla="*/ 286 w 480"/>
                <a:gd name="T45" fmla="*/ 4 h 507"/>
                <a:gd name="T46" fmla="*/ 267 w 480"/>
                <a:gd name="T47" fmla="*/ 0 h 507"/>
                <a:gd name="T48" fmla="*/ 251 w 480"/>
                <a:gd name="T49" fmla="*/ 0 h 507"/>
                <a:gd name="T50" fmla="*/ 232 w 480"/>
                <a:gd name="T51" fmla="*/ 2 h 507"/>
                <a:gd name="T52" fmla="*/ 217 w 480"/>
                <a:gd name="T53" fmla="*/ 4 h 507"/>
                <a:gd name="T54" fmla="*/ 203 w 480"/>
                <a:gd name="T55" fmla="*/ 8 h 507"/>
                <a:gd name="T56" fmla="*/ 192 w 480"/>
                <a:gd name="T57" fmla="*/ 11 h 507"/>
                <a:gd name="T58" fmla="*/ 157 w 480"/>
                <a:gd name="T59" fmla="*/ 38 h 507"/>
                <a:gd name="T60" fmla="*/ 154 w 480"/>
                <a:gd name="T61" fmla="*/ 44 h 507"/>
                <a:gd name="T62" fmla="*/ 140 w 480"/>
                <a:gd name="T63" fmla="*/ 46 h 507"/>
                <a:gd name="T64" fmla="*/ 131 w 480"/>
                <a:gd name="T65" fmla="*/ 48 h 507"/>
                <a:gd name="T66" fmla="*/ 126 w 480"/>
                <a:gd name="T67" fmla="*/ 53 h 507"/>
                <a:gd name="T68" fmla="*/ 123 w 480"/>
                <a:gd name="T69" fmla="*/ 56 h 507"/>
                <a:gd name="T70" fmla="*/ 118 w 480"/>
                <a:gd name="T71" fmla="*/ 66 h 507"/>
                <a:gd name="T72" fmla="*/ 118 w 480"/>
                <a:gd name="T73" fmla="*/ 75 h 507"/>
                <a:gd name="T74" fmla="*/ 118 w 480"/>
                <a:gd name="T75" fmla="*/ 84 h 507"/>
                <a:gd name="T76" fmla="*/ 121 w 480"/>
                <a:gd name="T77" fmla="*/ 92 h 507"/>
                <a:gd name="T78" fmla="*/ 123 w 480"/>
                <a:gd name="T79" fmla="*/ 100 h 507"/>
                <a:gd name="T80" fmla="*/ 125 w 480"/>
                <a:gd name="T81" fmla="*/ 109 h 507"/>
                <a:gd name="T82" fmla="*/ 132 w 480"/>
                <a:gd name="T83" fmla="*/ 125 h 507"/>
                <a:gd name="T84" fmla="*/ 116 w 480"/>
                <a:gd name="T85" fmla="*/ 148 h 507"/>
                <a:gd name="T86" fmla="*/ 115 w 480"/>
                <a:gd name="T87" fmla="*/ 174 h 507"/>
                <a:gd name="T88" fmla="*/ 118 w 480"/>
                <a:gd name="T89" fmla="*/ 185 h 507"/>
                <a:gd name="T90" fmla="*/ 124 w 480"/>
                <a:gd name="T91" fmla="*/ 193 h 507"/>
                <a:gd name="T92" fmla="*/ 130 w 480"/>
                <a:gd name="T93" fmla="*/ 199 h 507"/>
                <a:gd name="T94" fmla="*/ 138 w 480"/>
                <a:gd name="T95" fmla="*/ 216 h 507"/>
                <a:gd name="T96" fmla="*/ 144 w 480"/>
                <a:gd name="T97" fmla="*/ 242 h 507"/>
                <a:gd name="T98" fmla="*/ 161 w 480"/>
                <a:gd name="T99" fmla="*/ 268 h 507"/>
                <a:gd name="T100" fmla="*/ 168 w 480"/>
                <a:gd name="T101" fmla="*/ 312 h 507"/>
                <a:gd name="T102" fmla="*/ 87 w 480"/>
                <a:gd name="T103" fmla="*/ 357 h 507"/>
                <a:gd name="T104" fmla="*/ 19 w 480"/>
                <a:gd name="T105" fmla="*/ 399 h 507"/>
                <a:gd name="T106" fmla="*/ 2 w 480"/>
                <a:gd name="T107" fmla="*/ 420 h 507"/>
                <a:gd name="T108" fmla="*/ 4 w 480"/>
                <a:gd name="T109" fmla="*/ 504 h 507"/>
                <a:gd name="T110" fmla="*/ 473 w 480"/>
                <a:gd name="T111" fmla="*/ 506 h 507"/>
                <a:gd name="T112" fmla="*/ 480 w 480"/>
                <a:gd name="T113" fmla="*/ 424 h 507"/>
                <a:gd name="T114" fmla="*/ 471 w 480"/>
                <a:gd name="T115" fmla="*/ 40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0" h="507">
                  <a:moveTo>
                    <a:pt x="446" y="388"/>
                  </a:moveTo>
                  <a:lnTo>
                    <a:pt x="435" y="380"/>
                  </a:lnTo>
                  <a:lnTo>
                    <a:pt x="418" y="370"/>
                  </a:lnTo>
                  <a:lnTo>
                    <a:pt x="393" y="357"/>
                  </a:lnTo>
                  <a:lnTo>
                    <a:pt x="367" y="344"/>
                  </a:lnTo>
                  <a:lnTo>
                    <a:pt x="339" y="331"/>
                  </a:lnTo>
                  <a:lnTo>
                    <a:pt x="312" y="319"/>
                  </a:lnTo>
                  <a:lnTo>
                    <a:pt x="312" y="312"/>
                  </a:lnTo>
                  <a:lnTo>
                    <a:pt x="312" y="280"/>
                  </a:lnTo>
                  <a:lnTo>
                    <a:pt x="312" y="274"/>
                  </a:lnTo>
                  <a:lnTo>
                    <a:pt x="316" y="272"/>
                  </a:lnTo>
                  <a:lnTo>
                    <a:pt x="320" y="267"/>
                  </a:lnTo>
                  <a:lnTo>
                    <a:pt x="320" y="266"/>
                  </a:lnTo>
                  <a:lnTo>
                    <a:pt x="320" y="266"/>
                  </a:lnTo>
                  <a:lnTo>
                    <a:pt x="323" y="263"/>
                  </a:lnTo>
                  <a:lnTo>
                    <a:pt x="324" y="261"/>
                  </a:lnTo>
                  <a:lnTo>
                    <a:pt x="325" y="260"/>
                  </a:lnTo>
                  <a:lnTo>
                    <a:pt x="325" y="260"/>
                  </a:lnTo>
                  <a:lnTo>
                    <a:pt x="326" y="256"/>
                  </a:lnTo>
                  <a:lnTo>
                    <a:pt x="329" y="254"/>
                  </a:lnTo>
                  <a:lnTo>
                    <a:pt x="329" y="253"/>
                  </a:lnTo>
                  <a:lnTo>
                    <a:pt x="329" y="251"/>
                  </a:lnTo>
                  <a:lnTo>
                    <a:pt x="331" y="248"/>
                  </a:lnTo>
                  <a:lnTo>
                    <a:pt x="332" y="244"/>
                  </a:lnTo>
                  <a:lnTo>
                    <a:pt x="332" y="243"/>
                  </a:lnTo>
                  <a:lnTo>
                    <a:pt x="332" y="243"/>
                  </a:lnTo>
                  <a:lnTo>
                    <a:pt x="335" y="237"/>
                  </a:lnTo>
                  <a:lnTo>
                    <a:pt x="336" y="231"/>
                  </a:lnTo>
                  <a:lnTo>
                    <a:pt x="336" y="231"/>
                  </a:lnTo>
                  <a:lnTo>
                    <a:pt x="336" y="231"/>
                  </a:lnTo>
                  <a:lnTo>
                    <a:pt x="337" y="225"/>
                  </a:lnTo>
                  <a:lnTo>
                    <a:pt x="338" y="219"/>
                  </a:lnTo>
                  <a:lnTo>
                    <a:pt x="338" y="217"/>
                  </a:lnTo>
                  <a:lnTo>
                    <a:pt x="338" y="215"/>
                  </a:lnTo>
                  <a:lnTo>
                    <a:pt x="339" y="209"/>
                  </a:lnTo>
                  <a:lnTo>
                    <a:pt x="339" y="203"/>
                  </a:lnTo>
                  <a:lnTo>
                    <a:pt x="345" y="197"/>
                  </a:lnTo>
                  <a:lnTo>
                    <a:pt x="350" y="191"/>
                  </a:lnTo>
                  <a:lnTo>
                    <a:pt x="350" y="190"/>
                  </a:lnTo>
                  <a:lnTo>
                    <a:pt x="350" y="190"/>
                  </a:lnTo>
                  <a:lnTo>
                    <a:pt x="353" y="187"/>
                  </a:lnTo>
                  <a:lnTo>
                    <a:pt x="354" y="185"/>
                  </a:lnTo>
                  <a:lnTo>
                    <a:pt x="354" y="185"/>
                  </a:lnTo>
                  <a:lnTo>
                    <a:pt x="354" y="185"/>
                  </a:lnTo>
                  <a:lnTo>
                    <a:pt x="355" y="182"/>
                  </a:lnTo>
                  <a:lnTo>
                    <a:pt x="355" y="180"/>
                  </a:lnTo>
                  <a:lnTo>
                    <a:pt x="355" y="179"/>
                  </a:lnTo>
                  <a:lnTo>
                    <a:pt x="356" y="179"/>
                  </a:lnTo>
                  <a:lnTo>
                    <a:pt x="356" y="176"/>
                  </a:lnTo>
                  <a:lnTo>
                    <a:pt x="357" y="174"/>
                  </a:lnTo>
                  <a:lnTo>
                    <a:pt x="357" y="173"/>
                  </a:lnTo>
                  <a:lnTo>
                    <a:pt x="357" y="173"/>
                  </a:lnTo>
                  <a:lnTo>
                    <a:pt x="357" y="169"/>
                  </a:lnTo>
                  <a:lnTo>
                    <a:pt x="357" y="167"/>
                  </a:lnTo>
                  <a:lnTo>
                    <a:pt x="358" y="167"/>
                  </a:lnTo>
                  <a:lnTo>
                    <a:pt x="358" y="166"/>
                  </a:lnTo>
                  <a:lnTo>
                    <a:pt x="358" y="163"/>
                  </a:lnTo>
                  <a:lnTo>
                    <a:pt x="358" y="160"/>
                  </a:lnTo>
                  <a:lnTo>
                    <a:pt x="358" y="155"/>
                  </a:lnTo>
                  <a:lnTo>
                    <a:pt x="357" y="149"/>
                  </a:lnTo>
                  <a:lnTo>
                    <a:pt x="357" y="149"/>
                  </a:lnTo>
                  <a:lnTo>
                    <a:pt x="357" y="148"/>
                  </a:lnTo>
                  <a:lnTo>
                    <a:pt x="356" y="143"/>
                  </a:lnTo>
                  <a:lnTo>
                    <a:pt x="354" y="140"/>
                  </a:lnTo>
                  <a:lnTo>
                    <a:pt x="354" y="138"/>
                  </a:lnTo>
                  <a:lnTo>
                    <a:pt x="354" y="138"/>
                  </a:lnTo>
                  <a:lnTo>
                    <a:pt x="353" y="135"/>
                  </a:lnTo>
                  <a:lnTo>
                    <a:pt x="350" y="131"/>
                  </a:lnTo>
                  <a:lnTo>
                    <a:pt x="349" y="131"/>
                  </a:lnTo>
                  <a:lnTo>
                    <a:pt x="349" y="131"/>
                  </a:lnTo>
                  <a:lnTo>
                    <a:pt x="347" y="128"/>
                  </a:lnTo>
                  <a:lnTo>
                    <a:pt x="343" y="125"/>
                  </a:lnTo>
                  <a:lnTo>
                    <a:pt x="344" y="122"/>
                  </a:lnTo>
                  <a:lnTo>
                    <a:pt x="347" y="117"/>
                  </a:lnTo>
                  <a:lnTo>
                    <a:pt x="351" y="100"/>
                  </a:lnTo>
                  <a:lnTo>
                    <a:pt x="355" y="84"/>
                  </a:lnTo>
                  <a:lnTo>
                    <a:pt x="355" y="77"/>
                  </a:lnTo>
                  <a:lnTo>
                    <a:pt x="355" y="69"/>
                  </a:lnTo>
                  <a:lnTo>
                    <a:pt x="354" y="61"/>
                  </a:lnTo>
                  <a:lnTo>
                    <a:pt x="353" y="54"/>
                  </a:lnTo>
                  <a:lnTo>
                    <a:pt x="350" y="47"/>
                  </a:lnTo>
                  <a:lnTo>
                    <a:pt x="347" y="40"/>
                  </a:lnTo>
                  <a:lnTo>
                    <a:pt x="342" y="34"/>
                  </a:lnTo>
                  <a:lnTo>
                    <a:pt x="336" y="28"/>
                  </a:lnTo>
                  <a:lnTo>
                    <a:pt x="330" y="22"/>
                  </a:lnTo>
                  <a:lnTo>
                    <a:pt x="323" y="17"/>
                  </a:lnTo>
                  <a:lnTo>
                    <a:pt x="314" y="12"/>
                  </a:lnTo>
                  <a:lnTo>
                    <a:pt x="305" y="9"/>
                  </a:lnTo>
                  <a:lnTo>
                    <a:pt x="305" y="9"/>
                  </a:lnTo>
                  <a:lnTo>
                    <a:pt x="305" y="9"/>
                  </a:lnTo>
                  <a:lnTo>
                    <a:pt x="295" y="6"/>
                  </a:lnTo>
                  <a:lnTo>
                    <a:pt x="286" y="4"/>
                  </a:lnTo>
                  <a:lnTo>
                    <a:pt x="276" y="2"/>
                  </a:lnTo>
                  <a:lnTo>
                    <a:pt x="267" y="0"/>
                  </a:lnTo>
                  <a:lnTo>
                    <a:pt x="267" y="0"/>
                  </a:lnTo>
                  <a:lnTo>
                    <a:pt x="267" y="0"/>
                  </a:lnTo>
                  <a:lnTo>
                    <a:pt x="263" y="0"/>
                  </a:lnTo>
                  <a:lnTo>
                    <a:pt x="260" y="0"/>
                  </a:lnTo>
                  <a:lnTo>
                    <a:pt x="255" y="0"/>
                  </a:lnTo>
                  <a:lnTo>
                    <a:pt x="251" y="0"/>
                  </a:lnTo>
                  <a:lnTo>
                    <a:pt x="244" y="0"/>
                  </a:lnTo>
                  <a:lnTo>
                    <a:pt x="237" y="0"/>
                  </a:lnTo>
                  <a:lnTo>
                    <a:pt x="235" y="0"/>
                  </a:lnTo>
                  <a:lnTo>
                    <a:pt x="232" y="2"/>
                  </a:lnTo>
                  <a:lnTo>
                    <a:pt x="229" y="2"/>
                  </a:lnTo>
                  <a:lnTo>
                    <a:pt x="224" y="3"/>
                  </a:lnTo>
                  <a:lnTo>
                    <a:pt x="220" y="3"/>
                  </a:lnTo>
                  <a:lnTo>
                    <a:pt x="217" y="4"/>
                  </a:lnTo>
                  <a:lnTo>
                    <a:pt x="215" y="4"/>
                  </a:lnTo>
                  <a:lnTo>
                    <a:pt x="212" y="5"/>
                  </a:lnTo>
                  <a:lnTo>
                    <a:pt x="207" y="6"/>
                  </a:lnTo>
                  <a:lnTo>
                    <a:pt x="203" y="8"/>
                  </a:lnTo>
                  <a:lnTo>
                    <a:pt x="199" y="9"/>
                  </a:lnTo>
                  <a:lnTo>
                    <a:pt x="195" y="10"/>
                  </a:lnTo>
                  <a:lnTo>
                    <a:pt x="193" y="10"/>
                  </a:lnTo>
                  <a:lnTo>
                    <a:pt x="192" y="11"/>
                  </a:lnTo>
                  <a:lnTo>
                    <a:pt x="181" y="16"/>
                  </a:lnTo>
                  <a:lnTo>
                    <a:pt x="172" y="23"/>
                  </a:lnTo>
                  <a:lnTo>
                    <a:pt x="163" y="30"/>
                  </a:lnTo>
                  <a:lnTo>
                    <a:pt x="157" y="38"/>
                  </a:lnTo>
                  <a:lnTo>
                    <a:pt x="157" y="38"/>
                  </a:lnTo>
                  <a:lnTo>
                    <a:pt x="156" y="38"/>
                  </a:lnTo>
                  <a:lnTo>
                    <a:pt x="155" y="42"/>
                  </a:lnTo>
                  <a:lnTo>
                    <a:pt x="154" y="44"/>
                  </a:lnTo>
                  <a:lnTo>
                    <a:pt x="150" y="44"/>
                  </a:lnTo>
                  <a:lnTo>
                    <a:pt x="148" y="44"/>
                  </a:lnTo>
                  <a:lnTo>
                    <a:pt x="143" y="44"/>
                  </a:lnTo>
                  <a:lnTo>
                    <a:pt x="140" y="46"/>
                  </a:lnTo>
                  <a:lnTo>
                    <a:pt x="138" y="46"/>
                  </a:lnTo>
                  <a:lnTo>
                    <a:pt x="137" y="46"/>
                  </a:lnTo>
                  <a:lnTo>
                    <a:pt x="135" y="47"/>
                  </a:lnTo>
                  <a:lnTo>
                    <a:pt x="131" y="48"/>
                  </a:lnTo>
                  <a:lnTo>
                    <a:pt x="131" y="48"/>
                  </a:lnTo>
                  <a:lnTo>
                    <a:pt x="130" y="49"/>
                  </a:lnTo>
                  <a:lnTo>
                    <a:pt x="128" y="50"/>
                  </a:lnTo>
                  <a:lnTo>
                    <a:pt x="126" y="53"/>
                  </a:lnTo>
                  <a:lnTo>
                    <a:pt x="125" y="53"/>
                  </a:lnTo>
                  <a:lnTo>
                    <a:pt x="125" y="53"/>
                  </a:lnTo>
                  <a:lnTo>
                    <a:pt x="124" y="55"/>
                  </a:lnTo>
                  <a:lnTo>
                    <a:pt x="123" y="56"/>
                  </a:lnTo>
                  <a:lnTo>
                    <a:pt x="121" y="60"/>
                  </a:lnTo>
                  <a:lnTo>
                    <a:pt x="119" y="63"/>
                  </a:lnTo>
                  <a:lnTo>
                    <a:pt x="119" y="65"/>
                  </a:lnTo>
                  <a:lnTo>
                    <a:pt x="118" y="66"/>
                  </a:lnTo>
                  <a:lnTo>
                    <a:pt x="118" y="68"/>
                  </a:lnTo>
                  <a:lnTo>
                    <a:pt x="118" y="71"/>
                  </a:lnTo>
                  <a:lnTo>
                    <a:pt x="118" y="73"/>
                  </a:lnTo>
                  <a:lnTo>
                    <a:pt x="118" y="75"/>
                  </a:lnTo>
                  <a:lnTo>
                    <a:pt x="118" y="77"/>
                  </a:lnTo>
                  <a:lnTo>
                    <a:pt x="118" y="79"/>
                  </a:lnTo>
                  <a:lnTo>
                    <a:pt x="118" y="81"/>
                  </a:lnTo>
                  <a:lnTo>
                    <a:pt x="118" y="84"/>
                  </a:lnTo>
                  <a:lnTo>
                    <a:pt x="119" y="85"/>
                  </a:lnTo>
                  <a:lnTo>
                    <a:pt x="119" y="87"/>
                  </a:lnTo>
                  <a:lnTo>
                    <a:pt x="119" y="90"/>
                  </a:lnTo>
                  <a:lnTo>
                    <a:pt x="121" y="92"/>
                  </a:lnTo>
                  <a:lnTo>
                    <a:pt x="121" y="94"/>
                  </a:lnTo>
                  <a:lnTo>
                    <a:pt x="122" y="96"/>
                  </a:lnTo>
                  <a:lnTo>
                    <a:pt x="122" y="98"/>
                  </a:lnTo>
                  <a:lnTo>
                    <a:pt x="123" y="100"/>
                  </a:lnTo>
                  <a:lnTo>
                    <a:pt x="124" y="103"/>
                  </a:lnTo>
                  <a:lnTo>
                    <a:pt x="125" y="106"/>
                  </a:lnTo>
                  <a:lnTo>
                    <a:pt x="125" y="107"/>
                  </a:lnTo>
                  <a:lnTo>
                    <a:pt x="125" y="109"/>
                  </a:lnTo>
                  <a:lnTo>
                    <a:pt x="129" y="117"/>
                  </a:lnTo>
                  <a:lnTo>
                    <a:pt x="132" y="125"/>
                  </a:lnTo>
                  <a:lnTo>
                    <a:pt x="132" y="125"/>
                  </a:lnTo>
                  <a:lnTo>
                    <a:pt x="132" y="125"/>
                  </a:lnTo>
                  <a:lnTo>
                    <a:pt x="126" y="130"/>
                  </a:lnTo>
                  <a:lnTo>
                    <a:pt x="122" y="136"/>
                  </a:lnTo>
                  <a:lnTo>
                    <a:pt x="118" y="142"/>
                  </a:lnTo>
                  <a:lnTo>
                    <a:pt x="116" y="148"/>
                  </a:lnTo>
                  <a:lnTo>
                    <a:pt x="115" y="155"/>
                  </a:lnTo>
                  <a:lnTo>
                    <a:pt x="115" y="163"/>
                  </a:lnTo>
                  <a:lnTo>
                    <a:pt x="115" y="168"/>
                  </a:lnTo>
                  <a:lnTo>
                    <a:pt x="115" y="174"/>
                  </a:lnTo>
                  <a:lnTo>
                    <a:pt x="116" y="175"/>
                  </a:lnTo>
                  <a:lnTo>
                    <a:pt x="116" y="175"/>
                  </a:lnTo>
                  <a:lnTo>
                    <a:pt x="117" y="180"/>
                  </a:lnTo>
                  <a:lnTo>
                    <a:pt x="118" y="185"/>
                  </a:lnTo>
                  <a:lnTo>
                    <a:pt x="119" y="186"/>
                  </a:lnTo>
                  <a:lnTo>
                    <a:pt x="119" y="187"/>
                  </a:lnTo>
                  <a:lnTo>
                    <a:pt x="122" y="190"/>
                  </a:lnTo>
                  <a:lnTo>
                    <a:pt x="124" y="193"/>
                  </a:lnTo>
                  <a:lnTo>
                    <a:pt x="125" y="194"/>
                  </a:lnTo>
                  <a:lnTo>
                    <a:pt x="125" y="195"/>
                  </a:lnTo>
                  <a:lnTo>
                    <a:pt x="128" y="198"/>
                  </a:lnTo>
                  <a:lnTo>
                    <a:pt x="130" y="199"/>
                  </a:lnTo>
                  <a:lnTo>
                    <a:pt x="134" y="201"/>
                  </a:lnTo>
                  <a:lnTo>
                    <a:pt x="137" y="203"/>
                  </a:lnTo>
                  <a:lnTo>
                    <a:pt x="137" y="210"/>
                  </a:lnTo>
                  <a:lnTo>
                    <a:pt x="138" y="216"/>
                  </a:lnTo>
                  <a:lnTo>
                    <a:pt x="138" y="218"/>
                  </a:lnTo>
                  <a:lnTo>
                    <a:pt x="138" y="220"/>
                  </a:lnTo>
                  <a:lnTo>
                    <a:pt x="141" y="231"/>
                  </a:lnTo>
                  <a:lnTo>
                    <a:pt x="144" y="242"/>
                  </a:lnTo>
                  <a:lnTo>
                    <a:pt x="148" y="250"/>
                  </a:lnTo>
                  <a:lnTo>
                    <a:pt x="151" y="257"/>
                  </a:lnTo>
                  <a:lnTo>
                    <a:pt x="156" y="263"/>
                  </a:lnTo>
                  <a:lnTo>
                    <a:pt x="161" y="268"/>
                  </a:lnTo>
                  <a:lnTo>
                    <a:pt x="165" y="272"/>
                  </a:lnTo>
                  <a:lnTo>
                    <a:pt x="168" y="275"/>
                  </a:lnTo>
                  <a:lnTo>
                    <a:pt x="168" y="281"/>
                  </a:lnTo>
                  <a:lnTo>
                    <a:pt x="168" y="312"/>
                  </a:lnTo>
                  <a:lnTo>
                    <a:pt x="168" y="319"/>
                  </a:lnTo>
                  <a:lnTo>
                    <a:pt x="142" y="331"/>
                  </a:lnTo>
                  <a:lnTo>
                    <a:pt x="115" y="344"/>
                  </a:lnTo>
                  <a:lnTo>
                    <a:pt x="87" y="357"/>
                  </a:lnTo>
                  <a:lnTo>
                    <a:pt x="62" y="370"/>
                  </a:lnTo>
                  <a:lnTo>
                    <a:pt x="47" y="380"/>
                  </a:lnTo>
                  <a:lnTo>
                    <a:pt x="34" y="388"/>
                  </a:lnTo>
                  <a:lnTo>
                    <a:pt x="19" y="399"/>
                  </a:lnTo>
                  <a:lnTo>
                    <a:pt x="9" y="408"/>
                  </a:lnTo>
                  <a:lnTo>
                    <a:pt x="5" y="413"/>
                  </a:lnTo>
                  <a:lnTo>
                    <a:pt x="3" y="417"/>
                  </a:lnTo>
                  <a:lnTo>
                    <a:pt x="2" y="420"/>
                  </a:lnTo>
                  <a:lnTo>
                    <a:pt x="0" y="424"/>
                  </a:lnTo>
                  <a:lnTo>
                    <a:pt x="0" y="495"/>
                  </a:lnTo>
                  <a:lnTo>
                    <a:pt x="2" y="500"/>
                  </a:lnTo>
                  <a:lnTo>
                    <a:pt x="4" y="504"/>
                  </a:lnTo>
                  <a:lnTo>
                    <a:pt x="8" y="506"/>
                  </a:lnTo>
                  <a:lnTo>
                    <a:pt x="12" y="507"/>
                  </a:lnTo>
                  <a:lnTo>
                    <a:pt x="468" y="507"/>
                  </a:lnTo>
                  <a:lnTo>
                    <a:pt x="473" y="506"/>
                  </a:lnTo>
                  <a:lnTo>
                    <a:pt x="476" y="504"/>
                  </a:lnTo>
                  <a:lnTo>
                    <a:pt x="479" y="500"/>
                  </a:lnTo>
                  <a:lnTo>
                    <a:pt x="480" y="495"/>
                  </a:lnTo>
                  <a:lnTo>
                    <a:pt x="480" y="424"/>
                  </a:lnTo>
                  <a:lnTo>
                    <a:pt x="480" y="420"/>
                  </a:lnTo>
                  <a:lnTo>
                    <a:pt x="477" y="417"/>
                  </a:lnTo>
                  <a:lnTo>
                    <a:pt x="475" y="413"/>
                  </a:lnTo>
                  <a:lnTo>
                    <a:pt x="471" y="408"/>
                  </a:lnTo>
                  <a:lnTo>
                    <a:pt x="462" y="399"/>
                  </a:lnTo>
                  <a:lnTo>
                    <a:pt x="446" y="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3" name="Group 52" descr="Icon of books. ">
            <a:extLst>
              <a:ext uri="{FF2B5EF4-FFF2-40B4-BE49-F238E27FC236}">
                <a16:creationId xmlns:a16="http://schemas.microsoft.com/office/drawing/2014/main" id="{8567F01D-3435-4405-B8A9-9C2446E042DD}"/>
              </a:ext>
            </a:extLst>
          </p:cNvPr>
          <p:cNvGrpSpPr/>
          <p:nvPr/>
        </p:nvGrpSpPr>
        <p:grpSpPr>
          <a:xfrm>
            <a:off x="5571346" y="2901918"/>
            <a:ext cx="344413" cy="382447"/>
            <a:chOff x="2608263" y="1920875"/>
            <a:chExt cx="258763" cy="287338"/>
          </a:xfrm>
          <a:solidFill>
            <a:schemeClr val="accent4">
              <a:lumMod val="75000"/>
            </a:schemeClr>
          </a:solidFill>
        </p:grpSpPr>
        <p:sp>
          <p:nvSpPr>
            <p:cNvPr id="54" name="Rectangle 705">
              <a:extLst>
                <a:ext uri="{FF2B5EF4-FFF2-40B4-BE49-F238E27FC236}">
                  <a16:creationId xmlns:a16="http://schemas.microsoft.com/office/drawing/2014/main" id="{D0A6A593-47E4-4B49-AA6D-52F8874CB4E1}"/>
                </a:ext>
              </a:extLst>
            </p:cNvPr>
            <p:cNvSpPr>
              <a:spLocks noChangeArrowheads="1"/>
            </p:cNvSpPr>
            <p:nvPr/>
          </p:nvSpPr>
          <p:spPr bwMode="auto">
            <a:xfrm>
              <a:off x="2808288" y="2122488"/>
              <a:ext cx="58738"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706">
              <a:extLst>
                <a:ext uri="{FF2B5EF4-FFF2-40B4-BE49-F238E27FC236}">
                  <a16:creationId xmlns:a16="http://schemas.microsoft.com/office/drawing/2014/main" id="{B6E4140A-62C5-4AC5-9815-F2E1EC98F9F6}"/>
                </a:ext>
              </a:extLst>
            </p:cNvPr>
            <p:cNvSpPr>
              <a:spLocks/>
            </p:cNvSpPr>
            <p:nvPr/>
          </p:nvSpPr>
          <p:spPr bwMode="auto">
            <a:xfrm>
              <a:off x="2808288" y="1920875"/>
              <a:ext cx="58738" cy="192088"/>
            </a:xfrm>
            <a:custGeom>
              <a:avLst/>
              <a:gdLst>
                <a:gd name="T0" fmla="*/ 163 w 181"/>
                <a:gd name="T1" fmla="*/ 0 h 602"/>
                <a:gd name="T2" fmla="*/ 158 w 181"/>
                <a:gd name="T3" fmla="*/ 3 h 602"/>
                <a:gd name="T4" fmla="*/ 154 w 181"/>
                <a:gd name="T5" fmla="*/ 7 h 602"/>
                <a:gd name="T6" fmla="*/ 151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3 w 181"/>
                <a:gd name="T23" fmla="*/ 270 h 602"/>
                <a:gd name="T24" fmla="*/ 91 w 181"/>
                <a:gd name="T25" fmla="*/ 271 h 602"/>
                <a:gd name="T26" fmla="*/ 78 w 181"/>
                <a:gd name="T27" fmla="*/ 270 h 602"/>
                <a:gd name="T28" fmla="*/ 68 w 181"/>
                <a:gd name="T29" fmla="*/ 266 h 602"/>
                <a:gd name="T30" fmla="*/ 57 w 181"/>
                <a:gd name="T31" fmla="*/ 261 h 602"/>
                <a:gd name="T32" fmla="*/ 48 w 181"/>
                <a:gd name="T33" fmla="*/ 254 h 602"/>
                <a:gd name="T34" fmla="*/ 41 w 181"/>
                <a:gd name="T35" fmla="*/ 245 h 602"/>
                <a:gd name="T36" fmla="*/ 36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8 w 181"/>
                <a:gd name="T49" fmla="*/ 0 h 602"/>
                <a:gd name="T50" fmla="*/ 13 w 181"/>
                <a:gd name="T51" fmla="*/ 0 h 602"/>
                <a:gd name="T52" fmla="*/ 8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60" y="2"/>
                  </a:lnTo>
                  <a:lnTo>
                    <a:pt x="158" y="3"/>
                  </a:lnTo>
                  <a:lnTo>
                    <a:pt x="156" y="5"/>
                  </a:lnTo>
                  <a:lnTo>
                    <a:pt x="154" y="7"/>
                  </a:lnTo>
                  <a:lnTo>
                    <a:pt x="152" y="9"/>
                  </a:lnTo>
                  <a:lnTo>
                    <a:pt x="151" y="12"/>
                  </a:lnTo>
                  <a:lnTo>
                    <a:pt x="151" y="15"/>
                  </a:lnTo>
                  <a:lnTo>
                    <a:pt x="151" y="211"/>
                  </a:lnTo>
                  <a:lnTo>
                    <a:pt x="150" y="217"/>
                  </a:lnTo>
                  <a:lnTo>
                    <a:pt x="150" y="222"/>
                  </a:lnTo>
                  <a:lnTo>
                    <a:pt x="148" y="229"/>
                  </a:lnTo>
                  <a:lnTo>
                    <a:pt x="146" y="234"/>
                  </a:lnTo>
                  <a:lnTo>
                    <a:pt x="144" y="240"/>
                  </a:lnTo>
                  <a:lnTo>
                    <a:pt x="141" y="245"/>
                  </a:lnTo>
                  <a:lnTo>
                    <a:pt x="137" y="249"/>
                  </a:lnTo>
                  <a:lnTo>
                    <a:pt x="133" y="254"/>
                  </a:lnTo>
                  <a:lnTo>
                    <a:pt x="129" y="258"/>
                  </a:lnTo>
                  <a:lnTo>
                    <a:pt x="125" y="261"/>
                  </a:lnTo>
                  <a:lnTo>
                    <a:pt x="119" y="264"/>
                  </a:lnTo>
                  <a:lnTo>
                    <a:pt x="114" y="266"/>
                  </a:lnTo>
                  <a:lnTo>
                    <a:pt x="108" y="269"/>
                  </a:lnTo>
                  <a:lnTo>
                    <a:pt x="103" y="270"/>
                  </a:lnTo>
                  <a:lnTo>
                    <a:pt x="97" y="271"/>
                  </a:lnTo>
                  <a:lnTo>
                    <a:pt x="91" y="271"/>
                  </a:lnTo>
                  <a:lnTo>
                    <a:pt x="85" y="271"/>
                  </a:lnTo>
                  <a:lnTo>
                    <a:pt x="78" y="270"/>
                  </a:lnTo>
                  <a:lnTo>
                    <a:pt x="73" y="269"/>
                  </a:lnTo>
                  <a:lnTo>
                    <a:pt x="68" y="266"/>
                  </a:lnTo>
                  <a:lnTo>
                    <a:pt x="62" y="264"/>
                  </a:lnTo>
                  <a:lnTo>
                    <a:pt x="57" y="261"/>
                  </a:lnTo>
                  <a:lnTo>
                    <a:pt x="53" y="258"/>
                  </a:lnTo>
                  <a:lnTo>
                    <a:pt x="48" y="254"/>
                  </a:lnTo>
                  <a:lnTo>
                    <a:pt x="44" y="249"/>
                  </a:lnTo>
                  <a:lnTo>
                    <a:pt x="41" y="245"/>
                  </a:lnTo>
                  <a:lnTo>
                    <a:pt x="38" y="240"/>
                  </a:lnTo>
                  <a:lnTo>
                    <a:pt x="36" y="234"/>
                  </a:lnTo>
                  <a:lnTo>
                    <a:pt x="33" y="229"/>
                  </a:lnTo>
                  <a:lnTo>
                    <a:pt x="32" y="224"/>
                  </a:lnTo>
                  <a:lnTo>
                    <a:pt x="31" y="217"/>
                  </a:lnTo>
                  <a:lnTo>
                    <a:pt x="30" y="211"/>
                  </a:lnTo>
                  <a:lnTo>
                    <a:pt x="30" y="15"/>
                  </a:lnTo>
                  <a:lnTo>
                    <a:pt x="30" y="12"/>
                  </a:lnTo>
                  <a:lnTo>
                    <a:pt x="29" y="9"/>
                  </a:lnTo>
                  <a:lnTo>
                    <a:pt x="28" y="7"/>
                  </a:lnTo>
                  <a:lnTo>
                    <a:pt x="26" y="5"/>
                  </a:lnTo>
                  <a:lnTo>
                    <a:pt x="24" y="3"/>
                  </a:lnTo>
                  <a:lnTo>
                    <a:pt x="22" y="2"/>
                  </a:lnTo>
                  <a:lnTo>
                    <a:pt x="18" y="0"/>
                  </a:lnTo>
                  <a:lnTo>
                    <a:pt x="15" y="0"/>
                  </a:lnTo>
                  <a:lnTo>
                    <a:pt x="13" y="0"/>
                  </a:lnTo>
                  <a:lnTo>
                    <a:pt x="10" y="2"/>
                  </a:lnTo>
                  <a:lnTo>
                    <a:pt x="8" y="3"/>
                  </a:lnTo>
                  <a:lnTo>
                    <a:pt x="6" y="5"/>
                  </a:lnTo>
                  <a:lnTo>
                    <a:pt x="3" y="7"/>
                  </a:lnTo>
                  <a:lnTo>
                    <a:pt x="1"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5" y="3"/>
                  </a:lnTo>
                  <a:lnTo>
                    <a:pt x="172" y="2"/>
                  </a:lnTo>
                  <a:lnTo>
                    <a:pt x="170"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707">
              <a:extLst>
                <a:ext uri="{FF2B5EF4-FFF2-40B4-BE49-F238E27FC236}">
                  <a16:creationId xmlns:a16="http://schemas.microsoft.com/office/drawing/2014/main" id="{2BB05B54-8B23-444D-95F1-028389DEF5DE}"/>
                </a:ext>
              </a:extLst>
            </p:cNvPr>
            <p:cNvSpPr>
              <a:spLocks/>
            </p:cNvSpPr>
            <p:nvPr/>
          </p:nvSpPr>
          <p:spPr bwMode="auto">
            <a:xfrm>
              <a:off x="2808288" y="2151063"/>
              <a:ext cx="58738" cy="57150"/>
            </a:xfrm>
            <a:custGeom>
              <a:avLst/>
              <a:gdLst>
                <a:gd name="T0" fmla="*/ 0 w 181"/>
                <a:gd name="T1" fmla="*/ 91 h 182"/>
                <a:gd name="T2" fmla="*/ 1 w 181"/>
                <a:gd name="T3" fmla="*/ 100 h 182"/>
                <a:gd name="T4" fmla="*/ 2 w 181"/>
                <a:gd name="T5" fmla="*/ 110 h 182"/>
                <a:gd name="T6" fmla="*/ 4 w 181"/>
                <a:gd name="T7" fmla="*/ 118 h 182"/>
                <a:gd name="T8" fmla="*/ 8 w 181"/>
                <a:gd name="T9" fmla="*/ 126 h 182"/>
                <a:gd name="T10" fmla="*/ 12 w 181"/>
                <a:gd name="T11" fmla="*/ 134 h 182"/>
                <a:gd name="T12" fmla="*/ 16 w 181"/>
                <a:gd name="T13" fmla="*/ 142 h 182"/>
                <a:gd name="T14" fmla="*/ 22 w 181"/>
                <a:gd name="T15" fmla="*/ 148 h 182"/>
                <a:gd name="T16" fmla="*/ 27 w 181"/>
                <a:gd name="T17" fmla="*/ 155 h 182"/>
                <a:gd name="T18" fmla="*/ 33 w 181"/>
                <a:gd name="T19" fmla="*/ 161 h 182"/>
                <a:gd name="T20" fmla="*/ 41 w 181"/>
                <a:gd name="T21" fmla="*/ 165 h 182"/>
                <a:gd name="T22" fmla="*/ 47 w 181"/>
                <a:gd name="T23" fmla="*/ 171 h 182"/>
                <a:gd name="T24" fmla="*/ 56 w 181"/>
                <a:gd name="T25" fmla="*/ 174 h 182"/>
                <a:gd name="T26" fmla="*/ 65 w 181"/>
                <a:gd name="T27" fmla="*/ 177 h 182"/>
                <a:gd name="T28" fmla="*/ 73 w 181"/>
                <a:gd name="T29" fmla="*/ 179 h 182"/>
                <a:gd name="T30" fmla="*/ 82 w 181"/>
                <a:gd name="T31" fmla="*/ 181 h 182"/>
                <a:gd name="T32" fmla="*/ 91 w 181"/>
                <a:gd name="T33" fmla="*/ 182 h 182"/>
                <a:gd name="T34" fmla="*/ 100 w 181"/>
                <a:gd name="T35" fmla="*/ 181 h 182"/>
                <a:gd name="T36" fmla="*/ 110 w 181"/>
                <a:gd name="T37" fmla="*/ 179 h 182"/>
                <a:gd name="T38" fmla="*/ 118 w 181"/>
                <a:gd name="T39" fmla="*/ 177 h 182"/>
                <a:gd name="T40" fmla="*/ 126 w 181"/>
                <a:gd name="T41" fmla="*/ 174 h 182"/>
                <a:gd name="T42" fmla="*/ 134 w 181"/>
                <a:gd name="T43" fmla="*/ 171 h 182"/>
                <a:gd name="T44" fmla="*/ 142 w 181"/>
                <a:gd name="T45" fmla="*/ 165 h 182"/>
                <a:gd name="T46" fmla="*/ 148 w 181"/>
                <a:gd name="T47" fmla="*/ 161 h 182"/>
                <a:gd name="T48" fmla="*/ 155 w 181"/>
                <a:gd name="T49" fmla="*/ 155 h 182"/>
                <a:gd name="T50" fmla="*/ 161 w 181"/>
                <a:gd name="T51" fmla="*/ 148 h 182"/>
                <a:gd name="T52" fmla="*/ 165 w 181"/>
                <a:gd name="T53" fmla="*/ 142 h 182"/>
                <a:gd name="T54" fmla="*/ 171 w 181"/>
                <a:gd name="T55" fmla="*/ 134 h 182"/>
                <a:gd name="T56" fmla="*/ 174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8" y="126"/>
                  </a:lnTo>
                  <a:lnTo>
                    <a:pt x="12" y="134"/>
                  </a:lnTo>
                  <a:lnTo>
                    <a:pt x="16" y="142"/>
                  </a:lnTo>
                  <a:lnTo>
                    <a:pt x="22" y="148"/>
                  </a:lnTo>
                  <a:lnTo>
                    <a:pt x="27" y="155"/>
                  </a:lnTo>
                  <a:lnTo>
                    <a:pt x="33" y="161"/>
                  </a:lnTo>
                  <a:lnTo>
                    <a:pt x="41" y="165"/>
                  </a:lnTo>
                  <a:lnTo>
                    <a:pt x="47" y="171"/>
                  </a:lnTo>
                  <a:lnTo>
                    <a:pt x="56" y="174"/>
                  </a:lnTo>
                  <a:lnTo>
                    <a:pt x="65" y="177"/>
                  </a:lnTo>
                  <a:lnTo>
                    <a:pt x="73" y="179"/>
                  </a:lnTo>
                  <a:lnTo>
                    <a:pt x="82" y="181"/>
                  </a:lnTo>
                  <a:lnTo>
                    <a:pt x="91" y="182"/>
                  </a:lnTo>
                  <a:lnTo>
                    <a:pt x="100" y="181"/>
                  </a:lnTo>
                  <a:lnTo>
                    <a:pt x="110" y="179"/>
                  </a:lnTo>
                  <a:lnTo>
                    <a:pt x="118" y="177"/>
                  </a:lnTo>
                  <a:lnTo>
                    <a:pt x="126" y="174"/>
                  </a:lnTo>
                  <a:lnTo>
                    <a:pt x="134" y="171"/>
                  </a:lnTo>
                  <a:lnTo>
                    <a:pt x="142" y="165"/>
                  </a:lnTo>
                  <a:lnTo>
                    <a:pt x="148" y="161"/>
                  </a:lnTo>
                  <a:lnTo>
                    <a:pt x="155" y="155"/>
                  </a:lnTo>
                  <a:lnTo>
                    <a:pt x="161" y="148"/>
                  </a:lnTo>
                  <a:lnTo>
                    <a:pt x="165" y="142"/>
                  </a:lnTo>
                  <a:lnTo>
                    <a:pt x="171" y="134"/>
                  </a:lnTo>
                  <a:lnTo>
                    <a:pt x="174"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708">
              <a:extLst>
                <a:ext uri="{FF2B5EF4-FFF2-40B4-BE49-F238E27FC236}">
                  <a16:creationId xmlns:a16="http://schemas.microsoft.com/office/drawing/2014/main" id="{FCD192F6-CF13-4B1C-AF7D-85317A2D8C92}"/>
                </a:ext>
              </a:extLst>
            </p:cNvPr>
            <p:cNvSpPr>
              <a:spLocks/>
            </p:cNvSpPr>
            <p:nvPr/>
          </p:nvSpPr>
          <p:spPr bwMode="auto">
            <a:xfrm>
              <a:off x="2833688" y="1930400"/>
              <a:ext cx="9525" cy="57150"/>
            </a:xfrm>
            <a:custGeom>
              <a:avLst/>
              <a:gdLst>
                <a:gd name="T0" fmla="*/ 15 w 30"/>
                <a:gd name="T1" fmla="*/ 181 h 181"/>
                <a:gd name="T2" fmla="*/ 17 w 30"/>
                <a:gd name="T3" fmla="*/ 181 h 181"/>
                <a:gd name="T4" fmla="*/ 21 w 30"/>
                <a:gd name="T5" fmla="*/ 180 h 181"/>
                <a:gd name="T6" fmla="*/ 23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3 w 30"/>
                <a:gd name="T29" fmla="*/ 3 h 181"/>
                <a:gd name="T30" fmla="*/ 21 w 30"/>
                <a:gd name="T31" fmla="*/ 2 h 181"/>
                <a:gd name="T32" fmla="*/ 17 w 30"/>
                <a:gd name="T33" fmla="*/ 0 h 181"/>
                <a:gd name="T34" fmla="*/ 15 w 30"/>
                <a:gd name="T35" fmla="*/ 0 h 181"/>
                <a:gd name="T36" fmla="*/ 12 w 30"/>
                <a:gd name="T37" fmla="*/ 0 h 181"/>
                <a:gd name="T38" fmla="*/ 9 w 30"/>
                <a:gd name="T39" fmla="*/ 2 h 181"/>
                <a:gd name="T40" fmla="*/ 7 w 30"/>
                <a:gd name="T41" fmla="*/ 3 h 181"/>
                <a:gd name="T42" fmla="*/ 5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5 w 30"/>
                <a:gd name="T61" fmla="*/ 176 h 181"/>
                <a:gd name="T62" fmla="*/ 7 w 30"/>
                <a:gd name="T63" fmla="*/ 179 h 181"/>
                <a:gd name="T64" fmla="*/ 9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1" y="180"/>
                  </a:lnTo>
                  <a:lnTo>
                    <a:pt x="23" y="179"/>
                  </a:lnTo>
                  <a:lnTo>
                    <a:pt x="26" y="176"/>
                  </a:lnTo>
                  <a:lnTo>
                    <a:pt x="27" y="174"/>
                  </a:lnTo>
                  <a:lnTo>
                    <a:pt x="29" y="172"/>
                  </a:lnTo>
                  <a:lnTo>
                    <a:pt x="29" y="169"/>
                  </a:lnTo>
                  <a:lnTo>
                    <a:pt x="30" y="166"/>
                  </a:lnTo>
                  <a:lnTo>
                    <a:pt x="30" y="16"/>
                  </a:lnTo>
                  <a:lnTo>
                    <a:pt x="29" y="12"/>
                  </a:lnTo>
                  <a:lnTo>
                    <a:pt x="29" y="9"/>
                  </a:lnTo>
                  <a:lnTo>
                    <a:pt x="27" y="7"/>
                  </a:lnTo>
                  <a:lnTo>
                    <a:pt x="26" y="5"/>
                  </a:lnTo>
                  <a:lnTo>
                    <a:pt x="23" y="3"/>
                  </a:lnTo>
                  <a:lnTo>
                    <a:pt x="21" y="2"/>
                  </a:lnTo>
                  <a:lnTo>
                    <a:pt x="17" y="0"/>
                  </a:lnTo>
                  <a:lnTo>
                    <a:pt x="15" y="0"/>
                  </a:lnTo>
                  <a:lnTo>
                    <a:pt x="12" y="0"/>
                  </a:lnTo>
                  <a:lnTo>
                    <a:pt x="9" y="2"/>
                  </a:lnTo>
                  <a:lnTo>
                    <a:pt x="7" y="3"/>
                  </a:lnTo>
                  <a:lnTo>
                    <a:pt x="5" y="5"/>
                  </a:lnTo>
                  <a:lnTo>
                    <a:pt x="2" y="7"/>
                  </a:lnTo>
                  <a:lnTo>
                    <a:pt x="1" y="9"/>
                  </a:lnTo>
                  <a:lnTo>
                    <a:pt x="0" y="12"/>
                  </a:lnTo>
                  <a:lnTo>
                    <a:pt x="0" y="16"/>
                  </a:lnTo>
                  <a:lnTo>
                    <a:pt x="0" y="166"/>
                  </a:lnTo>
                  <a:lnTo>
                    <a:pt x="0" y="169"/>
                  </a:lnTo>
                  <a:lnTo>
                    <a:pt x="1" y="172"/>
                  </a:lnTo>
                  <a:lnTo>
                    <a:pt x="2" y="174"/>
                  </a:lnTo>
                  <a:lnTo>
                    <a:pt x="5" y="176"/>
                  </a:lnTo>
                  <a:lnTo>
                    <a:pt x="7" y="179"/>
                  </a:lnTo>
                  <a:lnTo>
                    <a:pt x="9"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709">
              <a:extLst>
                <a:ext uri="{FF2B5EF4-FFF2-40B4-BE49-F238E27FC236}">
                  <a16:creationId xmlns:a16="http://schemas.microsoft.com/office/drawing/2014/main" id="{01062624-ADFC-42E8-A6C7-0C7AF44AC72F}"/>
                </a:ext>
              </a:extLst>
            </p:cNvPr>
            <p:cNvSpPr>
              <a:spLocks/>
            </p:cNvSpPr>
            <p:nvPr/>
          </p:nvSpPr>
          <p:spPr bwMode="auto">
            <a:xfrm>
              <a:off x="2741613" y="1920875"/>
              <a:ext cx="57150" cy="192088"/>
            </a:xfrm>
            <a:custGeom>
              <a:avLst/>
              <a:gdLst>
                <a:gd name="T0" fmla="*/ 162 w 180"/>
                <a:gd name="T1" fmla="*/ 0 h 602"/>
                <a:gd name="T2" fmla="*/ 157 w 180"/>
                <a:gd name="T3" fmla="*/ 3 h 602"/>
                <a:gd name="T4" fmla="*/ 153 w 180"/>
                <a:gd name="T5" fmla="*/ 7 h 602"/>
                <a:gd name="T6" fmla="*/ 151 w 180"/>
                <a:gd name="T7" fmla="*/ 12 h 602"/>
                <a:gd name="T8" fmla="*/ 150 w 180"/>
                <a:gd name="T9" fmla="*/ 211 h 602"/>
                <a:gd name="T10" fmla="*/ 149 w 180"/>
                <a:gd name="T11" fmla="*/ 222 h 602"/>
                <a:gd name="T12" fmla="*/ 146 w 180"/>
                <a:gd name="T13" fmla="*/ 234 h 602"/>
                <a:gd name="T14" fmla="*/ 140 w 180"/>
                <a:gd name="T15" fmla="*/ 245 h 602"/>
                <a:gd name="T16" fmla="*/ 133 w 180"/>
                <a:gd name="T17" fmla="*/ 254 h 602"/>
                <a:gd name="T18" fmla="*/ 123 w 180"/>
                <a:gd name="T19" fmla="*/ 261 h 602"/>
                <a:gd name="T20" fmla="*/ 114 w 180"/>
                <a:gd name="T21" fmla="*/ 266 h 602"/>
                <a:gd name="T22" fmla="*/ 102 w 180"/>
                <a:gd name="T23" fmla="*/ 270 h 602"/>
                <a:gd name="T24" fmla="*/ 90 w 180"/>
                <a:gd name="T25" fmla="*/ 271 h 602"/>
                <a:gd name="T26" fmla="*/ 78 w 180"/>
                <a:gd name="T27" fmla="*/ 270 h 602"/>
                <a:gd name="T28" fmla="*/ 66 w 180"/>
                <a:gd name="T29" fmla="*/ 266 h 602"/>
                <a:gd name="T30" fmla="*/ 57 w 180"/>
                <a:gd name="T31" fmla="*/ 261 h 602"/>
                <a:gd name="T32" fmla="*/ 47 w 180"/>
                <a:gd name="T33" fmla="*/ 254 h 602"/>
                <a:gd name="T34" fmla="*/ 41 w 180"/>
                <a:gd name="T35" fmla="*/ 245 h 602"/>
                <a:gd name="T36" fmla="*/ 34 w 180"/>
                <a:gd name="T37" fmla="*/ 234 h 602"/>
                <a:gd name="T38" fmla="*/ 31 w 180"/>
                <a:gd name="T39" fmla="*/ 224 h 602"/>
                <a:gd name="T40" fmla="*/ 30 w 180"/>
                <a:gd name="T41" fmla="*/ 211 h 602"/>
                <a:gd name="T42" fmla="*/ 30 w 180"/>
                <a:gd name="T43" fmla="*/ 12 h 602"/>
                <a:gd name="T44" fmla="*/ 28 w 180"/>
                <a:gd name="T45" fmla="*/ 7 h 602"/>
                <a:gd name="T46" fmla="*/ 24 w 180"/>
                <a:gd name="T47" fmla="*/ 3 h 602"/>
                <a:gd name="T48" fmla="*/ 18 w 180"/>
                <a:gd name="T49" fmla="*/ 0 h 602"/>
                <a:gd name="T50" fmla="*/ 12 w 180"/>
                <a:gd name="T51" fmla="*/ 0 h 602"/>
                <a:gd name="T52" fmla="*/ 6 w 180"/>
                <a:gd name="T53" fmla="*/ 3 h 602"/>
                <a:gd name="T54" fmla="*/ 2 w 180"/>
                <a:gd name="T55" fmla="*/ 7 h 602"/>
                <a:gd name="T56" fmla="*/ 0 w 180"/>
                <a:gd name="T57" fmla="*/ 12 h 602"/>
                <a:gd name="T58" fmla="*/ 0 w 180"/>
                <a:gd name="T59" fmla="*/ 211 h 602"/>
                <a:gd name="T60" fmla="*/ 180 w 180"/>
                <a:gd name="T61" fmla="*/ 602 h 602"/>
                <a:gd name="T62" fmla="*/ 180 w 180"/>
                <a:gd name="T63" fmla="*/ 15 h 602"/>
                <a:gd name="T64" fmla="*/ 179 w 180"/>
                <a:gd name="T65" fmla="*/ 9 h 602"/>
                <a:gd name="T66" fmla="*/ 176 w 180"/>
                <a:gd name="T67" fmla="*/ 5 h 602"/>
                <a:gd name="T68" fmla="*/ 172 w 180"/>
                <a:gd name="T69" fmla="*/ 2 h 602"/>
                <a:gd name="T70" fmla="*/ 165 w 180"/>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602">
                  <a:moveTo>
                    <a:pt x="165" y="0"/>
                  </a:moveTo>
                  <a:lnTo>
                    <a:pt x="162" y="0"/>
                  </a:lnTo>
                  <a:lnTo>
                    <a:pt x="160" y="2"/>
                  </a:lnTo>
                  <a:lnTo>
                    <a:pt x="157" y="3"/>
                  </a:lnTo>
                  <a:lnTo>
                    <a:pt x="154" y="5"/>
                  </a:lnTo>
                  <a:lnTo>
                    <a:pt x="153" y="7"/>
                  </a:lnTo>
                  <a:lnTo>
                    <a:pt x="151" y="9"/>
                  </a:lnTo>
                  <a:lnTo>
                    <a:pt x="151" y="12"/>
                  </a:lnTo>
                  <a:lnTo>
                    <a:pt x="150" y="15"/>
                  </a:lnTo>
                  <a:lnTo>
                    <a:pt x="150" y="211"/>
                  </a:lnTo>
                  <a:lnTo>
                    <a:pt x="150" y="217"/>
                  </a:lnTo>
                  <a:lnTo>
                    <a:pt x="149" y="222"/>
                  </a:lnTo>
                  <a:lnTo>
                    <a:pt x="148" y="229"/>
                  </a:lnTo>
                  <a:lnTo>
                    <a:pt x="146" y="234"/>
                  </a:lnTo>
                  <a:lnTo>
                    <a:pt x="143" y="240"/>
                  </a:lnTo>
                  <a:lnTo>
                    <a:pt x="140" y="245"/>
                  </a:lnTo>
                  <a:lnTo>
                    <a:pt x="136" y="249"/>
                  </a:lnTo>
                  <a:lnTo>
                    <a:pt x="133" y="254"/>
                  </a:lnTo>
                  <a:lnTo>
                    <a:pt x="129" y="258"/>
                  </a:lnTo>
                  <a:lnTo>
                    <a:pt x="123" y="261"/>
                  </a:lnTo>
                  <a:lnTo>
                    <a:pt x="119" y="264"/>
                  </a:lnTo>
                  <a:lnTo>
                    <a:pt x="114" y="266"/>
                  </a:lnTo>
                  <a:lnTo>
                    <a:pt x="108" y="269"/>
                  </a:lnTo>
                  <a:lnTo>
                    <a:pt x="102" y="270"/>
                  </a:lnTo>
                  <a:lnTo>
                    <a:pt x="96" y="271"/>
                  </a:lnTo>
                  <a:lnTo>
                    <a:pt x="90" y="271"/>
                  </a:lnTo>
                  <a:lnTo>
                    <a:pt x="84" y="271"/>
                  </a:lnTo>
                  <a:lnTo>
                    <a:pt x="78" y="270"/>
                  </a:lnTo>
                  <a:lnTo>
                    <a:pt x="72" y="269"/>
                  </a:lnTo>
                  <a:lnTo>
                    <a:pt x="66" y="266"/>
                  </a:lnTo>
                  <a:lnTo>
                    <a:pt x="61" y="264"/>
                  </a:lnTo>
                  <a:lnTo>
                    <a:pt x="57" y="261"/>
                  </a:lnTo>
                  <a:lnTo>
                    <a:pt x="51" y="258"/>
                  </a:lnTo>
                  <a:lnTo>
                    <a:pt x="47" y="254"/>
                  </a:lnTo>
                  <a:lnTo>
                    <a:pt x="44" y="249"/>
                  </a:lnTo>
                  <a:lnTo>
                    <a:pt x="41" y="245"/>
                  </a:lnTo>
                  <a:lnTo>
                    <a:pt x="37" y="240"/>
                  </a:lnTo>
                  <a:lnTo>
                    <a:pt x="34" y="234"/>
                  </a:lnTo>
                  <a:lnTo>
                    <a:pt x="32" y="229"/>
                  </a:lnTo>
                  <a:lnTo>
                    <a:pt x="31" y="224"/>
                  </a:lnTo>
                  <a:lnTo>
                    <a:pt x="30" y="217"/>
                  </a:lnTo>
                  <a:lnTo>
                    <a:pt x="30" y="211"/>
                  </a:lnTo>
                  <a:lnTo>
                    <a:pt x="30" y="15"/>
                  </a:lnTo>
                  <a:lnTo>
                    <a:pt x="30" y="12"/>
                  </a:lnTo>
                  <a:lnTo>
                    <a:pt x="29" y="9"/>
                  </a:lnTo>
                  <a:lnTo>
                    <a:pt x="28" y="7"/>
                  </a:lnTo>
                  <a:lnTo>
                    <a:pt x="26" y="5"/>
                  </a:lnTo>
                  <a:lnTo>
                    <a:pt x="24" y="3"/>
                  </a:lnTo>
                  <a:lnTo>
                    <a:pt x="20" y="2"/>
                  </a:lnTo>
                  <a:lnTo>
                    <a:pt x="18" y="0"/>
                  </a:lnTo>
                  <a:lnTo>
                    <a:pt x="15" y="0"/>
                  </a:lnTo>
                  <a:lnTo>
                    <a:pt x="12" y="0"/>
                  </a:lnTo>
                  <a:lnTo>
                    <a:pt x="9" y="2"/>
                  </a:lnTo>
                  <a:lnTo>
                    <a:pt x="6" y="3"/>
                  </a:lnTo>
                  <a:lnTo>
                    <a:pt x="4" y="5"/>
                  </a:lnTo>
                  <a:lnTo>
                    <a:pt x="2" y="7"/>
                  </a:lnTo>
                  <a:lnTo>
                    <a:pt x="1" y="9"/>
                  </a:lnTo>
                  <a:lnTo>
                    <a:pt x="0" y="12"/>
                  </a:lnTo>
                  <a:lnTo>
                    <a:pt x="0" y="15"/>
                  </a:lnTo>
                  <a:lnTo>
                    <a:pt x="0" y="211"/>
                  </a:lnTo>
                  <a:lnTo>
                    <a:pt x="0" y="602"/>
                  </a:lnTo>
                  <a:lnTo>
                    <a:pt x="180" y="602"/>
                  </a:lnTo>
                  <a:lnTo>
                    <a:pt x="180" y="211"/>
                  </a:lnTo>
                  <a:lnTo>
                    <a:pt x="180" y="15"/>
                  </a:lnTo>
                  <a:lnTo>
                    <a:pt x="180" y="12"/>
                  </a:lnTo>
                  <a:lnTo>
                    <a:pt x="179" y="9"/>
                  </a:lnTo>
                  <a:lnTo>
                    <a:pt x="178" y="7"/>
                  </a:lnTo>
                  <a:lnTo>
                    <a:pt x="176" y="5"/>
                  </a:lnTo>
                  <a:lnTo>
                    <a:pt x="174" y="3"/>
                  </a:lnTo>
                  <a:lnTo>
                    <a:pt x="172" y="2"/>
                  </a:lnTo>
                  <a:lnTo>
                    <a:pt x="168" y="0"/>
                  </a:lnTo>
                  <a:lnTo>
                    <a:pt x="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710">
              <a:extLst>
                <a:ext uri="{FF2B5EF4-FFF2-40B4-BE49-F238E27FC236}">
                  <a16:creationId xmlns:a16="http://schemas.microsoft.com/office/drawing/2014/main" id="{8AA6F9D2-5C11-4285-A4B0-23EFFF22BC80}"/>
                </a:ext>
              </a:extLst>
            </p:cNvPr>
            <p:cNvSpPr>
              <a:spLocks/>
            </p:cNvSpPr>
            <p:nvPr/>
          </p:nvSpPr>
          <p:spPr bwMode="auto">
            <a:xfrm>
              <a:off x="2741613" y="2151063"/>
              <a:ext cx="57150" cy="57150"/>
            </a:xfrm>
            <a:custGeom>
              <a:avLst/>
              <a:gdLst>
                <a:gd name="T0" fmla="*/ 0 w 180"/>
                <a:gd name="T1" fmla="*/ 91 h 182"/>
                <a:gd name="T2" fmla="*/ 0 w 180"/>
                <a:gd name="T3" fmla="*/ 100 h 182"/>
                <a:gd name="T4" fmla="*/ 2 w 180"/>
                <a:gd name="T5" fmla="*/ 110 h 182"/>
                <a:gd name="T6" fmla="*/ 4 w 180"/>
                <a:gd name="T7" fmla="*/ 118 h 182"/>
                <a:gd name="T8" fmla="*/ 7 w 180"/>
                <a:gd name="T9" fmla="*/ 126 h 182"/>
                <a:gd name="T10" fmla="*/ 11 w 180"/>
                <a:gd name="T11" fmla="*/ 134 h 182"/>
                <a:gd name="T12" fmla="*/ 15 w 180"/>
                <a:gd name="T13" fmla="*/ 142 h 182"/>
                <a:gd name="T14" fmla="*/ 20 w 180"/>
                <a:gd name="T15" fmla="*/ 148 h 182"/>
                <a:gd name="T16" fmla="*/ 27 w 180"/>
                <a:gd name="T17" fmla="*/ 155 h 182"/>
                <a:gd name="T18" fmla="*/ 33 w 180"/>
                <a:gd name="T19" fmla="*/ 161 h 182"/>
                <a:gd name="T20" fmla="*/ 40 w 180"/>
                <a:gd name="T21" fmla="*/ 165 h 182"/>
                <a:gd name="T22" fmla="*/ 47 w 180"/>
                <a:gd name="T23" fmla="*/ 171 h 182"/>
                <a:gd name="T24" fmla="*/ 55 w 180"/>
                <a:gd name="T25" fmla="*/ 174 h 182"/>
                <a:gd name="T26" fmla="*/ 63 w 180"/>
                <a:gd name="T27" fmla="*/ 177 h 182"/>
                <a:gd name="T28" fmla="*/ 72 w 180"/>
                <a:gd name="T29" fmla="*/ 179 h 182"/>
                <a:gd name="T30" fmla="*/ 80 w 180"/>
                <a:gd name="T31" fmla="*/ 181 h 182"/>
                <a:gd name="T32" fmla="*/ 90 w 180"/>
                <a:gd name="T33" fmla="*/ 182 h 182"/>
                <a:gd name="T34" fmla="*/ 100 w 180"/>
                <a:gd name="T35" fmla="*/ 181 h 182"/>
                <a:gd name="T36" fmla="*/ 108 w 180"/>
                <a:gd name="T37" fmla="*/ 179 h 182"/>
                <a:gd name="T38" fmla="*/ 117 w 180"/>
                <a:gd name="T39" fmla="*/ 177 h 182"/>
                <a:gd name="T40" fmla="*/ 125 w 180"/>
                <a:gd name="T41" fmla="*/ 174 h 182"/>
                <a:gd name="T42" fmla="*/ 133 w 180"/>
                <a:gd name="T43" fmla="*/ 171 h 182"/>
                <a:gd name="T44" fmla="*/ 140 w 180"/>
                <a:gd name="T45" fmla="*/ 165 h 182"/>
                <a:gd name="T46" fmla="*/ 148 w 180"/>
                <a:gd name="T47" fmla="*/ 161 h 182"/>
                <a:gd name="T48" fmla="*/ 154 w 180"/>
                <a:gd name="T49" fmla="*/ 155 h 182"/>
                <a:gd name="T50" fmla="*/ 160 w 180"/>
                <a:gd name="T51" fmla="*/ 148 h 182"/>
                <a:gd name="T52" fmla="*/ 165 w 180"/>
                <a:gd name="T53" fmla="*/ 142 h 182"/>
                <a:gd name="T54" fmla="*/ 169 w 180"/>
                <a:gd name="T55" fmla="*/ 134 h 182"/>
                <a:gd name="T56" fmla="*/ 174 w 180"/>
                <a:gd name="T57" fmla="*/ 126 h 182"/>
                <a:gd name="T58" fmla="*/ 177 w 180"/>
                <a:gd name="T59" fmla="*/ 118 h 182"/>
                <a:gd name="T60" fmla="*/ 179 w 180"/>
                <a:gd name="T61" fmla="*/ 110 h 182"/>
                <a:gd name="T62" fmla="*/ 180 w 180"/>
                <a:gd name="T63" fmla="*/ 100 h 182"/>
                <a:gd name="T64" fmla="*/ 180 w 180"/>
                <a:gd name="T65" fmla="*/ 91 h 182"/>
                <a:gd name="T66" fmla="*/ 180 w 180"/>
                <a:gd name="T67" fmla="*/ 0 h 182"/>
                <a:gd name="T68" fmla="*/ 0 w 180"/>
                <a:gd name="T69" fmla="*/ 0 h 182"/>
                <a:gd name="T70" fmla="*/ 0 w 180"/>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182">
                  <a:moveTo>
                    <a:pt x="0" y="91"/>
                  </a:moveTo>
                  <a:lnTo>
                    <a:pt x="0" y="100"/>
                  </a:lnTo>
                  <a:lnTo>
                    <a:pt x="2" y="110"/>
                  </a:lnTo>
                  <a:lnTo>
                    <a:pt x="4" y="118"/>
                  </a:lnTo>
                  <a:lnTo>
                    <a:pt x="7" y="126"/>
                  </a:lnTo>
                  <a:lnTo>
                    <a:pt x="11" y="134"/>
                  </a:lnTo>
                  <a:lnTo>
                    <a:pt x="15" y="142"/>
                  </a:lnTo>
                  <a:lnTo>
                    <a:pt x="20" y="148"/>
                  </a:lnTo>
                  <a:lnTo>
                    <a:pt x="27" y="155"/>
                  </a:lnTo>
                  <a:lnTo>
                    <a:pt x="33" y="161"/>
                  </a:lnTo>
                  <a:lnTo>
                    <a:pt x="40" y="165"/>
                  </a:lnTo>
                  <a:lnTo>
                    <a:pt x="47" y="171"/>
                  </a:lnTo>
                  <a:lnTo>
                    <a:pt x="55" y="174"/>
                  </a:lnTo>
                  <a:lnTo>
                    <a:pt x="63" y="177"/>
                  </a:lnTo>
                  <a:lnTo>
                    <a:pt x="72" y="179"/>
                  </a:lnTo>
                  <a:lnTo>
                    <a:pt x="80" y="181"/>
                  </a:lnTo>
                  <a:lnTo>
                    <a:pt x="90" y="182"/>
                  </a:lnTo>
                  <a:lnTo>
                    <a:pt x="100" y="181"/>
                  </a:lnTo>
                  <a:lnTo>
                    <a:pt x="108" y="179"/>
                  </a:lnTo>
                  <a:lnTo>
                    <a:pt x="117" y="177"/>
                  </a:lnTo>
                  <a:lnTo>
                    <a:pt x="125" y="174"/>
                  </a:lnTo>
                  <a:lnTo>
                    <a:pt x="133" y="171"/>
                  </a:lnTo>
                  <a:lnTo>
                    <a:pt x="140" y="165"/>
                  </a:lnTo>
                  <a:lnTo>
                    <a:pt x="148" y="161"/>
                  </a:lnTo>
                  <a:lnTo>
                    <a:pt x="154" y="155"/>
                  </a:lnTo>
                  <a:lnTo>
                    <a:pt x="160" y="148"/>
                  </a:lnTo>
                  <a:lnTo>
                    <a:pt x="165" y="142"/>
                  </a:lnTo>
                  <a:lnTo>
                    <a:pt x="169" y="134"/>
                  </a:lnTo>
                  <a:lnTo>
                    <a:pt x="174" y="126"/>
                  </a:lnTo>
                  <a:lnTo>
                    <a:pt x="177" y="118"/>
                  </a:lnTo>
                  <a:lnTo>
                    <a:pt x="179" y="110"/>
                  </a:lnTo>
                  <a:lnTo>
                    <a:pt x="180" y="100"/>
                  </a:lnTo>
                  <a:lnTo>
                    <a:pt x="180" y="91"/>
                  </a:lnTo>
                  <a:lnTo>
                    <a:pt x="180"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Rectangle 711">
              <a:extLst>
                <a:ext uri="{FF2B5EF4-FFF2-40B4-BE49-F238E27FC236}">
                  <a16:creationId xmlns:a16="http://schemas.microsoft.com/office/drawing/2014/main" id="{972C0779-96D7-4A7C-B110-5886B8B5DF43}"/>
                </a:ext>
              </a:extLst>
            </p:cNvPr>
            <p:cNvSpPr>
              <a:spLocks noChangeArrowheads="1"/>
            </p:cNvSpPr>
            <p:nvPr/>
          </p:nvSpPr>
          <p:spPr bwMode="auto">
            <a:xfrm>
              <a:off x="274161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712">
              <a:extLst>
                <a:ext uri="{FF2B5EF4-FFF2-40B4-BE49-F238E27FC236}">
                  <a16:creationId xmlns:a16="http://schemas.microsoft.com/office/drawing/2014/main" id="{4533D40B-18F2-4A93-B829-E6C6A0AC582E}"/>
                </a:ext>
              </a:extLst>
            </p:cNvPr>
            <p:cNvSpPr>
              <a:spLocks/>
            </p:cNvSpPr>
            <p:nvPr/>
          </p:nvSpPr>
          <p:spPr bwMode="auto">
            <a:xfrm>
              <a:off x="2765425" y="1930400"/>
              <a:ext cx="9525" cy="57150"/>
            </a:xfrm>
            <a:custGeom>
              <a:avLst/>
              <a:gdLst>
                <a:gd name="T0" fmla="*/ 15 w 30"/>
                <a:gd name="T1" fmla="*/ 181 h 181"/>
                <a:gd name="T2" fmla="*/ 18 w 30"/>
                <a:gd name="T3" fmla="*/ 181 h 181"/>
                <a:gd name="T4" fmla="*/ 21 w 30"/>
                <a:gd name="T5" fmla="*/ 180 h 181"/>
                <a:gd name="T6" fmla="*/ 24 w 30"/>
                <a:gd name="T7" fmla="*/ 179 h 181"/>
                <a:gd name="T8" fmla="*/ 26 w 30"/>
                <a:gd name="T9" fmla="*/ 176 h 181"/>
                <a:gd name="T10" fmla="*/ 28 w 30"/>
                <a:gd name="T11" fmla="*/ 174 h 181"/>
                <a:gd name="T12" fmla="*/ 29 w 30"/>
                <a:gd name="T13" fmla="*/ 172 h 181"/>
                <a:gd name="T14" fmla="*/ 30 w 30"/>
                <a:gd name="T15" fmla="*/ 169 h 181"/>
                <a:gd name="T16" fmla="*/ 30 w 30"/>
                <a:gd name="T17" fmla="*/ 166 h 181"/>
                <a:gd name="T18" fmla="*/ 30 w 30"/>
                <a:gd name="T19" fmla="*/ 16 h 181"/>
                <a:gd name="T20" fmla="*/ 30 w 30"/>
                <a:gd name="T21" fmla="*/ 12 h 181"/>
                <a:gd name="T22" fmla="*/ 29 w 30"/>
                <a:gd name="T23" fmla="*/ 9 h 181"/>
                <a:gd name="T24" fmla="*/ 28 w 30"/>
                <a:gd name="T25" fmla="*/ 7 h 181"/>
                <a:gd name="T26" fmla="*/ 26 w 30"/>
                <a:gd name="T27" fmla="*/ 5 h 181"/>
                <a:gd name="T28" fmla="*/ 24 w 30"/>
                <a:gd name="T29" fmla="*/ 3 h 181"/>
                <a:gd name="T30" fmla="*/ 21 w 30"/>
                <a:gd name="T31" fmla="*/ 2 h 181"/>
                <a:gd name="T32" fmla="*/ 18 w 30"/>
                <a:gd name="T33" fmla="*/ 0 h 181"/>
                <a:gd name="T34" fmla="*/ 15 w 30"/>
                <a:gd name="T35" fmla="*/ 0 h 181"/>
                <a:gd name="T36" fmla="*/ 12 w 30"/>
                <a:gd name="T37" fmla="*/ 0 h 181"/>
                <a:gd name="T38" fmla="*/ 10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10 w 30"/>
                <a:gd name="T65" fmla="*/ 180 h 181"/>
                <a:gd name="T66" fmla="*/ 12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4" y="179"/>
                  </a:lnTo>
                  <a:lnTo>
                    <a:pt x="26" y="176"/>
                  </a:lnTo>
                  <a:lnTo>
                    <a:pt x="28" y="174"/>
                  </a:lnTo>
                  <a:lnTo>
                    <a:pt x="29" y="172"/>
                  </a:lnTo>
                  <a:lnTo>
                    <a:pt x="30" y="169"/>
                  </a:lnTo>
                  <a:lnTo>
                    <a:pt x="30" y="166"/>
                  </a:lnTo>
                  <a:lnTo>
                    <a:pt x="30" y="16"/>
                  </a:lnTo>
                  <a:lnTo>
                    <a:pt x="30" y="12"/>
                  </a:lnTo>
                  <a:lnTo>
                    <a:pt x="29" y="9"/>
                  </a:lnTo>
                  <a:lnTo>
                    <a:pt x="28" y="7"/>
                  </a:lnTo>
                  <a:lnTo>
                    <a:pt x="26" y="5"/>
                  </a:lnTo>
                  <a:lnTo>
                    <a:pt x="24" y="3"/>
                  </a:lnTo>
                  <a:lnTo>
                    <a:pt x="21" y="2"/>
                  </a:lnTo>
                  <a:lnTo>
                    <a:pt x="18" y="0"/>
                  </a:lnTo>
                  <a:lnTo>
                    <a:pt x="15" y="0"/>
                  </a:lnTo>
                  <a:lnTo>
                    <a:pt x="12" y="0"/>
                  </a:lnTo>
                  <a:lnTo>
                    <a:pt x="10"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10" y="180"/>
                  </a:lnTo>
                  <a:lnTo>
                    <a:pt x="12"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713">
              <a:extLst>
                <a:ext uri="{FF2B5EF4-FFF2-40B4-BE49-F238E27FC236}">
                  <a16:creationId xmlns:a16="http://schemas.microsoft.com/office/drawing/2014/main" id="{0B3AC97E-B521-48C2-8635-E6E2BFE55FC9}"/>
                </a:ext>
              </a:extLst>
            </p:cNvPr>
            <p:cNvSpPr>
              <a:spLocks/>
            </p:cNvSpPr>
            <p:nvPr/>
          </p:nvSpPr>
          <p:spPr bwMode="auto">
            <a:xfrm>
              <a:off x="2674938" y="2151063"/>
              <a:ext cx="57150" cy="57150"/>
            </a:xfrm>
            <a:custGeom>
              <a:avLst/>
              <a:gdLst>
                <a:gd name="T0" fmla="*/ 0 w 181"/>
                <a:gd name="T1" fmla="*/ 91 h 182"/>
                <a:gd name="T2" fmla="*/ 1 w 181"/>
                <a:gd name="T3" fmla="*/ 100 h 182"/>
                <a:gd name="T4" fmla="*/ 2 w 181"/>
                <a:gd name="T5" fmla="*/ 110 h 182"/>
                <a:gd name="T6" fmla="*/ 4 w 181"/>
                <a:gd name="T7" fmla="*/ 118 h 182"/>
                <a:gd name="T8" fmla="*/ 7 w 181"/>
                <a:gd name="T9" fmla="*/ 126 h 182"/>
                <a:gd name="T10" fmla="*/ 11 w 181"/>
                <a:gd name="T11" fmla="*/ 134 h 182"/>
                <a:gd name="T12" fmla="*/ 16 w 181"/>
                <a:gd name="T13" fmla="*/ 142 h 182"/>
                <a:gd name="T14" fmla="*/ 21 w 181"/>
                <a:gd name="T15" fmla="*/ 148 h 182"/>
                <a:gd name="T16" fmla="*/ 26 w 181"/>
                <a:gd name="T17" fmla="*/ 155 h 182"/>
                <a:gd name="T18" fmla="*/ 33 w 181"/>
                <a:gd name="T19" fmla="*/ 161 h 182"/>
                <a:gd name="T20" fmla="*/ 40 w 181"/>
                <a:gd name="T21" fmla="*/ 165 h 182"/>
                <a:gd name="T22" fmla="*/ 47 w 181"/>
                <a:gd name="T23" fmla="*/ 171 h 182"/>
                <a:gd name="T24" fmla="*/ 55 w 181"/>
                <a:gd name="T25" fmla="*/ 174 h 182"/>
                <a:gd name="T26" fmla="*/ 64 w 181"/>
                <a:gd name="T27" fmla="*/ 177 h 182"/>
                <a:gd name="T28" fmla="*/ 73 w 181"/>
                <a:gd name="T29" fmla="*/ 179 h 182"/>
                <a:gd name="T30" fmla="*/ 81 w 181"/>
                <a:gd name="T31" fmla="*/ 181 h 182"/>
                <a:gd name="T32" fmla="*/ 91 w 181"/>
                <a:gd name="T33" fmla="*/ 182 h 182"/>
                <a:gd name="T34" fmla="*/ 99 w 181"/>
                <a:gd name="T35" fmla="*/ 181 h 182"/>
                <a:gd name="T36" fmla="*/ 109 w 181"/>
                <a:gd name="T37" fmla="*/ 179 h 182"/>
                <a:gd name="T38" fmla="*/ 118 w 181"/>
                <a:gd name="T39" fmla="*/ 177 h 182"/>
                <a:gd name="T40" fmla="*/ 125 w 181"/>
                <a:gd name="T41" fmla="*/ 174 h 182"/>
                <a:gd name="T42" fmla="*/ 134 w 181"/>
                <a:gd name="T43" fmla="*/ 171 h 182"/>
                <a:gd name="T44" fmla="*/ 141 w 181"/>
                <a:gd name="T45" fmla="*/ 165 h 182"/>
                <a:gd name="T46" fmla="*/ 148 w 181"/>
                <a:gd name="T47" fmla="*/ 161 h 182"/>
                <a:gd name="T48" fmla="*/ 154 w 181"/>
                <a:gd name="T49" fmla="*/ 155 h 182"/>
                <a:gd name="T50" fmla="*/ 161 w 181"/>
                <a:gd name="T51" fmla="*/ 148 h 182"/>
                <a:gd name="T52" fmla="*/ 165 w 181"/>
                <a:gd name="T53" fmla="*/ 142 h 182"/>
                <a:gd name="T54" fmla="*/ 170 w 181"/>
                <a:gd name="T55" fmla="*/ 134 h 182"/>
                <a:gd name="T56" fmla="*/ 173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7" y="126"/>
                  </a:lnTo>
                  <a:lnTo>
                    <a:pt x="11" y="134"/>
                  </a:lnTo>
                  <a:lnTo>
                    <a:pt x="16" y="142"/>
                  </a:lnTo>
                  <a:lnTo>
                    <a:pt x="21" y="148"/>
                  </a:lnTo>
                  <a:lnTo>
                    <a:pt x="26" y="155"/>
                  </a:lnTo>
                  <a:lnTo>
                    <a:pt x="33" y="161"/>
                  </a:lnTo>
                  <a:lnTo>
                    <a:pt x="40" y="165"/>
                  </a:lnTo>
                  <a:lnTo>
                    <a:pt x="47" y="171"/>
                  </a:lnTo>
                  <a:lnTo>
                    <a:pt x="55" y="174"/>
                  </a:lnTo>
                  <a:lnTo>
                    <a:pt x="64" y="177"/>
                  </a:lnTo>
                  <a:lnTo>
                    <a:pt x="73" y="179"/>
                  </a:lnTo>
                  <a:lnTo>
                    <a:pt x="81" y="181"/>
                  </a:lnTo>
                  <a:lnTo>
                    <a:pt x="91" y="182"/>
                  </a:lnTo>
                  <a:lnTo>
                    <a:pt x="99" y="181"/>
                  </a:lnTo>
                  <a:lnTo>
                    <a:pt x="109" y="179"/>
                  </a:lnTo>
                  <a:lnTo>
                    <a:pt x="118" y="177"/>
                  </a:lnTo>
                  <a:lnTo>
                    <a:pt x="125" y="174"/>
                  </a:lnTo>
                  <a:lnTo>
                    <a:pt x="134" y="171"/>
                  </a:lnTo>
                  <a:lnTo>
                    <a:pt x="141" y="165"/>
                  </a:lnTo>
                  <a:lnTo>
                    <a:pt x="148" y="161"/>
                  </a:lnTo>
                  <a:lnTo>
                    <a:pt x="154" y="155"/>
                  </a:lnTo>
                  <a:lnTo>
                    <a:pt x="161" y="148"/>
                  </a:lnTo>
                  <a:lnTo>
                    <a:pt x="165" y="142"/>
                  </a:lnTo>
                  <a:lnTo>
                    <a:pt x="170" y="134"/>
                  </a:lnTo>
                  <a:lnTo>
                    <a:pt x="173"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714">
              <a:extLst>
                <a:ext uri="{FF2B5EF4-FFF2-40B4-BE49-F238E27FC236}">
                  <a16:creationId xmlns:a16="http://schemas.microsoft.com/office/drawing/2014/main" id="{7F864FC8-AB3C-49D8-83BB-14DA025641EE}"/>
                </a:ext>
              </a:extLst>
            </p:cNvPr>
            <p:cNvSpPr>
              <a:spLocks/>
            </p:cNvSpPr>
            <p:nvPr/>
          </p:nvSpPr>
          <p:spPr bwMode="auto">
            <a:xfrm>
              <a:off x="2674938" y="1920875"/>
              <a:ext cx="57150" cy="192088"/>
            </a:xfrm>
            <a:custGeom>
              <a:avLst/>
              <a:gdLst>
                <a:gd name="T0" fmla="*/ 163 w 181"/>
                <a:gd name="T1" fmla="*/ 0 h 602"/>
                <a:gd name="T2" fmla="*/ 157 w 181"/>
                <a:gd name="T3" fmla="*/ 3 h 602"/>
                <a:gd name="T4" fmla="*/ 153 w 181"/>
                <a:gd name="T5" fmla="*/ 7 h 602"/>
                <a:gd name="T6" fmla="*/ 151 w 181"/>
                <a:gd name="T7" fmla="*/ 12 h 602"/>
                <a:gd name="T8" fmla="*/ 151 w 181"/>
                <a:gd name="T9" fmla="*/ 211 h 602"/>
                <a:gd name="T10" fmla="*/ 150 w 181"/>
                <a:gd name="T11" fmla="*/ 222 h 602"/>
                <a:gd name="T12" fmla="*/ 146 w 181"/>
                <a:gd name="T13" fmla="*/ 234 h 602"/>
                <a:gd name="T14" fmla="*/ 140 w 181"/>
                <a:gd name="T15" fmla="*/ 245 h 602"/>
                <a:gd name="T16" fmla="*/ 133 w 181"/>
                <a:gd name="T17" fmla="*/ 254 h 602"/>
                <a:gd name="T18" fmla="*/ 124 w 181"/>
                <a:gd name="T19" fmla="*/ 261 h 602"/>
                <a:gd name="T20" fmla="*/ 113 w 181"/>
                <a:gd name="T21" fmla="*/ 266 h 602"/>
                <a:gd name="T22" fmla="*/ 103 w 181"/>
                <a:gd name="T23" fmla="*/ 270 h 602"/>
                <a:gd name="T24" fmla="*/ 91 w 181"/>
                <a:gd name="T25" fmla="*/ 271 h 602"/>
                <a:gd name="T26" fmla="*/ 78 w 181"/>
                <a:gd name="T27" fmla="*/ 270 h 602"/>
                <a:gd name="T28" fmla="*/ 67 w 181"/>
                <a:gd name="T29" fmla="*/ 266 h 602"/>
                <a:gd name="T30" fmla="*/ 57 w 181"/>
                <a:gd name="T31" fmla="*/ 261 h 602"/>
                <a:gd name="T32" fmla="*/ 48 w 181"/>
                <a:gd name="T33" fmla="*/ 254 h 602"/>
                <a:gd name="T34" fmla="*/ 40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3 w 181"/>
                <a:gd name="T47" fmla="*/ 3 h 602"/>
                <a:gd name="T48" fmla="*/ 18 w 181"/>
                <a:gd name="T49" fmla="*/ 0 h 602"/>
                <a:gd name="T50" fmla="*/ 13 w 181"/>
                <a:gd name="T51" fmla="*/ 0 h 602"/>
                <a:gd name="T52" fmla="*/ 7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1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59" y="2"/>
                  </a:lnTo>
                  <a:lnTo>
                    <a:pt x="157" y="3"/>
                  </a:lnTo>
                  <a:lnTo>
                    <a:pt x="155" y="5"/>
                  </a:lnTo>
                  <a:lnTo>
                    <a:pt x="153" y="7"/>
                  </a:lnTo>
                  <a:lnTo>
                    <a:pt x="152" y="9"/>
                  </a:lnTo>
                  <a:lnTo>
                    <a:pt x="151" y="12"/>
                  </a:lnTo>
                  <a:lnTo>
                    <a:pt x="151" y="15"/>
                  </a:lnTo>
                  <a:lnTo>
                    <a:pt x="151" y="211"/>
                  </a:lnTo>
                  <a:lnTo>
                    <a:pt x="150" y="217"/>
                  </a:lnTo>
                  <a:lnTo>
                    <a:pt x="150" y="222"/>
                  </a:lnTo>
                  <a:lnTo>
                    <a:pt x="148" y="229"/>
                  </a:lnTo>
                  <a:lnTo>
                    <a:pt x="146" y="234"/>
                  </a:lnTo>
                  <a:lnTo>
                    <a:pt x="143" y="240"/>
                  </a:lnTo>
                  <a:lnTo>
                    <a:pt x="140" y="245"/>
                  </a:lnTo>
                  <a:lnTo>
                    <a:pt x="137" y="249"/>
                  </a:lnTo>
                  <a:lnTo>
                    <a:pt x="133" y="254"/>
                  </a:lnTo>
                  <a:lnTo>
                    <a:pt x="128" y="258"/>
                  </a:lnTo>
                  <a:lnTo>
                    <a:pt x="124" y="261"/>
                  </a:lnTo>
                  <a:lnTo>
                    <a:pt x="119" y="264"/>
                  </a:lnTo>
                  <a:lnTo>
                    <a:pt x="113" y="266"/>
                  </a:lnTo>
                  <a:lnTo>
                    <a:pt x="108" y="269"/>
                  </a:lnTo>
                  <a:lnTo>
                    <a:pt x="103" y="270"/>
                  </a:lnTo>
                  <a:lnTo>
                    <a:pt x="96" y="271"/>
                  </a:lnTo>
                  <a:lnTo>
                    <a:pt x="91" y="271"/>
                  </a:lnTo>
                  <a:lnTo>
                    <a:pt x="84" y="271"/>
                  </a:lnTo>
                  <a:lnTo>
                    <a:pt x="78" y="270"/>
                  </a:lnTo>
                  <a:lnTo>
                    <a:pt x="73" y="269"/>
                  </a:lnTo>
                  <a:lnTo>
                    <a:pt x="67" y="266"/>
                  </a:lnTo>
                  <a:lnTo>
                    <a:pt x="62" y="264"/>
                  </a:lnTo>
                  <a:lnTo>
                    <a:pt x="57" y="261"/>
                  </a:lnTo>
                  <a:lnTo>
                    <a:pt x="52" y="258"/>
                  </a:lnTo>
                  <a:lnTo>
                    <a:pt x="48" y="254"/>
                  </a:lnTo>
                  <a:lnTo>
                    <a:pt x="44" y="249"/>
                  </a:lnTo>
                  <a:lnTo>
                    <a:pt x="40" y="245"/>
                  </a:lnTo>
                  <a:lnTo>
                    <a:pt x="37" y="240"/>
                  </a:lnTo>
                  <a:lnTo>
                    <a:pt x="35" y="234"/>
                  </a:lnTo>
                  <a:lnTo>
                    <a:pt x="33" y="229"/>
                  </a:lnTo>
                  <a:lnTo>
                    <a:pt x="32" y="224"/>
                  </a:lnTo>
                  <a:lnTo>
                    <a:pt x="31" y="217"/>
                  </a:lnTo>
                  <a:lnTo>
                    <a:pt x="30" y="211"/>
                  </a:lnTo>
                  <a:lnTo>
                    <a:pt x="30" y="15"/>
                  </a:lnTo>
                  <a:lnTo>
                    <a:pt x="30" y="12"/>
                  </a:lnTo>
                  <a:lnTo>
                    <a:pt x="29" y="9"/>
                  </a:lnTo>
                  <a:lnTo>
                    <a:pt x="28" y="7"/>
                  </a:lnTo>
                  <a:lnTo>
                    <a:pt x="25" y="5"/>
                  </a:lnTo>
                  <a:lnTo>
                    <a:pt x="23" y="3"/>
                  </a:lnTo>
                  <a:lnTo>
                    <a:pt x="21" y="2"/>
                  </a:lnTo>
                  <a:lnTo>
                    <a:pt x="18" y="0"/>
                  </a:lnTo>
                  <a:lnTo>
                    <a:pt x="15" y="0"/>
                  </a:lnTo>
                  <a:lnTo>
                    <a:pt x="13" y="0"/>
                  </a:lnTo>
                  <a:lnTo>
                    <a:pt x="9" y="2"/>
                  </a:lnTo>
                  <a:lnTo>
                    <a:pt x="7" y="3"/>
                  </a:lnTo>
                  <a:lnTo>
                    <a:pt x="5" y="5"/>
                  </a:lnTo>
                  <a:lnTo>
                    <a:pt x="3" y="7"/>
                  </a:lnTo>
                  <a:lnTo>
                    <a:pt x="2"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4" y="3"/>
                  </a:lnTo>
                  <a:lnTo>
                    <a:pt x="171"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Rectangle 715">
              <a:extLst>
                <a:ext uri="{FF2B5EF4-FFF2-40B4-BE49-F238E27FC236}">
                  <a16:creationId xmlns:a16="http://schemas.microsoft.com/office/drawing/2014/main" id="{F62F4F23-3E58-4391-99F6-14D56BFAABEA}"/>
                </a:ext>
              </a:extLst>
            </p:cNvPr>
            <p:cNvSpPr>
              <a:spLocks noChangeArrowheads="1"/>
            </p:cNvSpPr>
            <p:nvPr/>
          </p:nvSpPr>
          <p:spPr bwMode="auto">
            <a:xfrm>
              <a:off x="2674938"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716">
              <a:extLst>
                <a:ext uri="{FF2B5EF4-FFF2-40B4-BE49-F238E27FC236}">
                  <a16:creationId xmlns:a16="http://schemas.microsoft.com/office/drawing/2014/main" id="{66455EB6-E255-40C5-AFB5-4353F1040930}"/>
                </a:ext>
              </a:extLst>
            </p:cNvPr>
            <p:cNvSpPr>
              <a:spLocks/>
            </p:cNvSpPr>
            <p:nvPr/>
          </p:nvSpPr>
          <p:spPr bwMode="auto">
            <a:xfrm>
              <a:off x="2698750" y="1930400"/>
              <a:ext cx="9525" cy="57150"/>
            </a:xfrm>
            <a:custGeom>
              <a:avLst/>
              <a:gdLst>
                <a:gd name="T0" fmla="*/ 15 w 30"/>
                <a:gd name="T1" fmla="*/ 181 h 181"/>
                <a:gd name="T2" fmla="*/ 17 w 30"/>
                <a:gd name="T3" fmla="*/ 181 h 181"/>
                <a:gd name="T4" fmla="*/ 20 w 30"/>
                <a:gd name="T5" fmla="*/ 180 h 181"/>
                <a:gd name="T6" fmla="*/ 22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2 w 30"/>
                <a:gd name="T29" fmla="*/ 3 h 181"/>
                <a:gd name="T30" fmla="*/ 20 w 30"/>
                <a:gd name="T31" fmla="*/ 2 h 181"/>
                <a:gd name="T32" fmla="*/ 17 w 30"/>
                <a:gd name="T33" fmla="*/ 0 h 181"/>
                <a:gd name="T34" fmla="*/ 15 w 30"/>
                <a:gd name="T35" fmla="*/ 0 h 181"/>
                <a:gd name="T36" fmla="*/ 12 w 30"/>
                <a:gd name="T37" fmla="*/ 0 h 181"/>
                <a:gd name="T38" fmla="*/ 8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8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0" y="180"/>
                  </a:lnTo>
                  <a:lnTo>
                    <a:pt x="22" y="179"/>
                  </a:lnTo>
                  <a:lnTo>
                    <a:pt x="26" y="176"/>
                  </a:lnTo>
                  <a:lnTo>
                    <a:pt x="27" y="174"/>
                  </a:lnTo>
                  <a:lnTo>
                    <a:pt x="29" y="172"/>
                  </a:lnTo>
                  <a:lnTo>
                    <a:pt x="29" y="169"/>
                  </a:lnTo>
                  <a:lnTo>
                    <a:pt x="30" y="166"/>
                  </a:lnTo>
                  <a:lnTo>
                    <a:pt x="30" y="16"/>
                  </a:lnTo>
                  <a:lnTo>
                    <a:pt x="29" y="12"/>
                  </a:lnTo>
                  <a:lnTo>
                    <a:pt x="29" y="9"/>
                  </a:lnTo>
                  <a:lnTo>
                    <a:pt x="27" y="7"/>
                  </a:lnTo>
                  <a:lnTo>
                    <a:pt x="26" y="5"/>
                  </a:lnTo>
                  <a:lnTo>
                    <a:pt x="22" y="3"/>
                  </a:lnTo>
                  <a:lnTo>
                    <a:pt x="20" y="2"/>
                  </a:lnTo>
                  <a:lnTo>
                    <a:pt x="17" y="0"/>
                  </a:lnTo>
                  <a:lnTo>
                    <a:pt x="15" y="0"/>
                  </a:lnTo>
                  <a:lnTo>
                    <a:pt x="12" y="0"/>
                  </a:lnTo>
                  <a:lnTo>
                    <a:pt x="8"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8"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717">
              <a:extLst>
                <a:ext uri="{FF2B5EF4-FFF2-40B4-BE49-F238E27FC236}">
                  <a16:creationId xmlns:a16="http://schemas.microsoft.com/office/drawing/2014/main" id="{ACB7783E-196C-43E0-BB10-D454ACB8E398}"/>
                </a:ext>
              </a:extLst>
            </p:cNvPr>
            <p:cNvSpPr>
              <a:spLocks/>
            </p:cNvSpPr>
            <p:nvPr/>
          </p:nvSpPr>
          <p:spPr bwMode="auto">
            <a:xfrm>
              <a:off x="2608263" y="1920875"/>
              <a:ext cx="57150" cy="192088"/>
            </a:xfrm>
            <a:custGeom>
              <a:avLst/>
              <a:gdLst>
                <a:gd name="T0" fmla="*/ 162 w 181"/>
                <a:gd name="T1" fmla="*/ 0 h 602"/>
                <a:gd name="T2" fmla="*/ 157 w 181"/>
                <a:gd name="T3" fmla="*/ 3 h 602"/>
                <a:gd name="T4" fmla="*/ 154 w 181"/>
                <a:gd name="T5" fmla="*/ 7 h 602"/>
                <a:gd name="T6" fmla="*/ 152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2 w 181"/>
                <a:gd name="T23" fmla="*/ 270 h 602"/>
                <a:gd name="T24" fmla="*/ 91 w 181"/>
                <a:gd name="T25" fmla="*/ 271 h 602"/>
                <a:gd name="T26" fmla="*/ 79 w 181"/>
                <a:gd name="T27" fmla="*/ 270 h 602"/>
                <a:gd name="T28" fmla="*/ 67 w 181"/>
                <a:gd name="T29" fmla="*/ 266 h 602"/>
                <a:gd name="T30" fmla="*/ 57 w 181"/>
                <a:gd name="T31" fmla="*/ 261 h 602"/>
                <a:gd name="T32" fmla="*/ 48 w 181"/>
                <a:gd name="T33" fmla="*/ 254 h 602"/>
                <a:gd name="T34" fmla="*/ 41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9 w 181"/>
                <a:gd name="T49" fmla="*/ 0 h 602"/>
                <a:gd name="T50" fmla="*/ 12 w 181"/>
                <a:gd name="T51" fmla="*/ 0 h 602"/>
                <a:gd name="T52" fmla="*/ 7 w 181"/>
                <a:gd name="T53" fmla="*/ 3 h 602"/>
                <a:gd name="T54" fmla="*/ 3 w 181"/>
                <a:gd name="T55" fmla="*/ 7 h 602"/>
                <a:gd name="T56" fmla="*/ 0 w 181"/>
                <a:gd name="T57" fmla="*/ 12 h 602"/>
                <a:gd name="T58" fmla="*/ 0 w 181"/>
                <a:gd name="T59" fmla="*/ 211 h 602"/>
                <a:gd name="T60" fmla="*/ 181 w 181"/>
                <a:gd name="T61" fmla="*/ 602 h 602"/>
                <a:gd name="T62" fmla="*/ 181 w 181"/>
                <a:gd name="T63" fmla="*/ 15 h 602"/>
                <a:gd name="T64" fmla="*/ 180 w 181"/>
                <a:gd name="T65" fmla="*/ 9 h 602"/>
                <a:gd name="T66" fmla="*/ 176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2" y="0"/>
                  </a:lnTo>
                  <a:lnTo>
                    <a:pt x="160" y="2"/>
                  </a:lnTo>
                  <a:lnTo>
                    <a:pt x="157" y="3"/>
                  </a:lnTo>
                  <a:lnTo>
                    <a:pt x="155" y="5"/>
                  </a:lnTo>
                  <a:lnTo>
                    <a:pt x="154" y="7"/>
                  </a:lnTo>
                  <a:lnTo>
                    <a:pt x="152" y="9"/>
                  </a:lnTo>
                  <a:lnTo>
                    <a:pt x="152" y="12"/>
                  </a:lnTo>
                  <a:lnTo>
                    <a:pt x="151" y="15"/>
                  </a:lnTo>
                  <a:lnTo>
                    <a:pt x="151" y="211"/>
                  </a:lnTo>
                  <a:lnTo>
                    <a:pt x="151" y="217"/>
                  </a:lnTo>
                  <a:lnTo>
                    <a:pt x="150" y="222"/>
                  </a:lnTo>
                  <a:lnTo>
                    <a:pt x="148" y="229"/>
                  </a:lnTo>
                  <a:lnTo>
                    <a:pt x="146" y="234"/>
                  </a:lnTo>
                  <a:lnTo>
                    <a:pt x="143" y="240"/>
                  </a:lnTo>
                  <a:lnTo>
                    <a:pt x="141" y="245"/>
                  </a:lnTo>
                  <a:lnTo>
                    <a:pt x="137" y="249"/>
                  </a:lnTo>
                  <a:lnTo>
                    <a:pt x="133" y="254"/>
                  </a:lnTo>
                  <a:lnTo>
                    <a:pt x="129" y="258"/>
                  </a:lnTo>
                  <a:lnTo>
                    <a:pt x="125" y="261"/>
                  </a:lnTo>
                  <a:lnTo>
                    <a:pt x="120" y="264"/>
                  </a:lnTo>
                  <a:lnTo>
                    <a:pt x="114" y="266"/>
                  </a:lnTo>
                  <a:lnTo>
                    <a:pt x="109" y="269"/>
                  </a:lnTo>
                  <a:lnTo>
                    <a:pt x="102" y="270"/>
                  </a:lnTo>
                  <a:lnTo>
                    <a:pt x="97" y="271"/>
                  </a:lnTo>
                  <a:lnTo>
                    <a:pt x="91" y="271"/>
                  </a:lnTo>
                  <a:lnTo>
                    <a:pt x="84" y="271"/>
                  </a:lnTo>
                  <a:lnTo>
                    <a:pt x="79" y="270"/>
                  </a:lnTo>
                  <a:lnTo>
                    <a:pt x="72" y="269"/>
                  </a:lnTo>
                  <a:lnTo>
                    <a:pt x="67" y="266"/>
                  </a:lnTo>
                  <a:lnTo>
                    <a:pt x="62" y="264"/>
                  </a:lnTo>
                  <a:lnTo>
                    <a:pt x="57" y="261"/>
                  </a:lnTo>
                  <a:lnTo>
                    <a:pt x="52" y="258"/>
                  </a:lnTo>
                  <a:lnTo>
                    <a:pt x="48" y="254"/>
                  </a:lnTo>
                  <a:lnTo>
                    <a:pt x="44" y="249"/>
                  </a:lnTo>
                  <a:lnTo>
                    <a:pt x="41" y="245"/>
                  </a:lnTo>
                  <a:lnTo>
                    <a:pt x="38" y="240"/>
                  </a:lnTo>
                  <a:lnTo>
                    <a:pt x="35" y="234"/>
                  </a:lnTo>
                  <a:lnTo>
                    <a:pt x="33" y="229"/>
                  </a:lnTo>
                  <a:lnTo>
                    <a:pt x="32" y="224"/>
                  </a:lnTo>
                  <a:lnTo>
                    <a:pt x="30" y="217"/>
                  </a:lnTo>
                  <a:lnTo>
                    <a:pt x="30" y="211"/>
                  </a:lnTo>
                  <a:lnTo>
                    <a:pt x="30" y="15"/>
                  </a:lnTo>
                  <a:lnTo>
                    <a:pt x="30" y="12"/>
                  </a:lnTo>
                  <a:lnTo>
                    <a:pt x="29" y="9"/>
                  </a:lnTo>
                  <a:lnTo>
                    <a:pt x="28" y="7"/>
                  </a:lnTo>
                  <a:lnTo>
                    <a:pt x="26" y="5"/>
                  </a:lnTo>
                  <a:lnTo>
                    <a:pt x="24" y="3"/>
                  </a:lnTo>
                  <a:lnTo>
                    <a:pt x="21" y="2"/>
                  </a:lnTo>
                  <a:lnTo>
                    <a:pt x="19" y="0"/>
                  </a:lnTo>
                  <a:lnTo>
                    <a:pt x="15" y="0"/>
                  </a:lnTo>
                  <a:lnTo>
                    <a:pt x="12" y="0"/>
                  </a:lnTo>
                  <a:lnTo>
                    <a:pt x="9" y="2"/>
                  </a:lnTo>
                  <a:lnTo>
                    <a:pt x="7" y="3"/>
                  </a:lnTo>
                  <a:lnTo>
                    <a:pt x="5" y="5"/>
                  </a:lnTo>
                  <a:lnTo>
                    <a:pt x="3" y="7"/>
                  </a:lnTo>
                  <a:lnTo>
                    <a:pt x="2" y="9"/>
                  </a:lnTo>
                  <a:lnTo>
                    <a:pt x="0" y="12"/>
                  </a:lnTo>
                  <a:lnTo>
                    <a:pt x="0" y="15"/>
                  </a:lnTo>
                  <a:lnTo>
                    <a:pt x="0" y="211"/>
                  </a:lnTo>
                  <a:lnTo>
                    <a:pt x="0" y="602"/>
                  </a:lnTo>
                  <a:lnTo>
                    <a:pt x="181" y="602"/>
                  </a:lnTo>
                  <a:lnTo>
                    <a:pt x="181" y="211"/>
                  </a:lnTo>
                  <a:lnTo>
                    <a:pt x="181" y="15"/>
                  </a:lnTo>
                  <a:lnTo>
                    <a:pt x="181" y="12"/>
                  </a:lnTo>
                  <a:lnTo>
                    <a:pt x="180" y="9"/>
                  </a:lnTo>
                  <a:lnTo>
                    <a:pt x="178" y="7"/>
                  </a:lnTo>
                  <a:lnTo>
                    <a:pt x="176" y="5"/>
                  </a:lnTo>
                  <a:lnTo>
                    <a:pt x="174" y="3"/>
                  </a:lnTo>
                  <a:lnTo>
                    <a:pt x="172"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Rectangle 718">
              <a:extLst>
                <a:ext uri="{FF2B5EF4-FFF2-40B4-BE49-F238E27FC236}">
                  <a16:creationId xmlns:a16="http://schemas.microsoft.com/office/drawing/2014/main" id="{CB587A79-A690-4BE1-9A7B-D4D179008449}"/>
                </a:ext>
              </a:extLst>
            </p:cNvPr>
            <p:cNvSpPr>
              <a:spLocks noChangeArrowheads="1"/>
            </p:cNvSpPr>
            <p:nvPr/>
          </p:nvSpPr>
          <p:spPr bwMode="auto">
            <a:xfrm>
              <a:off x="260826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719">
              <a:extLst>
                <a:ext uri="{FF2B5EF4-FFF2-40B4-BE49-F238E27FC236}">
                  <a16:creationId xmlns:a16="http://schemas.microsoft.com/office/drawing/2014/main" id="{9B27E552-9858-46C0-912C-4365788798C8}"/>
                </a:ext>
              </a:extLst>
            </p:cNvPr>
            <p:cNvSpPr>
              <a:spLocks/>
            </p:cNvSpPr>
            <p:nvPr/>
          </p:nvSpPr>
          <p:spPr bwMode="auto">
            <a:xfrm>
              <a:off x="2608263" y="2151063"/>
              <a:ext cx="57150" cy="57150"/>
            </a:xfrm>
            <a:custGeom>
              <a:avLst/>
              <a:gdLst>
                <a:gd name="T0" fmla="*/ 0 w 181"/>
                <a:gd name="T1" fmla="*/ 91 h 182"/>
                <a:gd name="T2" fmla="*/ 0 w 181"/>
                <a:gd name="T3" fmla="*/ 100 h 182"/>
                <a:gd name="T4" fmla="*/ 3 w 181"/>
                <a:gd name="T5" fmla="*/ 110 h 182"/>
                <a:gd name="T6" fmla="*/ 5 w 181"/>
                <a:gd name="T7" fmla="*/ 118 h 182"/>
                <a:gd name="T8" fmla="*/ 8 w 181"/>
                <a:gd name="T9" fmla="*/ 126 h 182"/>
                <a:gd name="T10" fmla="*/ 11 w 181"/>
                <a:gd name="T11" fmla="*/ 134 h 182"/>
                <a:gd name="T12" fmla="*/ 15 w 181"/>
                <a:gd name="T13" fmla="*/ 142 h 182"/>
                <a:gd name="T14" fmla="*/ 21 w 181"/>
                <a:gd name="T15" fmla="*/ 148 h 182"/>
                <a:gd name="T16" fmla="*/ 27 w 181"/>
                <a:gd name="T17" fmla="*/ 155 h 182"/>
                <a:gd name="T18" fmla="*/ 34 w 181"/>
                <a:gd name="T19" fmla="*/ 161 h 182"/>
                <a:gd name="T20" fmla="*/ 40 w 181"/>
                <a:gd name="T21" fmla="*/ 165 h 182"/>
                <a:gd name="T22" fmla="*/ 48 w 181"/>
                <a:gd name="T23" fmla="*/ 171 h 182"/>
                <a:gd name="T24" fmla="*/ 55 w 181"/>
                <a:gd name="T25" fmla="*/ 174 h 182"/>
                <a:gd name="T26" fmla="*/ 64 w 181"/>
                <a:gd name="T27" fmla="*/ 177 h 182"/>
                <a:gd name="T28" fmla="*/ 72 w 181"/>
                <a:gd name="T29" fmla="*/ 179 h 182"/>
                <a:gd name="T30" fmla="*/ 82 w 181"/>
                <a:gd name="T31" fmla="*/ 181 h 182"/>
                <a:gd name="T32" fmla="*/ 91 w 181"/>
                <a:gd name="T33" fmla="*/ 182 h 182"/>
                <a:gd name="T34" fmla="*/ 100 w 181"/>
                <a:gd name="T35" fmla="*/ 181 h 182"/>
                <a:gd name="T36" fmla="*/ 109 w 181"/>
                <a:gd name="T37" fmla="*/ 179 h 182"/>
                <a:gd name="T38" fmla="*/ 117 w 181"/>
                <a:gd name="T39" fmla="*/ 177 h 182"/>
                <a:gd name="T40" fmla="*/ 126 w 181"/>
                <a:gd name="T41" fmla="*/ 174 h 182"/>
                <a:gd name="T42" fmla="*/ 133 w 181"/>
                <a:gd name="T43" fmla="*/ 171 h 182"/>
                <a:gd name="T44" fmla="*/ 141 w 181"/>
                <a:gd name="T45" fmla="*/ 165 h 182"/>
                <a:gd name="T46" fmla="*/ 148 w 181"/>
                <a:gd name="T47" fmla="*/ 161 h 182"/>
                <a:gd name="T48" fmla="*/ 155 w 181"/>
                <a:gd name="T49" fmla="*/ 155 h 182"/>
                <a:gd name="T50" fmla="*/ 160 w 181"/>
                <a:gd name="T51" fmla="*/ 148 h 182"/>
                <a:gd name="T52" fmla="*/ 166 w 181"/>
                <a:gd name="T53" fmla="*/ 142 h 182"/>
                <a:gd name="T54" fmla="*/ 170 w 181"/>
                <a:gd name="T55" fmla="*/ 134 h 182"/>
                <a:gd name="T56" fmla="*/ 174 w 181"/>
                <a:gd name="T57" fmla="*/ 126 h 182"/>
                <a:gd name="T58" fmla="*/ 177 w 181"/>
                <a:gd name="T59" fmla="*/ 118 h 182"/>
                <a:gd name="T60" fmla="*/ 180 w 181"/>
                <a:gd name="T61" fmla="*/ 110 h 182"/>
                <a:gd name="T62" fmla="*/ 181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0" y="100"/>
                  </a:lnTo>
                  <a:lnTo>
                    <a:pt x="3" y="110"/>
                  </a:lnTo>
                  <a:lnTo>
                    <a:pt x="5" y="118"/>
                  </a:lnTo>
                  <a:lnTo>
                    <a:pt x="8" y="126"/>
                  </a:lnTo>
                  <a:lnTo>
                    <a:pt x="11" y="134"/>
                  </a:lnTo>
                  <a:lnTo>
                    <a:pt x="15" y="142"/>
                  </a:lnTo>
                  <a:lnTo>
                    <a:pt x="21" y="148"/>
                  </a:lnTo>
                  <a:lnTo>
                    <a:pt x="27" y="155"/>
                  </a:lnTo>
                  <a:lnTo>
                    <a:pt x="34" y="161"/>
                  </a:lnTo>
                  <a:lnTo>
                    <a:pt x="40" y="165"/>
                  </a:lnTo>
                  <a:lnTo>
                    <a:pt x="48" y="171"/>
                  </a:lnTo>
                  <a:lnTo>
                    <a:pt x="55" y="174"/>
                  </a:lnTo>
                  <a:lnTo>
                    <a:pt x="64" y="177"/>
                  </a:lnTo>
                  <a:lnTo>
                    <a:pt x="72" y="179"/>
                  </a:lnTo>
                  <a:lnTo>
                    <a:pt x="82" y="181"/>
                  </a:lnTo>
                  <a:lnTo>
                    <a:pt x="91" y="182"/>
                  </a:lnTo>
                  <a:lnTo>
                    <a:pt x="100" y="181"/>
                  </a:lnTo>
                  <a:lnTo>
                    <a:pt x="109" y="179"/>
                  </a:lnTo>
                  <a:lnTo>
                    <a:pt x="117" y="177"/>
                  </a:lnTo>
                  <a:lnTo>
                    <a:pt x="126" y="174"/>
                  </a:lnTo>
                  <a:lnTo>
                    <a:pt x="133" y="171"/>
                  </a:lnTo>
                  <a:lnTo>
                    <a:pt x="141" y="165"/>
                  </a:lnTo>
                  <a:lnTo>
                    <a:pt x="148" y="161"/>
                  </a:lnTo>
                  <a:lnTo>
                    <a:pt x="155" y="155"/>
                  </a:lnTo>
                  <a:lnTo>
                    <a:pt x="160" y="148"/>
                  </a:lnTo>
                  <a:lnTo>
                    <a:pt x="166" y="142"/>
                  </a:lnTo>
                  <a:lnTo>
                    <a:pt x="170" y="134"/>
                  </a:lnTo>
                  <a:lnTo>
                    <a:pt x="174" y="126"/>
                  </a:lnTo>
                  <a:lnTo>
                    <a:pt x="177" y="118"/>
                  </a:lnTo>
                  <a:lnTo>
                    <a:pt x="180" y="110"/>
                  </a:lnTo>
                  <a:lnTo>
                    <a:pt x="181"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720">
              <a:extLst>
                <a:ext uri="{FF2B5EF4-FFF2-40B4-BE49-F238E27FC236}">
                  <a16:creationId xmlns:a16="http://schemas.microsoft.com/office/drawing/2014/main" id="{445A4A3C-20C5-4624-9209-D11A75CEC9B9}"/>
                </a:ext>
              </a:extLst>
            </p:cNvPr>
            <p:cNvSpPr>
              <a:spLocks/>
            </p:cNvSpPr>
            <p:nvPr/>
          </p:nvSpPr>
          <p:spPr bwMode="auto">
            <a:xfrm>
              <a:off x="2632075" y="1930400"/>
              <a:ext cx="9525" cy="57150"/>
            </a:xfrm>
            <a:custGeom>
              <a:avLst/>
              <a:gdLst>
                <a:gd name="T0" fmla="*/ 15 w 30"/>
                <a:gd name="T1" fmla="*/ 181 h 181"/>
                <a:gd name="T2" fmla="*/ 18 w 30"/>
                <a:gd name="T3" fmla="*/ 181 h 181"/>
                <a:gd name="T4" fmla="*/ 21 w 30"/>
                <a:gd name="T5" fmla="*/ 180 h 181"/>
                <a:gd name="T6" fmla="*/ 23 w 30"/>
                <a:gd name="T7" fmla="*/ 179 h 181"/>
                <a:gd name="T8" fmla="*/ 25 w 30"/>
                <a:gd name="T9" fmla="*/ 176 h 181"/>
                <a:gd name="T10" fmla="*/ 27 w 30"/>
                <a:gd name="T11" fmla="*/ 174 h 181"/>
                <a:gd name="T12" fmla="*/ 28 w 30"/>
                <a:gd name="T13" fmla="*/ 172 h 181"/>
                <a:gd name="T14" fmla="*/ 30 w 30"/>
                <a:gd name="T15" fmla="*/ 169 h 181"/>
                <a:gd name="T16" fmla="*/ 30 w 30"/>
                <a:gd name="T17" fmla="*/ 166 h 181"/>
                <a:gd name="T18" fmla="*/ 30 w 30"/>
                <a:gd name="T19" fmla="*/ 16 h 181"/>
                <a:gd name="T20" fmla="*/ 30 w 30"/>
                <a:gd name="T21" fmla="*/ 12 h 181"/>
                <a:gd name="T22" fmla="*/ 28 w 30"/>
                <a:gd name="T23" fmla="*/ 9 h 181"/>
                <a:gd name="T24" fmla="*/ 27 w 30"/>
                <a:gd name="T25" fmla="*/ 7 h 181"/>
                <a:gd name="T26" fmla="*/ 25 w 30"/>
                <a:gd name="T27" fmla="*/ 5 h 181"/>
                <a:gd name="T28" fmla="*/ 23 w 30"/>
                <a:gd name="T29" fmla="*/ 3 h 181"/>
                <a:gd name="T30" fmla="*/ 21 w 30"/>
                <a:gd name="T31" fmla="*/ 2 h 181"/>
                <a:gd name="T32" fmla="*/ 18 w 30"/>
                <a:gd name="T33" fmla="*/ 0 h 181"/>
                <a:gd name="T34" fmla="*/ 15 w 30"/>
                <a:gd name="T35" fmla="*/ 0 h 181"/>
                <a:gd name="T36" fmla="*/ 11 w 30"/>
                <a:gd name="T37" fmla="*/ 0 h 181"/>
                <a:gd name="T38" fmla="*/ 9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9 w 30"/>
                <a:gd name="T65" fmla="*/ 180 h 181"/>
                <a:gd name="T66" fmla="*/ 11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3" y="179"/>
                  </a:lnTo>
                  <a:lnTo>
                    <a:pt x="25" y="176"/>
                  </a:lnTo>
                  <a:lnTo>
                    <a:pt x="27" y="174"/>
                  </a:lnTo>
                  <a:lnTo>
                    <a:pt x="28" y="172"/>
                  </a:lnTo>
                  <a:lnTo>
                    <a:pt x="30" y="169"/>
                  </a:lnTo>
                  <a:lnTo>
                    <a:pt x="30" y="166"/>
                  </a:lnTo>
                  <a:lnTo>
                    <a:pt x="30" y="16"/>
                  </a:lnTo>
                  <a:lnTo>
                    <a:pt x="30" y="12"/>
                  </a:lnTo>
                  <a:lnTo>
                    <a:pt x="28" y="9"/>
                  </a:lnTo>
                  <a:lnTo>
                    <a:pt x="27" y="7"/>
                  </a:lnTo>
                  <a:lnTo>
                    <a:pt x="25" y="5"/>
                  </a:lnTo>
                  <a:lnTo>
                    <a:pt x="23" y="3"/>
                  </a:lnTo>
                  <a:lnTo>
                    <a:pt x="21" y="2"/>
                  </a:lnTo>
                  <a:lnTo>
                    <a:pt x="18" y="0"/>
                  </a:lnTo>
                  <a:lnTo>
                    <a:pt x="15" y="0"/>
                  </a:lnTo>
                  <a:lnTo>
                    <a:pt x="11" y="0"/>
                  </a:lnTo>
                  <a:lnTo>
                    <a:pt x="9"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9" y="180"/>
                  </a:lnTo>
                  <a:lnTo>
                    <a:pt x="11"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0" name="Freeform 1671" descr="Icon of check mark. ">
            <a:extLst>
              <a:ext uri="{FF2B5EF4-FFF2-40B4-BE49-F238E27FC236}">
                <a16:creationId xmlns:a16="http://schemas.microsoft.com/office/drawing/2014/main" id="{1A4AFC64-5C16-40F4-BDFA-E62EE3AAEA23}"/>
              </a:ext>
            </a:extLst>
          </p:cNvPr>
          <p:cNvSpPr>
            <a:spLocks noEditPoints="1"/>
          </p:cNvSpPr>
          <p:nvPr/>
        </p:nvSpPr>
        <p:spPr bwMode="auto">
          <a:xfrm>
            <a:off x="6963181" y="2902974"/>
            <a:ext cx="380334" cy="380334"/>
          </a:xfrm>
          <a:custGeom>
            <a:avLst/>
            <a:gdLst>
              <a:gd name="T0" fmla="*/ 279 w 719"/>
              <a:gd name="T1" fmla="*/ 477 h 719"/>
              <a:gd name="T2" fmla="*/ 197 w 719"/>
              <a:gd name="T3" fmla="*/ 387 h 719"/>
              <a:gd name="T4" fmla="*/ 217 w 719"/>
              <a:gd name="T5" fmla="*/ 382 h 719"/>
              <a:gd name="T6" fmla="*/ 515 w 719"/>
              <a:gd name="T7" fmla="*/ 243 h 719"/>
              <a:gd name="T8" fmla="*/ 519 w 719"/>
              <a:gd name="T9" fmla="*/ 263 h 719"/>
              <a:gd name="T10" fmla="*/ 709 w 719"/>
              <a:gd name="T11" fmla="*/ 323 h 719"/>
              <a:gd name="T12" fmla="*/ 687 w 719"/>
              <a:gd name="T13" fmla="*/ 289 h 719"/>
              <a:gd name="T14" fmla="*/ 696 w 719"/>
              <a:gd name="T15" fmla="*/ 243 h 719"/>
              <a:gd name="T16" fmla="*/ 675 w 719"/>
              <a:gd name="T17" fmla="*/ 199 h 719"/>
              <a:gd name="T18" fmla="*/ 631 w 719"/>
              <a:gd name="T19" fmla="*/ 179 h 719"/>
              <a:gd name="T20" fmla="*/ 630 w 719"/>
              <a:gd name="T21" fmla="*/ 131 h 719"/>
              <a:gd name="T22" fmla="*/ 603 w 719"/>
              <a:gd name="T23" fmla="*/ 98 h 719"/>
              <a:gd name="T24" fmla="*/ 569 w 719"/>
              <a:gd name="T25" fmla="*/ 87 h 719"/>
              <a:gd name="T26" fmla="*/ 536 w 719"/>
              <a:gd name="T27" fmla="*/ 70 h 719"/>
              <a:gd name="T28" fmla="*/ 507 w 719"/>
              <a:gd name="T29" fmla="*/ 34 h 719"/>
              <a:gd name="T30" fmla="*/ 458 w 719"/>
              <a:gd name="T31" fmla="*/ 25 h 719"/>
              <a:gd name="T32" fmla="*/ 418 w 719"/>
              <a:gd name="T33" fmla="*/ 31 h 719"/>
              <a:gd name="T34" fmla="*/ 380 w 719"/>
              <a:gd name="T35" fmla="*/ 4 h 719"/>
              <a:gd name="T36" fmla="*/ 331 w 719"/>
              <a:gd name="T37" fmla="*/ 7 h 719"/>
              <a:gd name="T38" fmla="*/ 296 w 719"/>
              <a:gd name="T39" fmla="*/ 39 h 719"/>
              <a:gd name="T40" fmla="*/ 251 w 719"/>
              <a:gd name="T41" fmla="*/ 24 h 719"/>
              <a:gd name="T42" fmla="*/ 205 w 719"/>
              <a:gd name="T43" fmla="*/ 39 h 719"/>
              <a:gd name="T44" fmla="*/ 180 w 719"/>
              <a:gd name="T45" fmla="*/ 79 h 719"/>
              <a:gd name="T46" fmla="*/ 142 w 719"/>
              <a:gd name="T47" fmla="*/ 88 h 719"/>
              <a:gd name="T48" fmla="*/ 111 w 719"/>
              <a:gd name="T49" fmla="*/ 102 h 719"/>
              <a:gd name="T50" fmla="*/ 86 w 719"/>
              <a:gd name="T51" fmla="*/ 141 h 719"/>
              <a:gd name="T52" fmla="*/ 78 w 719"/>
              <a:gd name="T53" fmla="*/ 180 h 719"/>
              <a:gd name="T54" fmla="*/ 37 w 719"/>
              <a:gd name="T55" fmla="*/ 207 h 719"/>
              <a:gd name="T56" fmla="*/ 22 w 719"/>
              <a:gd name="T57" fmla="*/ 252 h 719"/>
              <a:gd name="T58" fmla="*/ 38 w 719"/>
              <a:gd name="T59" fmla="*/ 296 h 719"/>
              <a:gd name="T60" fmla="*/ 6 w 719"/>
              <a:gd name="T61" fmla="*/ 332 h 719"/>
              <a:gd name="T62" fmla="*/ 3 w 719"/>
              <a:gd name="T63" fmla="*/ 380 h 719"/>
              <a:gd name="T64" fmla="*/ 31 w 719"/>
              <a:gd name="T65" fmla="*/ 420 h 719"/>
              <a:gd name="T66" fmla="*/ 23 w 719"/>
              <a:gd name="T67" fmla="*/ 460 h 719"/>
              <a:gd name="T68" fmla="*/ 32 w 719"/>
              <a:gd name="T69" fmla="*/ 507 h 719"/>
              <a:gd name="T70" fmla="*/ 68 w 719"/>
              <a:gd name="T71" fmla="*/ 538 h 719"/>
              <a:gd name="T72" fmla="*/ 85 w 719"/>
              <a:gd name="T73" fmla="*/ 571 h 719"/>
              <a:gd name="T74" fmla="*/ 106 w 719"/>
              <a:gd name="T75" fmla="*/ 615 h 719"/>
              <a:gd name="T76" fmla="*/ 135 w 719"/>
              <a:gd name="T77" fmla="*/ 633 h 719"/>
              <a:gd name="T78" fmla="*/ 177 w 719"/>
              <a:gd name="T79" fmla="*/ 633 h 719"/>
              <a:gd name="T80" fmla="*/ 197 w 719"/>
              <a:gd name="T81" fmla="*/ 676 h 719"/>
              <a:gd name="T82" fmla="*/ 242 w 719"/>
              <a:gd name="T83" fmla="*/ 698 h 719"/>
              <a:gd name="T84" fmla="*/ 288 w 719"/>
              <a:gd name="T85" fmla="*/ 687 h 719"/>
              <a:gd name="T86" fmla="*/ 322 w 719"/>
              <a:gd name="T87" fmla="*/ 709 h 719"/>
              <a:gd name="T88" fmla="*/ 370 w 719"/>
              <a:gd name="T89" fmla="*/ 719 h 719"/>
              <a:gd name="T90" fmla="*/ 412 w 719"/>
              <a:gd name="T91" fmla="*/ 697 h 719"/>
              <a:gd name="T92" fmla="*/ 449 w 719"/>
              <a:gd name="T93" fmla="*/ 695 h 719"/>
              <a:gd name="T94" fmla="*/ 497 w 719"/>
              <a:gd name="T95" fmla="*/ 693 h 719"/>
              <a:gd name="T96" fmla="*/ 533 w 719"/>
              <a:gd name="T97" fmla="*/ 661 h 719"/>
              <a:gd name="T98" fmla="*/ 563 w 719"/>
              <a:gd name="T99" fmla="*/ 635 h 719"/>
              <a:gd name="T100" fmla="*/ 597 w 719"/>
              <a:gd name="T101" fmla="*/ 628 h 719"/>
              <a:gd name="T102" fmla="*/ 626 w 719"/>
              <a:gd name="T103" fmla="*/ 599 h 719"/>
              <a:gd name="T104" fmla="*/ 634 w 719"/>
              <a:gd name="T105" fmla="*/ 551 h 719"/>
              <a:gd name="T106" fmla="*/ 668 w 719"/>
              <a:gd name="T107" fmla="*/ 528 h 719"/>
              <a:gd name="T108" fmla="*/ 694 w 719"/>
              <a:gd name="T109" fmla="*/ 488 h 719"/>
              <a:gd name="T110" fmla="*/ 691 w 719"/>
              <a:gd name="T111" fmla="*/ 441 h 719"/>
              <a:gd name="T112" fmla="*/ 703 w 719"/>
              <a:gd name="T113" fmla="*/ 406 h 719"/>
              <a:gd name="T114" fmla="*/ 719 w 719"/>
              <a:gd name="T115" fmla="*/ 36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719">
                <a:moveTo>
                  <a:pt x="519" y="263"/>
                </a:moveTo>
                <a:lnTo>
                  <a:pt x="292" y="475"/>
                </a:lnTo>
                <a:lnTo>
                  <a:pt x="288" y="477"/>
                </a:lnTo>
                <a:lnTo>
                  <a:pt x="285" y="479"/>
                </a:lnTo>
                <a:lnTo>
                  <a:pt x="279" y="477"/>
                </a:lnTo>
                <a:lnTo>
                  <a:pt x="276" y="475"/>
                </a:lnTo>
                <a:lnTo>
                  <a:pt x="200" y="400"/>
                </a:lnTo>
                <a:lnTo>
                  <a:pt x="197" y="396"/>
                </a:lnTo>
                <a:lnTo>
                  <a:pt x="196" y="391"/>
                </a:lnTo>
                <a:lnTo>
                  <a:pt x="197" y="387"/>
                </a:lnTo>
                <a:lnTo>
                  <a:pt x="200" y="382"/>
                </a:lnTo>
                <a:lnTo>
                  <a:pt x="204" y="380"/>
                </a:lnTo>
                <a:lnTo>
                  <a:pt x="208" y="379"/>
                </a:lnTo>
                <a:lnTo>
                  <a:pt x="213" y="380"/>
                </a:lnTo>
                <a:lnTo>
                  <a:pt x="217" y="382"/>
                </a:lnTo>
                <a:lnTo>
                  <a:pt x="285" y="450"/>
                </a:lnTo>
                <a:lnTo>
                  <a:pt x="502" y="247"/>
                </a:lnTo>
                <a:lnTo>
                  <a:pt x="507" y="243"/>
                </a:lnTo>
                <a:lnTo>
                  <a:pt x="511" y="243"/>
                </a:lnTo>
                <a:lnTo>
                  <a:pt x="515" y="243"/>
                </a:lnTo>
                <a:lnTo>
                  <a:pt x="520" y="247"/>
                </a:lnTo>
                <a:lnTo>
                  <a:pt x="522" y="251"/>
                </a:lnTo>
                <a:lnTo>
                  <a:pt x="523" y="255"/>
                </a:lnTo>
                <a:lnTo>
                  <a:pt x="522" y="260"/>
                </a:lnTo>
                <a:lnTo>
                  <a:pt x="519" y="263"/>
                </a:lnTo>
                <a:close/>
                <a:moveTo>
                  <a:pt x="719" y="360"/>
                </a:moveTo>
                <a:lnTo>
                  <a:pt x="719" y="350"/>
                </a:lnTo>
                <a:lnTo>
                  <a:pt x="716" y="341"/>
                </a:lnTo>
                <a:lnTo>
                  <a:pt x="713" y="332"/>
                </a:lnTo>
                <a:lnTo>
                  <a:pt x="709" y="323"/>
                </a:lnTo>
                <a:lnTo>
                  <a:pt x="703" y="315"/>
                </a:lnTo>
                <a:lnTo>
                  <a:pt x="696" y="308"/>
                </a:lnTo>
                <a:lnTo>
                  <a:pt x="689" y="302"/>
                </a:lnTo>
                <a:lnTo>
                  <a:pt x="681" y="296"/>
                </a:lnTo>
                <a:lnTo>
                  <a:pt x="687" y="289"/>
                </a:lnTo>
                <a:lnTo>
                  <a:pt x="691" y="280"/>
                </a:lnTo>
                <a:lnTo>
                  <a:pt x="694" y="271"/>
                </a:lnTo>
                <a:lnTo>
                  <a:pt x="696" y="262"/>
                </a:lnTo>
                <a:lnTo>
                  <a:pt x="696" y="252"/>
                </a:lnTo>
                <a:lnTo>
                  <a:pt x="696" y="243"/>
                </a:lnTo>
                <a:lnTo>
                  <a:pt x="694" y="233"/>
                </a:lnTo>
                <a:lnTo>
                  <a:pt x="692" y="223"/>
                </a:lnTo>
                <a:lnTo>
                  <a:pt x="688" y="215"/>
                </a:lnTo>
                <a:lnTo>
                  <a:pt x="682" y="207"/>
                </a:lnTo>
                <a:lnTo>
                  <a:pt x="675" y="199"/>
                </a:lnTo>
                <a:lnTo>
                  <a:pt x="668" y="193"/>
                </a:lnTo>
                <a:lnTo>
                  <a:pt x="660" y="188"/>
                </a:lnTo>
                <a:lnTo>
                  <a:pt x="651" y="184"/>
                </a:lnTo>
                <a:lnTo>
                  <a:pt x="641" y="180"/>
                </a:lnTo>
                <a:lnTo>
                  <a:pt x="631" y="179"/>
                </a:lnTo>
                <a:lnTo>
                  <a:pt x="634" y="169"/>
                </a:lnTo>
                <a:lnTo>
                  <a:pt x="635" y="161"/>
                </a:lnTo>
                <a:lnTo>
                  <a:pt x="635" y="151"/>
                </a:lnTo>
                <a:lnTo>
                  <a:pt x="632" y="141"/>
                </a:lnTo>
                <a:lnTo>
                  <a:pt x="630" y="131"/>
                </a:lnTo>
                <a:lnTo>
                  <a:pt x="626" y="122"/>
                </a:lnTo>
                <a:lnTo>
                  <a:pt x="620" y="114"/>
                </a:lnTo>
                <a:lnTo>
                  <a:pt x="614" y="106"/>
                </a:lnTo>
                <a:lnTo>
                  <a:pt x="608" y="102"/>
                </a:lnTo>
                <a:lnTo>
                  <a:pt x="603" y="98"/>
                </a:lnTo>
                <a:lnTo>
                  <a:pt x="597" y="94"/>
                </a:lnTo>
                <a:lnTo>
                  <a:pt x="590" y="91"/>
                </a:lnTo>
                <a:lnTo>
                  <a:pt x="584" y="89"/>
                </a:lnTo>
                <a:lnTo>
                  <a:pt x="577" y="88"/>
                </a:lnTo>
                <a:lnTo>
                  <a:pt x="569" y="87"/>
                </a:lnTo>
                <a:lnTo>
                  <a:pt x="563" y="85"/>
                </a:lnTo>
                <a:lnTo>
                  <a:pt x="552" y="87"/>
                </a:lnTo>
                <a:lnTo>
                  <a:pt x="542" y="89"/>
                </a:lnTo>
                <a:lnTo>
                  <a:pt x="540" y="79"/>
                </a:lnTo>
                <a:lnTo>
                  <a:pt x="536" y="70"/>
                </a:lnTo>
                <a:lnTo>
                  <a:pt x="533" y="61"/>
                </a:lnTo>
                <a:lnTo>
                  <a:pt x="528" y="53"/>
                </a:lnTo>
                <a:lnTo>
                  <a:pt x="522" y="46"/>
                </a:lnTo>
                <a:lnTo>
                  <a:pt x="514" y="39"/>
                </a:lnTo>
                <a:lnTo>
                  <a:pt x="507" y="34"/>
                </a:lnTo>
                <a:lnTo>
                  <a:pt x="497" y="28"/>
                </a:lnTo>
                <a:lnTo>
                  <a:pt x="488" y="26"/>
                </a:lnTo>
                <a:lnTo>
                  <a:pt x="478" y="24"/>
                </a:lnTo>
                <a:lnTo>
                  <a:pt x="468" y="24"/>
                </a:lnTo>
                <a:lnTo>
                  <a:pt x="458" y="25"/>
                </a:lnTo>
                <a:lnTo>
                  <a:pt x="449" y="27"/>
                </a:lnTo>
                <a:lnTo>
                  <a:pt x="440" y="29"/>
                </a:lnTo>
                <a:lnTo>
                  <a:pt x="431" y="34"/>
                </a:lnTo>
                <a:lnTo>
                  <a:pt x="424" y="39"/>
                </a:lnTo>
                <a:lnTo>
                  <a:pt x="418" y="31"/>
                </a:lnTo>
                <a:lnTo>
                  <a:pt x="412" y="24"/>
                </a:lnTo>
                <a:lnTo>
                  <a:pt x="405" y="17"/>
                </a:lnTo>
                <a:lnTo>
                  <a:pt x="397" y="11"/>
                </a:lnTo>
                <a:lnTo>
                  <a:pt x="388" y="7"/>
                </a:lnTo>
                <a:lnTo>
                  <a:pt x="380" y="4"/>
                </a:lnTo>
                <a:lnTo>
                  <a:pt x="370" y="2"/>
                </a:lnTo>
                <a:lnTo>
                  <a:pt x="360" y="0"/>
                </a:lnTo>
                <a:lnTo>
                  <a:pt x="350" y="2"/>
                </a:lnTo>
                <a:lnTo>
                  <a:pt x="340" y="4"/>
                </a:lnTo>
                <a:lnTo>
                  <a:pt x="331" y="7"/>
                </a:lnTo>
                <a:lnTo>
                  <a:pt x="322" y="11"/>
                </a:lnTo>
                <a:lnTo>
                  <a:pt x="314" y="17"/>
                </a:lnTo>
                <a:lnTo>
                  <a:pt x="307" y="24"/>
                </a:lnTo>
                <a:lnTo>
                  <a:pt x="301" y="31"/>
                </a:lnTo>
                <a:lnTo>
                  <a:pt x="296" y="39"/>
                </a:lnTo>
                <a:lnTo>
                  <a:pt x="288" y="34"/>
                </a:lnTo>
                <a:lnTo>
                  <a:pt x="279" y="29"/>
                </a:lnTo>
                <a:lnTo>
                  <a:pt x="270" y="27"/>
                </a:lnTo>
                <a:lnTo>
                  <a:pt x="260" y="25"/>
                </a:lnTo>
                <a:lnTo>
                  <a:pt x="251" y="24"/>
                </a:lnTo>
                <a:lnTo>
                  <a:pt x="242" y="24"/>
                </a:lnTo>
                <a:lnTo>
                  <a:pt x="232" y="26"/>
                </a:lnTo>
                <a:lnTo>
                  <a:pt x="222" y="28"/>
                </a:lnTo>
                <a:lnTo>
                  <a:pt x="213" y="34"/>
                </a:lnTo>
                <a:lnTo>
                  <a:pt x="205" y="39"/>
                </a:lnTo>
                <a:lnTo>
                  <a:pt x="197" y="46"/>
                </a:lnTo>
                <a:lnTo>
                  <a:pt x="192" y="52"/>
                </a:lnTo>
                <a:lnTo>
                  <a:pt x="186" y="61"/>
                </a:lnTo>
                <a:lnTo>
                  <a:pt x="182" y="69"/>
                </a:lnTo>
                <a:lnTo>
                  <a:pt x="180" y="79"/>
                </a:lnTo>
                <a:lnTo>
                  <a:pt x="177" y="89"/>
                </a:lnTo>
                <a:lnTo>
                  <a:pt x="168" y="87"/>
                </a:lnTo>
                <a:lnTo>
                  <a:pt x="156" y="85"/>
                </a:lnTo>
                <a:lnTo>
                  <a:pt x="149" y="87"/>
                </a:lnTo>
                <a:lnTo>
                  <a:pt x="142" y="88"/>
                </a:lnTo>
                <a:lnTo>
                  <a:pt x="135" y="89"/>
                </a:lnTo>
                <a:lnTo>
                  <a:pt x="129" y="91"/>
                </a:lnTo>
                <a:lnTo>
                  <a:pt x="122" y="94"/>
                </a:lnTo>
                <a:lnTo>
                  <a:pt x="117" y="98"/>
                </a:lnTo>
                <a:lnTo>
                  <a:pt x="111" y="102"/>
                </a:lnTo>
                <a:lnTo>
                  <a:pt x="106" y="106"/>
                </a:lnTo>
                <a:lnTo>
                  <a:pt x="99" y="114"/>
                </a:lnTo>
                <a:lnTo>
                  <a:pt x="94" y="122"/>
                </a:lnTo>
                <a:lnTo>
                  <a:pt x="89" y="131"/>
                </a:lnTo>
                <a:lnTo>
                  <a:pt x="86" y="141"/>
                </a:lnTo>
                <a:lnTo>
                  <a:pt x="85" y="151"/>
                </a:lnTo>
                <a:lnTo>
                  <a:pt x="85" y="161"/>
                </a:lnTo>
                <a:lnTo>
                  <a:pt x="85" y="169"/>
                </a:lnTo>
                <a:lnTo>
                  <a:pt x="87" y="179"/>
                </a:lnTo>
                <a:lnTo>
                  <a:pt x="78" y="180"/>
                </a:lnTo>
                <a:lnTo>
                  <a:pt x="68" y="184"/>
                </a:lnTo>
                <a:lnTo>
                  <a:pt x="59" y="188"/>
                </a:lnTo>
                <a:lnTo>
                  <a:pt x="52" y="193"/>
                </a:lnTo>
                <a:lnTo>
                  <a:pt x="44" y="199"/>
                </a:lnTo>
                <a:lnTo>
                  <a:pt x="37" y="207"/>
                </a:lnTo>
                <a:lnTo>
                  <a:pt x="32" y="215"/>
                </a:lnTo>
                <a:lnTo>
                  <a:pt x="27" y="223"/>
                </a:lnTo>
                <a:lnTo>
                  <a:pt x="24" y="233"/>
                </a:lnTo>
                <a:lnTo>
                  <a:pt x="23" y="243"/>
                </a:lnTo>
                <a:lnTo>
                  <a:pt x="22" y="252"/>
                </a:lnTo>
                <a:lnTo>
                  <a:pt x="23" y="262"/>
                </a:lnTo>
                <a:lnTo>
                  <a:pt x="25" y="271"/>
                </a:lnTo>
                <a:lnTo>
                  <a:pt x="28" y="280"/>
                </a:lnTo>
                <a:lnTo>
                  <a:pt x="33" y="289"/>
                </a:lnTo>
                <a:lnTo>
                  <a:pt x="38" y="296"/>
                </a:lnTo>
                <a:lnTo>
                  <a:pt x="31" y="302"/>
                </a:lnTo>
                <a:lnTo>
                  <a:pt x="23" y="308"/>
                </a:lnTo>
                <a:lnTo>
                  <a:pt x="16" y="315"/>
                </a:lnTo>
                <a:lnTo>
                  <a:pt x="11" y="323"/>
                </a:lnTo>
                <a:lnTo>
                  <a:pt x="6" y="332"/>
                </a:lnTo>
                <a:lnTo>
                  <a:pt x="3" y="341"/>
                </a:lnTo>
                <a:lnTo>
                  <a:pt x="1" y="350"/>
                </a:lnTo>
                <a:lnTo>
                  <a:pt x="0" y="360"/>
                </a:lnTo>
                <a:lnTo>
                  <a:pt x="1" y="370"/>
                </a:lnTo>
                <a:lnTo>
                  <a:pt x="3" y="380"/>
                </a:lnTo>
                <a:lnTo>
                  <a:pt x="6" y="389"/>
                </a:lnTo>
                <a:lnTo>
                  <a:pt x="11" y="398"/>
                </a:lnTo>
                <a:lnTo>
                  <a:pt x="16" y="406"/>
                </a:lnTo>
                <a:lnTo>
                  <a:pt x="23" y="413"/>
                </a:lnTo>
                <a:lnTo>
                  <a:pt x="31" y="420"/>
                </a:lnTo>
                <a:lnTo>
                  <a:pt x="38" y="424"/>
                </a:lnTo>
                <a:lnTo>
                  <a:pt x="33" y="433"/>
                </a:lnTo>
                <a:lnTo>
                  <a:pt x="28" y="441"/>
                </a:lnTo>
                <a:lnTo>
                  <a:pt x="25" y="450"/>
                </a:lnTo>
                <a:lnTo>
                  <a:pt x="23" y="460"/>
                </a:lnTo>
                <a:lnTo>
                  <a:pt x="22" y="470"/>
                </a:lnTo>
                <a:lnTo>
                  <a:pt x="23" y="479"/>
                </a:lnTo>
                <a:lnTo>
                  <a:pt x="24" y="488"/>
                </a:lnTo>
                <a:lnTo>
                  <a:pt x="27" y="498"/>
                </a:lnTo>
                <a:lnTo>
                  <a:pt x="32" y="507"/>
                </a:lnTo>
                <a:lnTo>
                  <a:pt x="37" y="515"/>
                </a:lnTo>
                <a:lnTo>
                  <a:pt x="44" y="523"/>
                </a:lnTo>
                <a:lnTo>
                  <a:pt x="52" y="528"/>
                </a:lnTo>
                <a:lnTo>
                  <a:pt x="59" y="534"/>
                </a:lnTo>
                <a:lnTo>
                  <a:pt x="68" y="538"/>
                </a:lnTo>
                <a:lnTo>
                  <a:pt x="78" y="540"/>
                </a:lnTo>
                <a:lnTo>
                  <a:pt x="87" y="543"/>
                </a:lnTo>
                <a:lnTo>
                  <a:pt x="85" y="551"/>
                </a:lnTo>
                <a:lnTo>
                  <a:pt x="85" y="561"/>
                </a:lnTo>
                <a:lnTo>
                  <a:pt x="85" y="571"/>
                </a:lnTo>
                <a:lnTo>
                  <a:pt x="86" y="580"/>
                </a:lnTo>
                <a:lnTo>
                  <a:pt x="89" y="590"/>
                </a:lnTo>
                <a:lnTo>
                  <a:pt x="94" y="599"/>
                </a:lnTo>
                <a:lnTo>
                  <a:pt x="99" y="608"/>
                </a:lnTo>
                <a:lnTo>
                  <a:pt x="106" y="615"/>
                </a:lnTo>
                <a:lnTo>
                  <a:pt x="111" y="620"/>
                </a:lnTo>
                <a:lnTo>
                  <a:pt x="117" y="624"/>
                </a:lnTo>
                <a:lnTo>
                  <a:pt x="122" y="628"/>
                </a:lnTo>
                <a:lnTo>
                  <a:pt x="129" y="631"/>
                </a:lnTo>
                <a:lnTo>
                  <a:pt x="135" y="633"/>
                </a:lnTo>
                <a:lnTo>
                  <a:pt x="142" y="634"/>
                </a:lnTo>
                <a:lnTo>
                  <a:pt x="149" y="635"/>
                </a:lnTo>
                <a:lnTo>
                  <a:pt x="156" y="635"/>
                </a:lnTo>
                <a:lnTo>
                  <a:pt x="168" y="635"/>
                </a:lnTo>
                <a:lnTo>
                  <a:pt x="177" y="633"/>
                </a:lnTo>
                <a:lnTo>
                  <a:pt x="180" y="643"/>
                </a:lnTo>
                <a:lnTo>
                  <a:pt x="182" y="652"/>
                </a:lnTo>
                <a:lnTo>
                  <a:pt x="186" y="661"/>
                </a:lnTo>
                <a:lnTo>
                  <a:pt x="192" y="668"/>
                </a:lnTo>
                <a:lnTo>
                  <a:pt x="197" y="676"/>
                </a:lnTo>
                <a:lnTo>
                  <a:pt x="205" y="683"/>
                </a:lnTo>
                <a:lnTo>
                  <a:pt x="213" y="688"/>
                </a:lnTo>
                <a:lnTo>
                  <a:pt x="222" y="693"/>
                </a:lnTo>
                <a:lnTo>
                  <a:pt x="232" y="696"/>
                </a:lnTo>
                <a:lnTo>
                  <a:pt x="242" y="698"/>
                </a:lnTo>
                <a:lnTo>
                  <a:pt x="251" y="698"/>
                </a:lnTo>
                <a:lnTo>
                  <a:pt x="260" y="697"/>
                </a:lnTo>
                <a:lnTo>
                  <a:pt x="270" y="695"/>
                </a:lnTo>
                <a:lnTo>
                  <a:pt x="279" y="692"/>
                </a:lnTo>
                <a:lnTo>
                  <a:pt x="288" y="687"/>
                </a:lnTo>
                <a:lnTo>
                  <a:pt x="296" y="682"/>
                </a:lnTo>
                <a:lnTo>
                  <a:pt x="301" y="689"/>
                </a:lnTo>
                <a:lnTo>
                  <a:pt x="307" y="697"/>
                </a:lnTo>
                <a:lnTo>
                  <a:pt x="314" y="704"/>
                </a:lnTo>
                <a:lnTo>
                  <a:pt x="322" y="709"/>
                </a:lnTo>
                <a:lnTo>
                  <a:pt x="331" y="714"/>
                </a:lnTo>
                <a:lnTo>
                  <a:pt x="340" y="717"/>
                </a:lnTo>
                <a:lnTo>
                  <a:pt x="350" y="719"/>
                </a:lnTo>
                <a:lnTo>
                  <a:pt x="360" y="719"/>
                </a:lnTo>
                <a:lnTo>
                  <a:pt x="370" y="719"/>
                </a:lnTo>
                <a:lnTo>
                  <a:pt x="380" y="717"/>
                </a:lnTo>
                <a:lnTo>
                  <a:pt x="388" y="714"/>
                </a:lnTo>
                <a:lnTo>
                  <a:pt x="397" y="709"/>
                </a:lnTo>
                <a:lnTo>
                  <a:pt x="405" y="704"/>
                </a:lnTo>
                <a:lnTo>
                  <a:pt x="412" y="697"/>
                </a:lnTo>
                <a:lnTo>
                  <a:pt x="418" y="689"/>
                </a:lnTo>
                <a:lnTo>
                  <a:pt x="424" y="682"/>
                </a:lnTo>
                <a:lnTo>
                  <a:pt x="431" y="687"/>
                </a:lnTo>
                <a:lnTo>
                  <a:pt x="440" y="692"/>
                </a:lnTo>
                <a:lnTo>
                  <a:pt x="449" y="695"/>
                </a:lnTo>
                <a:lnTo>
                  <a:pt x="458" y="697"/>
                </a:lnTo>
                <a:lnTo>
                  <a:pt x="468" y="698"/>
                </a:lnTo>
                <a:lnTo>
                  <a:pt x="478" y="698"/>
                </a:lnTo>
                <a:lnTo>
                  <a:pt x="488" y="696"/>
                </a:lnTo>
                <a:lnTo>
                  <a:pt x="497" y="693"/>
                </a:lnTo>
                <a:lnTo>
                  <a:pt x="507" y="688"/>
                </a:lnTo>
                <a:lnTo>
                  <a:pt x="514" y="683"/>
                </a:lnTo>
                <a:lnTo>
                  <a:pt x="522" y="676"/>
                </a:lnTo>
                <a:lnTo>
                  <a:pt x="528" y="668"/>
                </a:lnTo>
                <a:lnTo>
                  <a:pt x="533" y="661"/>
                </a:lnTo>
                <a:lnTo>
                  <a:pt x="536" y="652"/>
                </a:lnTo>
                <a:lnTo>
                  <a:pt x="540" y="643"/>
                </a:lnTo>
                <a:lnTo>
                  <a:pt x="541" y="633"/>
                </a:lnTo>
                <a:lnTo>
                  <a:pt x="552" y="635"/>
                </a:lnTo>
                <a:lnTo>
                  <a:pt x="563" y="635"/>
                </a:lnTo>
                <a:lnTo>
                  <a:pt x="569" y="635"/>
                </a:lnTo>
                <a:lnTo>
                  <a:pt x="577" y="634"/>
                </a:lnTo>
                <a:lnTo>
                  <a:pt x="584" y="633"/>
                </a:lnTo>
                <a:lnTo>
                  <a:pt x="590" y="631"/>
                </a:lnTo>
                <a:lnTo>
                  <a:pt x="597" y="628"/>
                </a:lnTo>
                <a:lnTo>
                  <a:pt x="603" y="624"/>
                </a:lnTo>
                <a:lnTo>
                  <a:pt x="608" y="620"/>
                </a:lnTo>
                <a:lnTo>
                  <a:pt x="614" y="615"/>
                </a:lnTo>
                <a:lnTo>
                  <a:pt x="620" y="608"/>
                </a:lnTo>
                <a:lnTo>
                  <a:pt x="626" y="599"/>
                </a:lnTo>
                <a:lnTo>
                  <a:pt x="630" y="590"/>
                </a:lnTo>
                <a:lnTo>
                  <a:pt x="632" y="580"/>
                </a:lnTo>
                <a:lnTo>
                  <a:pt x="635" y="571"/>
                </a:lnTo>
                <a:lnTo>
                  <a:pt x="635" y="561"/>
                </a:lnTo>
                <a:lnTo>
                  <a:pt x="634" y="551"/>
                </a:lnTo>
                <a:lnTo>
                  <a:pt x="631" y="543"/>
                </a:lnTo>
                <a:lnTo>
                  <a:pt x="641" y="540"/>
                </a:lnTo>
                <a:lnTo>
                  <a:pt x="651" y="538"/>
                </a:lnTo>
                <a:lnTo>
                  <a:pt x="660" y="534"/>
                </a:lnTo>
                <a:lnTo>
                  <a:pt x="668" y="528"/>
                </a:lnTo>
                <a:lnTo>
                  <a:pt x="675" y="523"/>
                </a:lnTo>
                <a:lnTo>
                  <a:pt x="682" y="515"/>
                </a:lnTo>
                <a:lnTo>
                  <a:pt x="688" y="507"/>
                </a:lnTo>
                <a:lnTo>
                  <a:pt x="692" y="498"/>
                </a:lnTo>
                <a:lnTo>
                  <a:pt x="694" y="488"/>
                </a:lnTo>
                <a:lnTo>
                  <a:pt x="696" y="479"/>
                </a:lnTo>
                <a:lnTo>
                  <a:pt x="698" y="470"/>
                </a:lnTo>
                <a:lnTo>
                  <a:pt x="696" y="460"/>
                </a:lnTo>
                <a:lnTo>
                  <a:pt x="694" y="450"/>
                </a:lnTo>
                <a:lnTo>
                  <a:pt x="691" y="441"/>
                </a:lnTo>
                <a:lnTo>
                  <a:pt x="687" y="433"/>
                </a:lnTo>
                <a:lnTo>
                  <a:pt x="681" y="424"/>
                </a:lnTo>
                <a:lnTo>
                  <a:pt x="689" y="420"/>
                </a:lnTo>
                <a:lnTo>
                  <a:pt x="696" y="413"/>
                </a:lnTo>
                <a:lnTo>
                  <a:pt x="703" y="406"/>
                </a:lnTo>
                <a:lnTo>
                  <a:pt x="709" y="398"/>
                </a:lnTo>
                <a:lnTo>
                  <a:pt x="713" y="389"/>
                </a:lnTo>
                <a:lnTo>
                  <a:pt x="716" y="380"/>
                </a:lnTo>
                <a:lnTo>
                  <a:pt x="719" y="370"/>
                </a:lnTo>
                <a:lnTo>
                  <a:pt x="719" y="36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3850" descr="Icon of lightning. ">
            <a:extLst>
              <a:ext uri="{FF2B5EF4-FFF2-40B4-BE49-F238E27FC236}">
                <a16:creationId xmlns:a16="http://schemas.microsoft.com/office/drawing/2014/main" id="{4F438411-AB3F-41D1-B7B0-3BD67465A272}"/>
              </a:ext>
            </a:extLst>
          </p:cNvPr>
          <p:cNvSpPr>
            <a:spLocks/>
          </p:cNvSpPr>
          <p:nvPr/>
        </p:nvSpPr>
        <p:spPr bwMode="auto">
          <a:xfrm>
            <a:off x="4904481" y="4108092"/>
            <a:ext cx="268346" cy="380334"/>
          </a:xfrm>
          <a:custGeom>
            <a:avLst/>
            <a:gdLst>
              <a:gd name="T0" fmla="*/ 635 w 636"/>
              <a:gd name="T1" fmla="*/ 369 h 901"/>
              <a:gd name="T2" fmla="*/ 632 w 636"/>
              <a:gd name="T3" fmla="*/ 365 h 901"/>
              <a:gd name="T4" fmla="*/ 629 w 636"/>
              <a:gd name="T5" fmla="*/ 362 h 901"/>
              <a:gd name="T6" fmla="*/ 625 w 636"/>
              <a:gd name="T7" fmla="*/ 360 h 901"/>
              <a:gd name="T8" fmla="*/ 621 w 636"/>
              <a:gd name="T9" fmla="*/ 360 h 901"/>
              <a:gd name="T10" fmla="*/ 337 w 636"/>
              <a:gd name="T11" fmla="*/ 360 h 901"/>
              <a:gd name="T12" fmla="*/ 409 w 636"/>
              <a:gd name="T13" fmla="*/ 17 h 901"/>
              <a:gd name="T14" fmla="*/ 409 w 636"/>
              <a:gd name="T15" fmla="*/ 13 h 901"/>
              <a:gd name="T16" fmla="*/ 408 w 636"/>
              <a:gd name="T17" fmla="*/ 7 h 901"/>
              <a:gd name="T18" fmla="*/ 405 w 636"/>
              <a:gd name="T19" fmla="*/ 3 h 901"/>
              <a:gd name="T20" fmla="*/ 400 w 636"/>
              <a:gd name="T21" fmla="*/ 1 h 901"/>
              <a:gd name="T22" fmla="*/ 395 w 636"/>
              <a:gd name="T23" fmla="*/ 0 h 901"/>
              <a:gd name="T24" fmla="*/ 390 w 636"/>
              <a:gd name="T25" fmla="*/ 0 h 901"/>
              <a:gd name="T26" fmla="*/ 385 w 636"/>
              <a:gd name="T27" fmla="*/ 2 h 901"/>
              <a:gd name="T28" fmla="*/ 382 w 636"/>
              <a:gd name="T29" fmla="*/ 6 h 901"/>
              <a:gd name="T30" fmla="*/ 2 w 636"/>
              <a:gd name="T31" fmla="*/ 547 h 901"/>
              <a:gd name="T32" fmla="*/ 1 w 636"/>
              <a:gd name="T33" fmla="*/ 550 h 901"/>
              <a:gd name="T34" fmla="*/ 0 w 636"/>
              <a:gd name="T35" fmla="*/ 554 h 901"/>
              <a:gd name="T36" fmla="*/ 0 w 636"/>
              <a:gd name="T37" fmla="*/ 559 h 901"/>
              <a:gd name="T38" fmla="*/ 1 w 636"/>
              <a:gd name="T39" fmla="*/ 562 h 901"/>
              <a:gd name="T40" fmla="*/ 4 w 636"/>
              <a:gd name="T41" fmla="*/ 566 h 901"/>
              <a:gd name="T42" fmla="*/ 8 w 636"/>
              <a:gd name="T43" fmla="*/ 568 h 901"/>
              <a:gd name="T44" fmla="*/ 11 w 636"/>
              <a:gd name="T45" fmla="*/ 569 h 901"/>
              <a:gd name="T46" fmla="*/ 15 w 636"/>
              <a:gd name="T47" fmla="*/ 570 h 901"/>
              <a:gd name="T48" fmla="*/ 299 w 636"/>
              <a:gd name="T49" fmla="*/ 570 h 901"/>
              <a:gd name="T50" fmla="*/ 228 w 636"/>
              <a:gd name="T51" fmla="*/ 882 h 901"/>
              <a:gd name="T52" fmla="*/ 228 w 636"/>
              <a:gd name="T53" fmla="*/ 888 h 901"/>
              <a:gd name="T54" fmla="*/ 229 w 636"/>
              <a:gd name="T55" fmla="*/ 892 h 901"/>
              <a:gd name="T56" fmla="*/ 232 w 636"/>
              <a:gd name="T57" fmla="*/ 896 h 901"/>
              <a:gd name="T58" fmla="*/ 236 w 636"/>
              <a:gd name="T59" fmla="*/ 900 h 901"/>
              <a:gd name="T60" fmla="*/ 239 w 636"/>
              <a:gd name="T61" fmla="*/ 901 h 901"/>
              <a:gd name="T62" fmla="*/ 243 w 636"/>
              <a:gd name="T63" fmla="*/ 901 h 901"/>
              <a:gd name="T64" fmla="*/ 246 w 636"/>
              <a:gd name="T65" fmla="*/ 901 h 901"/>
              <a:gd name="T66" fmla="*/ 249 w 636"/>
              <a:gd name="T67" fmla="*/ 900 h 901"/>
              <a:gd name="T68" fmla="*/ 252 w 636"/>
              <a:gd name="T69" fmla="*/ 897 h 901"/>
              <a:gd name="T70" fmla="*/ 254 w 636"/>
              <a:gd name="T71" fmla="*/ 895 h 901"/>
              <a:gd name="T72" fmla="*/ 633 w 636"/>
              <a:gd name="T73" fmla="*/ 384 h 901"/>
              <a:gd name="T74" fmla="*/ 635 w 636"/>
              <a:gd name="T75" fmla="*/ 381 h 901"/>
              <a:gd name="T76" fmla="*/ 636 w 636"/>
              <a:gd name="T77" fmla="*/ 376 h 901"/>
              <a:gd name="T78" fmla="*/ 636 w 636"/>
              <a:gd name="T79" fmla="*/ 372 h 901"/>
              <a:gd name="T80" fmla="*/ 635 w 636"/>
              <a:gd name="T81" fmla="*/ 369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36" h="901">
                <a:moveTo>
                  <a:pt x="635" y="369"/>
                </a:moveTo>
                <a:lnTo>
                  <a:pt x="632" y="365"/>
                </a:lnTo>
                <a:lnTo>
                  <a:pt x="629" y="362"/>
                </a:lnTo>
                <a:lnTo>
                  <a:pt x="625" y="360"/>
                </a:lnTo>
                <a:lnTo>
                  <a:pt x="621" y="360"/>
                </a:lnTo>
                <a:lnTo>
                  <a:pt x="337" y="360"/>
                </a:lnTo>
                <a:lnTo>
                  <a:pt x="409" y="17"/>
                </a:lnTo>
                <a:lnTo>
                  <a:pt x="409" y="13"/>
                </a:lnTo>
                <a:lnTo>
                  <a:pt x="408" y="7"/>
                </a:lnTo>
                <a:lnTo>
                  <a:pt x="405" y="3"/>
                </a:lnTo>
                <a:lnTo>
                  <a:pt x="400" y="1"/>
                </a:lnTo>
                <a:lnTo>
                  <a:pt x="395" y="0"/>
                </a:lnTo>
                <a:lnTo>
                  <a:pt x="390" y="0"/>
                </a:lnTo>
                <a:lnTo>
                  <a:pt x="385" y="2"/>
                </a:lnTo>
                <a:lnTo>
                  <a:pt x="382" y="6"/>
                </a:lnTo>
                <a:lnTo>
                  <a:pt x="2" y="547"/>
                </a:lnTo>
                <a:lnTo>
                  <a:pt x="1" y="550"/>
                </a:lnTo>
                <a:lnTo>
                  <a:pt x="0" y="554"/>
                </a:lnTo>
                <a:lnTo>
                  <a:pt x="0" y="559"/>
                </a:lnTo>
                <a:lnTo>
                  <a:pt x="1" y="562"/>
                </a:lnTo>
                <a:lnTo>
                  <a:pt x="4" y="566"/>
                </a:lnTo>
                <a:lnTo>
                  <a:pt x="8" y="568"/>
                </a:lnTo>
                <a:lnTo>
                  <a:pt x="11" y="569"/>
                </a:lnTo>
                <a:lnTo>
                  <a:pt x="15" y="570"/>
                </a:lnTo>
                <a:lnTo>
                  <a:pt x="299" y="570"/>
                </a:lnTo>
                <a:lnTo>
                  <a:pt x="228" y="882"/>
                </a:lnTo>
                <a:lnTo>
                  <a:pt x="228" y="888"/>
                </a:lnTo>
                <a:lnTo>
                  <a:pt x="229" y="892"/>
                </a:lnTo>
                <a:lnTo>
                  <a:pt x="232" y="896"/>
                </a:lnTo>
                <a:lnTo>
                  <a:pt x="236" y="900"/>
                </a:lnTo>
                <a:lnTo>
                  <a:pt x="239" y="901"/>
                </a:lnTo>
                <a:lnTo>
                  <a:pt x="243" y="901"/>
                </a:lnTo>
                <a:lnTo>
                  <a:pt x="246" y="901"/>
                </a:lnTo>
                <a:lnTo>
                  <a:pt x="249" y="900"/>
                </a:lnTo>
                <a:lnTo>
                  <a:pt x="252" y="897"/>
                </a:lnTo>
                <a:lnTo>
                  <a:pt x="254" y="895"/>
                </a:lnTo>
                <a:lnTo>
                  <a:pt x="633" y="384"/>
                </a:lnTo>
                <a:lnTo>
                  <a:pt x="635" y="381"/>
                </a:lnTo>
                <a:lnTo>
                  <a:pt x="636" y="376"/>
                </a:lnTo>
                <a:lnTo>
                  <a:pt x="636" y="372"/>
                </a:lnTo>
                <a:lnTo>
                  <a:pt x="635" y="369"/>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3886" descr="Icon of magnifying glass to represent search. ">
            <a:extLst>
              <a:ext uri="{FF2B5EF4-FFF2-40B4-BE49-F238E27FC236}">
                <a16:creationId xmlns:a16="http://schemas.microsoft.com/office/drawing/2014/main" id="{EC8E95A8-22FE-44FA-B5A6-2AA2D47A5BB3}"/>
              </a:ext>
            </a:extLst>
          </p:cNvPr>
          <p:cNvSpPr>
            <a:spLocks noEditPoints="1"/>
          </p:cNvSpPr>
          <p:nvPr/>
        </p:nvSpPr>
        <p:spPr bwMode="auto">
          <a:xfrm>
            <a:off x="6257227" y="4108092"/>
            <a:ext cx="382447" cy="380334"/>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3" name="Group 72" descr="Icon of computer monitors. ">
            <a:extLst>
              <a:ext uri="{FF2B5EF4-FFF2-40B4-BE49-F238E27FC236}">
                <a16:creationId xmlns:a16="http://schemas.microsoft.com/office/drawing/2014/main" id="{6C60D8E2-BC37-4164-84A8-5B32D836BEC3}"/>
              </a:ext>
            </a:extLst>
          </p:cNvPr>
          <p:cNvGrpSpPr/>
          <p:nvPr/>
        </p:nvGrpSpPr>
        <p:grpSpPr>
          <a:xfrm>
            <a:off x="7667022" y="4107036"/>
            <a:ext cx="382447" cy="382446"/>
            <a:chOff x="879475" y="5100638"/>
            <a:chExt cx="287338" cy="287337"/>
          </a:xfrm>
          <a:solidFill>
            <a:schemeClr val="accent4">
              <a:lumMod val="75000"/>
            </a:schemeClr>
          </a:solidFill>
        </p:grpSpPr>
        <p:sp>
          <p:nvSpPr>
            <p:cNvPr id="74" name="Freeform 1636">
              <a:extLst>
                <a:ext uri="{FF2B5EF4-FFF2-40B4-BE49-F238E27FC236}">
                  <a16:creationId xmlns:a16="http://schemas.microsoft.com/office/drawing/2014/main" id="{69FF00E7-041A-4CE9-A6E6-F43110659DE0}"/>
                </a:ext>
              </a:extLst>
            </p:cNvPr>
            <p:cNvSpPr>
              <a:spLocks/>
            </p:cNvSpPr>
            <p:nvPr/>
          </p:nvSpPr>
          <p:spPr bwMode="auto">
            <a:xfrm>
              <a:off x="908050" y="5233988"/>
              <a:ext cx="38100" cy="9525"/>
            </a:xfrm>
            <a:custGeom>
              <a:avLst/>
              <a:gdLst>
                <a:gd name="T0" fmla="*/ 105 w 121"/>
                <a:gd name="T1" fmla="*/ 0 h 30"/>
                <a:gd name="T2" fmla="*/ 15 w 121"/>
                <a:gd name="T3" fmla="*/ 0 h 30"/>
                <a:gd name="T4" fmla="*/ 13 w 121"/>
                <a:gd name="T5" fmla="*/ 0 h 30"/>
                <a:gd name="T6" fmla="*/ 9 w 121"/>
                <a:gd name="T7" fmla="*/ 1 h 30"/>
                <a:gd name="T8" fmla="*/ 7 w 121"/>
                <a:gd name="T9" fmla="*/ 2 h 30"/>
                <a:gd name="T10" fmla="*/ 5 w 121"/>
                <a:gd name="T11" fmla="*/ 4 h 30"/>
                <a:gd name="T12" fmla="*/ 3 w 121"/>
                <a:gd name="T13" fmla="*/ 6 h 30"/>
                <a:gd name="T14" fmla="*/ 2 w 121"/>
                <a:gd name="T15" fmla="*/ 9 h 30"/>
                <a:gd name="T16" fmla="*/ 0 w 121"/>
                <a:gd name="T17" fmla="*/ 12 h 30"/>
                <a:gd name="T18" fmla="*/ 0 w 121"/>
                <a:gd name="T19" fmla="*/ 14 h 30"/>
                <a:gd name="T20" fmla="*/ 0 w 121"/>
                <a:gd name="T21" fmla="*/ 17 h 30"/>
                <a:gd name="T22" fmla="*/ 2 w 121"/>
                <a:gd name="T23" fmla="*/ 21 h 30"/>
                <a:gd name="T24" fmla="*/ 3 w 121"/>
                <a:gd name="T25" fmla="*/ 23 h 30"/>
                <a:gd name="T26" fmla="*/ 5 w 121"/>
                <a:gd name="T27" fmla="*/ 25 h 30"/>
                <a:gd name="T28" fmla="*/ 7 w 121"/>
                <a:gd name="T29" fmla="*/ 27 h 30"/>
                <a:gd name="T30" fmla="*/ 9 w 121"/>
                <a:gd name="T31" fmla="*/ 29 h 30"/>
                <a:gd name="T32" fmla="*/ 13 w 121"/>
                <a:gd name="T33" fmla="*/ 30 h 30"/>
                <a:gd name="T34" fmla="*/ 15 w 121"/>
                <a:gd name="T35" fmla="*/ 30 h 30"/>
                <a:gd name="T36" fmla="*/ 105 w 121"/>
                <a:gd name="T37" fmla="*/ 30 h 30"/>
                <a:gd name="T38" fmla="*/ 109 w 121"/>
                <a:gd name="T39" fmla="*/ 30 h 30"/>
                <a:gd name="T40" fmla="*/ 111 w 121"/>
                <a:gd name="T41" fmla="*/ 29 h 30"/>
                <a:gd name="T42" fmla="*/ 114 w 121"/>
                <a:gd name="T43" fmla="*/ 27 h 30"/>
                <a:gd name="T44" fmla="*/ 117 w 121"/>
                <a:gd name="T45" fmla="*/ 25 h 30"/>
                <a:gd name="T46" fmla="*/ 118 w 121"/>
                <a:gd name="T47" fmla="*/ 23 h 30"/>
                <a:gd name="T48" fmla="*/ 120 w 121"/>
                <a:gd name="T49" fmla="*/ 21 h 30"/>
                <a:gd name="T50" fmla="*/ 121 w 121"/>
                <a:gd name="T51" fmla="*/ 17 h 30"/>
                <a:gd name="T52" fmla="*/ 121 w 121"/>
                <a:gd name="T53" fmla="*/ 14 h 30"/>
                <a:gd name="T54" fmla="*/ 121 w 121"/>
                <a:gd name="T55" fmla="*/ 12 h 30"/>
                <a:gd name="T56" fmla="*/ 120 w 121"/>
                <a:gd name="T57" fmla="*/ 9 h 30"/>
                <a:gd name="T58" fmla="*/ 118 w 121"/>
                <a:gd name="T59" fmla="*/ 6 h 30"/>
                <a:gd name="T60" fmla="*/ 117 w 121"/>
                <a:gd name="T61" fmla="*/ 4 h 30"/>
                <a:gd name="T62" fmla="*/ 114 w 121"/>
                <a:gd name="T63" fmla="*/ 2 h 30"/>
                <a:gd name="T64" fmla="*/ 111 w 121"/>
                <a:gd name="T65" fmla="*/ 1 h 30"/>
                <a:gd name="T66" fmla="*/ 109 w 121"/>
                <a:gd name="T67" fmla="*/ 0 h 30"/>
                <a:gd name="T68" fmla="*/ 105 w 121"/>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30">
                  <a:moveTo>
                    <a:pt x="105" y="0"/>
                  </a:moveTo>
                  <a:lnTo>
                    <a:pt x="15" y="0"/>
                  </a:lnTo>
                  <a:lnTo>
                    <a:pt x="13" y="0"/>
                  </a:lnTo>
                  <a:lnTo>
                    <a:pt x="9" y="1"/>
                  </a:lnTo>
                  <a:lnTo>
                    <a:pt x="7" y="2"/>
                  </a:lnTo>
                  <a:lnTo>
                    <a:pt x="5" y="4"/>
                  </a:lnTo>
                  <a:lnTo>
                    <a:pt x="3" y="6"/>
                  </a:lnTo>
                  <a:lnTo>
                    <a:pt x="2" y="9"/>
                  </a:lnTo>
                  <a:lnTo>
                    <a:pt x="0" y="12"/>
                  </a:lnTo>
                  <a:lnTo>
                    <a:pt x="0" y="14"/>
                  </a:lnTo>
                  <a:lnTo>
                    <a:pt x="0" y="17"/>
                  </a:lnTo>
                  <a:lnTo>
                    <a:pt x="2" y="21"/>
                  </a:lnTo>
                  <a:lnTo>
                    <a:pt x="3" y="23"/>
                  </a:lnTo>
                  <a:lnTo>
                    <a:pt x="5" y="25"/>
                  </a:lnTo>
                  <a:lnTo>
                    <a:pt x="7" y="27"/>
                  </a:lnTo>
                  <a:lnTo>
                    <a:pt x="9" y="29"/>
                  </a:lnTo>
                  <a:lnTo>
                    <a:pt x="13" y="30"/>
                  </a:lnTo>
                  <a:lnTo>
                    <a:pt x="15" y="30"/>
                  </a:lnTo>
                  <a:lnTo>
                    <a:pt x="105" y="30"/>
                  </a:lnTo>
                  <a:lnTo>
                    <a:pt x="109" y="30"/>
                  </a:lnTo>
                  <a:lnTo>
                    <a:pt x="111" y="29"/>
                  </a:lnTo>
                  <a:lnTo>
                    <a:pt x="114" y="27"/>
                  </a:lnTo>
                  <a:lnTo>
                    <a:pt x="117" y="25"/>
                  </a:lnTo>
                  <a:lnTo>
                    <a:pt x="118" y="23"/>
                  </a:lnTo>
                  <a:lnTo>
                    <a:pt x="120" y="21"/>
                  </a:lnTo>
                  <a:lnTo>
                    <a:pt x="121" y="17"/>
                  </a:lnTo>
                  <a:lnTo>
                    <a:pt x="121" y="14"/>
                  </a:lnTo>
                  <a:lnTo>
                    <a:pt x="121" y="12"/>
                  </a:lnTo>
                  <a:lnTo>
                    <a:pt x="120" y="9"/>
                  </a:lnTo>
                  <a:lnTo>
                    <a:pt x="118" y="6"/>
                  </a:lnTo>
                  <a:lnTo>
                    <a:pt x="117" y="4"/>
                  </a:lnTo>
                  <a:lnTo>
                    <a:pt x="114" y="2"/>
                  </a:lnTo>
                  <a:lnTo>
                    <a:pt x="111" y="1"/>
                  </a:lnTo>
                  <a:lnTo>
                    <a:pt x="109" y="0"/>
                  </a:lnTo>
                  <a:lnTo>
                    <a:pt x="10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1637">
              <a:extLst>
                <a:ext uri="{FF2B5EF4-FFF2-40B4-BE49-F238E27FC236}">
                  <a16:creationId xmlns:a16="http://schemas.microsoft.com/office/drawing/2014/main" id="{81654380-670A-482D-81FB-A4FFEA61023A}"/>
                </a:ext>
              </a:extLst>
            </p:cNvPr>
            <p:cNvSpPr>
              <a:spLocks/>
            </p:cNvSpPr>
            <p:nvPr/>
          </p:nvSpPr>
          <p:spPr bwMode="auto">
            <a:xfrm>
              <a:off x="879475" y="5100638"/>
              <a:ext cx="153988" cy="85725"/>
            </a:xfrm>
            <a:custGeom>
              <a:avLst/>
              <a:gdLst>
                <a:gd name="T0" fmla="*/ 482 w 482"/>
                <a:gd name="T1" fmla="*/ 60 h 271"/>
                <a:gd name="T2" fmla="*/ 482 w 482"/>
                <a:gd name="T3" fmla="*/ 54 h 271"/>
                <a:gd name="T4" fmla="*/ 481 w 482"/>
                <a:gd name="T5" fmla="*/ 48 h 271"/>
                <a:gd name="T6" fmla="*/ 480 w 482"/>
                <a:gd name="T7" fmla="*/ 42 h 271"/>
                <a:gd name="T8" fmla="*/ 478 w 482"/>
                <a:gd name="T9" fmla="*/ 37 h 271"/>
                <a:gd name="T10" fmla="*/ 475 w 482"/>
                <a:gd name="T11" fmla="*/ 31 h 271"/>
                <a:gd name="T12" fmla="*/ 472 w 482"/>
                <a:gd name="T13" fmla="*/ 27 h 271"/>
                <a:gd name="T14" fmla="*/ 469 w 482"/>
                <a:gd name="T15" fmla="*/ 22 h 271"/>
                <a:gd name="T16" fmla="*/ 464 w 482"/>
                <a:gd name="T17" fmla="*/ 18 h 271"/>
                <a:gd name="T18" fmla="*/ 460 w 482"/>
                <a:gd name="T19" fmla="*/ 13 h 271"/>
                <a:gd name="T20" fmla="*/ 455 w 482"/>
                <a:gd name="T21" fmla="*/ 10 h 271"/>
                <a:gd name="T22" fmla="*/ 451 w 482"/>
                <a:gd name="T23" fmla="*/ 7 h 271"/>
                <a:gd name="T24" fmla="*/ 445 w 482"/>
                <a:gd name="T25" fmla="*/ 5 h 271"/>
                <a:gd name="T26" fmla="*/ 440 w 482"/>
                <a:gd name="T27" fmla="*/ 2 h 271"/>
                <a:gd name="T28" fmla="*/ 434 w 482"/>
                <a:gd name="T29" fmla="*/ 1 h 271"/>
                <a:gd name="T30" fmla="*/ 428 w 482"/>
                <a:gd name="T31" fmla="*/ 0 h 271"/>
                <a:gd name="T32" fmla="*/ 422 w 482"/>
                <a:gd name="T33" fmla="*/ 0 h 271"/>
                <a:gd name="T34" fmla="*/ 59 w 482"/>
                <a:gd name="T35" fmla="*/ 0 h 271"/>
                <a:gd name="T36" fmla="*/ 54 w 482"/>
                <a:gd name="T37" fmla="*/ 0 h 271"/>
                <a:gd name="T38" fmla="*/ 47 w 482"/>
                <a:gd name="T39" fmla="*/ 1 h 271"/>
                <a:gd name="T40" fmla="*/ 42 w 482"/>
                <a:gd name="T41" fmla="*/ 2 h 271"/>
                <a:gd name="T42" fmla="*/ 36 w 482"/>
                <a:gd name="T43" fmla="*/ 5 h 271"/>
                <a:gd name="T44" fmla="*/ 31 w 482"/>
                <a:gd name="T45" fmla="*/ 7 h 271"/>
                <a:gd name="T46" fmla="*/ 26 w 482"/>
                <a:gd name="T47" fmla="*/ 10 h 271"/>
                <a:gd name="T48" fmla="*/ 22 w 482"/>
                <a:gd name="T49" fmla="*/ 13 h 271"/>
                <a:gd name="T50" fmla="*/ 17 w 482"/>
                <a:gd name="T51" fmla="*/ 18 h 271"/>
                <a:gd name="T52" fmla="*/ 13 w 482"/>
                <a:gd name="T53" fmla="*/ 22 h 271"/>
                <a:gd name="T54" fmla="*/ 10 w 482"/>
                <a:gd name="T55" fmla="*/ 27 h 271"/>
                <a:gd name="T56" fmla="*/ 6 w 482"/>
                <a:gd name="T57" fmla="*/ 31 h 271"/>
                <a:gd name="T58" fmla="*/ 4 w 482"/>
                <a:gd name="T59" fmla="*/ 37 h 271"/>
                <a:gd name="T60" fmla="*/ 2 w 482"/>
                <a:gd name="T61" fmla="*/ 42 h 271"/>
                <a:gd name="T62" fmla="*/ 1 w 482"/>
                <a:gd name="T63" fmla="*/ 48 h 271"/>
                <a:gd name="T64" fmla="*/ 0 w 482"/>
                <a:gd name="T65" fmla="*/ 54 h 271"/>
                <a:gd name="T66" fmla="*/ 0 w 482"/>
                <a:gd name="T67" fmla="*/ 60 h 271"/>
                <a:gd name="T68" fmla="*/ 0 w 482"/>
                <a:gd name="T69" fmla="*/ 271 h 271"/>
                <a:gd name="T70" fmla="*/ 482 w 482"/>
                <a:gd name="T71" fmla="*/ 271 h 271"/>
                <a:gd name="T72" fmla="*/ 482 w 482"/>
                <a:gd name="T73" fmla="*/ 6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2" h="271">
                  <a:moveTo>
                    <a:pt x="482" y="60"/>
                  </a:moveTo>
                  <a:lnTo>
                    <a:pt x="482" y="54"/>
                  </a:lnTo>
                  <a:lnTo>
                    <a:pt x="481" y="48"/>
                  </a:lnTo>
                  <a:lnTo>
                    <a:pt x="480" y="42"/>
                  </a:lnTo>
                  <a:lnTo>
                    <a:pt x="478" y="37"/>
                  </a:lnTo>
                  <a:lnTo>
                    <a:pt x="475" y="31"/>
                  </a:lnTo>
                  <a:lnTo>
                    <a:pt x="472" y="27"/>
                  </a:lnTo>
                  <a:lnTo>
                    <a:pt x="469" y="22"/>
                  </a:lnTo>
                  <a:lnTo>
                    <a:pt x="464" y="18"/>
                  </a:lnTo>
                  <a:lnTo>
                    <a:pt x="460" y="13"/>
                  </a:lnTo>
                  <a:lnTo>
                    <a:pt x="455" y="10"/>
                  </a:lnTo>
                  <a:lnTo>
                    <a:pt x="451" y="7"/>
                  </a:lnTo>
                  <a:lnTo>
                    <a:pt x="445" y="5"/>
                  </a:lnTo>
                  <a:lnTo>
                    <a:pt x="440" y="2"/>
                  </a:lnTo>
                  <a:lnTo>
                    <a:pt x="434" y="1"/>
                  </a:lnTo>
                  <a:lnTo>
                    <a:pt x="428" y="0"/>
                  </a:lnTo>
                  <a:lnTo>
                    <a:pt x="422" y="0"/>
                  </a:lnTo>
                  <a:lnTo>
                    <a:pt x="59" y="0"/>
                  </a:lnTo>
                  <a:lnTo>
                    <a:pt x="54" y="0"/>
                  </a:lnTo>
                  <a:lnTo>
                    <a:pt x="47" y="1"/>
                  </a:lnTo>
                  <a:lnTo>
                    <a:pt x="42" y="2"/>
                  </a:lnTo>
                  <a:lnTo>
                    <a:pt x="36" y="5"/>
                  </a:lnTo>
                  <a:lnTo>
                    <a:pt x="31" y="7"/>
                  </a:lnTo>
                  <a:lnTo>
                    <a:pt x="26" y="10"/>
                  </a:lnTo>
                  <a:lnTo>
                    <a:pt x="22" y="13"/>
                  </a:lnTo>
                  <a:lnTo>
                    <a:pt x="17" y="18"/>
                  </a:lnTo>
                  <a:lnTo>
                    <a:pt x="13" y="22"/>
                  </a:lnTo>
                  <a:lnTo>
                    <a:pt x="10" y="27"/>
                  </a:lnTo>
                  <a:lnTo>
                    <a:pt x="6" y="31"/>
                  </a:lnTo>
                  <a:lnTo>
                    <a:pt x="4" y="37"/>
                  </a:lnTo>
                  <a:lnTo>
                    <a:pt x="2" y="42"/>
                  </a:lnTo>
                  <a:lnTo>
                    <a:pt x="1" y="48"/>
                  </a:lnTo>
                  <a:lnTo>
                    <a:pt x="0" y="54"/>
                  </a:lnTo>
                  <a:lnTo>
                    <a:pt x="0" y="60"/>
                  </a:lnTo>
                  <a:lnTo>
                    <a:pt x="0" y="271"/>
                  </a:lnTo>
                  <a:lnTo>
                    <a:pt x="482" y="271"/>
                  </a:lnTo>
                  <a:lnTo>
                    <a:pt x="48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1638">
              <a:extLst>
                <a:ext uri="{FF2B5EF4-FFF2-40B4-BE49-F238E27FC236}">
                  <a16:creationId xmlns:a16="http://schemas.microsoft.com/office/drawing/2014/main" id="{FB01E3B0-9770-4D5C-9138-8D07EBC83D72}"/>
                </a:ext>
              </a:extLst>
            </p:cNvPr>
            <p:cNvSpPr>
              <a:spLocks/>
            </p:cNvSpPr>
            <p:nvPr/>
          </p:nvSpPr>
          <p:spPr bwMode="auto">
            <a:xfrm>
              <a:off x="879475" y="5195888"/>
              <a:ext cx="153988" cy="19050"/>
            </a:xfrm>
            <a:custGeom>
              <a:avLst/>
              <a:gdLst>
                <a:gd name="T0" fmla="*/ 361 w 482"/>
                <a:gd name="T1" fmla="*/ 30 h 60"/>
                <a:gd name="T2" fmla="*/ 424 w 482"/>
                <a:gd name="T3" fmla="*/ 30 h 60"/>
                <a:gd name="T4" fmla="*/ 475 w 482"/>
                <a:gd name="T5" fmla="*/ 30 h 60"/>
                <a:gd name="T6" fmla="*/ 478 w 482"/>
                <a:gd name="T7" fmla="*/ 23 h 60"/>
                <a:gd name="T8" fmla="*/ 481 w 482"/>
                <a:gd name="T9" fmla="*/ 17 h 60"/>
                <a:gd name="T10" fmla="*/ 482 w 482"/>
                <a:gd name="T11" fmla="*/ 9 h 60"/>
                <a:gd name="T12" fmla="*/ 482 w 482"/>
                <a:gd name="T13" fmla="*/ 2 h 60"/>
                <a:gd name="T14" fmla="*/ 482 w 482"/>
                <a:gd name="T15" fmla="*/ 0 h 60"/>
                <a:gd name="T16" fmla="*/ 0 w 482"/>
                <a:gd name="T17" fmla="*/ 0 h 60"/>
                <a:gd name="T18" fmla="*/ 0 w 482"/>
                <a:gd name="T19" fmla="*/ 6 h 60"/>
                <a:gd name="T20" fmla="*/ 1 w 482"/>
                <a:gd name="T21" fmla="*/ 11 h 60"/>
                <a:gd name="T22" fmla="*/ 2 w 482"/>
                <a:gd name="T23" fmla="*/ 18 h 60"/>
                <a:gd name="T24" fmla="*/ 4 w 482"/>
                <a:gd name="T25" fmla="*/ 23 h 60"/>
                <a:gd name="T26" fmla="*/ 6 w 482"/>
                <a:gd name="T27" fmla="*/ 28 h 60"/>
                <a:gd name="T28" fmla="*/ 10 w 482"/>
                <a:gd name="T29" fmla="*/ 33 h 60"/>
                <a:gd name="T30" fmla="*/ 13 w 482"/>
                <a:gd name="T31" fmla="*/ 38 h 60"/>
                <a:gd name="T32" fmla="*/ 17 w 482"/>
                <a:gd name="T33" fmla="*/ 42 h 60"/>
                <a:gd name="T34" fmla="*/ 22 w 482"/>
                <a:gd name="T35" fmla="*/ 47 h 60"/>
                <a:gd name="T36" fmla="*/ 26 w 482"/>
                <a:gd name="T37" fmla="*/ 50 h 60"/>
                <a:gd name="T38" fmla="*/ 31 w 482"/>
                <a:gd name="T39" fmla="*/ 53 h 60"/>
                <a:gd name="T40" fmla="*/ 36 w 482"/>
                <a:gd name="T41" fmla="*/ 55 h 60"/>
                <a:gd name="T42" fmla="*/ 42 w 482"/>
                <a:gd name="T43" fmla="*/ 58 h 60"/>
                <a:gd name="T44" fmla="*/ 47 w 482"/>
                <a:gd name="T45" fmla="*/ 59 h 60"/>
                <a:gd name="T46" fmla="*/ 54 w 482"/>
                <a:gd name="T47" fmla="*/ 60 h 60"/>
                <a:gd name="T48" fmla="*/ 59 w 482"/>
                <a:gd name="T49" fmla="*/ 60 h 60"/>
                <a:gd name="T50" fmla="*/ 282 w 482"/>
                <a:gd name="T51" fmla="*/ 60 h 60"/>
                <a:gd name="T52" fmla="*/ 291 w 482"/>
                <a:gd name="T53" fmla="*/ 53 h 60"/>
                <a:gd name="T54" fmla="*/ 299 w 482"/>
                <a:gd name="T55" fmla="*/ 48 h 60"/>
                <a:gd name="T56" fmla="*/ 308 w 482"/>
                <a:gd name="T57" fmla="*/ 42 h 60"/>
                <a:gd name="T58" fmla="*/ 318 w 482"/>
                <a:gd name="T59" fmla="*/ 38 h 60"/>
                <a:gd name="T60" fmla="*/ 328 w 482"/>
                <a:gd name="T61" fmla="*/ 34 h 60"/>
                <a:gd name="T62" fmla="*/ 339 w 482"/>
                <a:gd name="T63" fmla="*/ 32 h 60"/>
                <a:gd name="T64" fmla="*/ 350 w 482"/>
                <a:gd name="T65" fmla="*/ 30 h 60"/>
                <a:gd name="T66" fmla="*/ 361 w 482"/>
                <a:gd name="T67"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2" h="60">
                  <a:moveTo>
                    <a:pt x="361" y="30"/>
                  </a:moveTo>
                  <a:lnTo>
                    <a:pt x="424" y="30"/>
                  </a:lnTo>
                  <a:lnTo>
                    <a:pt x="475" y="30"/>
                  </a:lnTo>
                  <a:lnTo>
                    <a:pt x="478" y="23"/>
                  </a:lnTo>
                  <a:lnTo>
                    <a:pt x="481" y="17"/>
                  </a:lnTo>
                  <a:lnTo>
                    <a:pt x="482" y="9"/>
                  </a:lnTo>
                  <a:lnTo>
                    <a:pt x="482" y="2"/>
                  </a:lnTo>
                  <a:lnTo>
                    <a:pt x="482" y="0"/>
                  </a:lnTo>
                  <a:lnTo>
                    <a:pt x="0" y="0"/>
                  </a:lnTo>
                  <a:lnTo>
                    <a:pt x="0" y="6"/>
                  </a:lnTo>
                  <a:lnTo>
                    <a:pt x="1" y="11"/>
                  </a:lnTo>
                  <a:lnTo>
                    <a:pt x="2" y="18"/>
                  </a:lnTo>
                  <a:lnTo>
                    <a:pt x="4" y="23"/>
                  </a:lnTo>
                  <a:lnTo>
                    <a:pt x="6" y="28"/>
                  </a:lnTo>
                  <a:lnTo>
                    <a:pt x="10" y="33"/>
                  </a:lnTo>
                  <a:lnTo>
                    <a:pt x="13" y="38"/>
                  </a:lnTo>
                  <a:lnTo>
                    <a:pt x="17" y="42"/>
                  </a:lnTo>
                  <a:lnTo>
                    <a:pt x="22" y="47"/>
                  </a:lnTo>
                  <a:lnTo>
                    <a:pt x="26" y="50"/>
                  </a:lnTo>
                  <a:lnTo>
                    <a:pt x="31" y="53"/>
                  </a:lnTo>
                  <a:lnTo>
                    <a:pt x="36" y="55"/>
                  </a:lnTo>
                  <a:lnTo>
                    <a:pt x="42" y="58"/>
                  </a:lnTo>
                  <a:lnTo>
                    <a:pt x="47" y="59"/>
                  </a:lnTo>
                  <a:lnTo>
                    <a:pt x="54" y="60"/>
                  </a:lnTo>
                  <a:lnTo>
                    <a:pt x="59" y="60"/>
                  </a:lnTo>
                  <a:lnTo>
                    <a:pt x="282" y="60"/>
                  </a:lnTo>
                  <a:lnTo>
                    <a:pt x="291" y="53"/>
                  </a:lnTo>
                  <a:lnTo>
                    <a:pt x="299" y="48"/>
                  </a:lnTo>
                  <a:lnTo>
                    <a:pt x="308" y="42"/>
                  </a:lnTo>
                  <a:lnTo>
                    <a:pt x="318" y="38"/>
                  </a:lnTo>
                  <a:lnTo>
                    <a:pt x="328" y="34"/>
                  </a:lnTo>
                  <a:lnTo>
                    <a:pt x="339" y="32"/>
                  </a:lnTo>
                  <a:lnTo>
                    <a:pt x="350" y="30"/>
                  </a:lnTo>
                  <a:lnTo>
                    <a:pt x="3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1639">
              <a:extLst>
                <a:ext uri="{FF2B5EF4-FFF2-40B4-BE49-F238E27FC236}">
                  <a16:creationId xmlns:a16="http://schemas.microsoft.com/office/drawing/2014/main" id="{B5E3BED9-C2BD-4A86-AB16-4FB4F8651284}"/>
                </a:ext>
              </a:extLst>
            </p:cNvPr>
            <p:cNvSpPr>
              <a:spLocks/>
            </p:cNvSpPr>
            <p:nvPr/>
          </p:nvSpPr>
          <p:spPr bwMode="auto">
            <a:xfrm>
              <a:off x="965200" y="5214938"/>
              <a:ext cx="201613" cy="106363"/>
            </a:xfrm>
            <a:custGeom>
              <a:avLst/>
              <a:gdLst>
                <a:gd name="T0" fmla="*/ 543 w 633"/>
                <a:gd name="T1" fmla="*/ 0 h 332"/>
                <a:gd name="T2" fmla="*/ 153 w 633"/>
                <a:gd name="T3" fmla="*/ 0 h 332"/>
                <a:gd name="T4" fmla="*/ 90 w 633"/>
                <a:gd name="T5" fmla="*/ 0 h 332"/>
                <a:gd name="T6" fmla="*/ 82 w 633"/>
                <a:gd name="T7" fmla="*/ 1 h 332"/>
                <a:gd name="T8" fmla="*/ 73 w 633"/>
                <a:gd name="T9" fmla="*/ 2 h 332"/>
                <a:gd name="T10" fmla="*/ 64 w 633"/>
                <a:gd name="T11" fmla="*/ 4 h 332"/>
                <a:gd name="T12" fmla="*/ 55 w 633"/>
                <a:gd name="T13" fmla="*/ 8 h 332"/>
                <a:gd name="T14" fmla="*/ 47 w 633"/>
                <a:gd name="T15" fmla="*/ 11 h 332"/>
                <a:gd name="T16" fmla="*/ 40 w 633"/>
                <a:gd name="T17" fmla="*/ 15 h 332"/>
                <a:gd name="T18" fmla="*/ 33 w 633"/>
                <a:gd name="T19" fmla="*/ 21 h 332"/>
                <a:gd name="T20" fmla="*/ 26 w 633"/>
                <a:gd name="T21" fmla="*/ 26 h 332"/>
                <a:gd name="T22" fmla="*/ 21 w 633"/>
                <a:gd name="T23" fmla="*/ 33 h 332"/>
                <a:gd name="T24" fmla="*/ 15 w 633"/>
                <a:gd name="T25" fmla="*/ 40 h 332"/>
                <a:gd name="T26" fmla="*/ 11 w 633"/>
                <a:gd name="T27" fmla="*/ 47 h 332"/>
                <a:gd name="T28" fmla="*/ 7 w 633"/>
                <a:gd name="T29" fmla="*/ 55 h 332"/>
                <a:gd name="T30" fmla="*/ 4 w 633"/>
                <a:gd name="T31" fmla="*/ 64 h 332"/>
                <a:gd name="T32" fmla="*/ 2 w 633"/>
                <a:gd name="T33" fmla="*/ 72 h 332"/>
                <a:gd name="T34" fmla="*/ 1 w 633"/>
                <a:gd name="T35" fmla="*/ 82 h 332"/>
                <a:gd name="T36" fmla="*/ 0 w 633"/>
                <a:gd name="T37" fmla="*/ 91 h 332"/>
                <a:gd name="T38" fmla="*/ 0 w 633"/>
                <a:gd name="T39" fmla="*/ 332 h 332"/>
                <a:gd name="T40" fmla="*/ 633 w 633"/>
                <a:gd name="T41" fmla="*/ 332 h 332"/>
                <a:gd name="T42" fmla="*/ 633 w 633"/>
                <a:gd name="T43" fmla="*/ 91 h 332"/>
                <a:gd name="T44" fmla="*/ 633 w 633"/>
                <a:gd name="T45" fmla="*/ 82 h 332"/>
                <a:gd name="T46" fmla="*/ 632 w 633"/>
                <a:gd name="T47" fmla="*/ 72 h 332"/>
                <a:gd name="T48" fmla="*/ 630 w 633"/>
                <a:gd name="T49" fmla="*/ 64 h 332"/>
                <a:gd name="T50" fmla="*/ 627 w 633"/>
                <a:gd name="T51" fmla="*/ 55 h 332"/>
                <a:gd name="T52" fmla="*/ 622 w 633"/>
                <a:gd name="T53" fmla="*/ 47 h 332"/>
                <a:gd name="T54" fmla="*/ 618 w 633"/>
                <a:gd name="T55" fmla="*/ 40 h 332"/>
                <a:gd name="T56" fmla="*/ 614 w 633"/>
                <a:gd name="T57" fmla="*/ 33 h 332"/>
                <a:gd name="T58" fmla="*/ 607 w 633"/>
                <a:gd name="T59" fmla="*/ 26 h 332"/>
                <a:gd name="T60" fmla="*/ 600 w 633"/>
                <a:gd name="T61" fmla="*/ 21 h 332"/>
                <a:gd name="T62" fmla="*/ 594 w 633"/>
                <a:gd name="T63" fmla="*/ 15 h 332"/>
                <a:gd name="T64" fmla="*/ 586 w 633"/>
                <a:gd name="T65" fmla="*/ 11 h 332"/>
                <a:gd name="T66" fmla="*/ 578 w 633"/>
                <a:gd name="T67" fmla="*/ 8 h 332"/>
                <a:gd name="T68" fmla="*/ 570 w 633"/>
                <a:gd name="T69" fmla="*/ 4 h 332"/>
                <a:gd name="T70" fmla="*/ 562 w 633"/>
                <a:gd name="T71" fmla="*/ 2 h 332"/>
                <a:gd name="T72" fmla="*/ 553 w 633"/>
                <a:gd name="T73" fmla="*/ 1 h 332"/>
                <a:gd name="T74" fmla="*/ 543 w 633"/>
                <a:gd name="T75"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3" h="332">
                  <a:moveTo>
                    <a:pt x="543" y="0"/>
                  </a:moveTo>
                  <a:lnTo>
                    <a:pt x="153" y="0"/>
                  </a:lnTo>
                  <a:lnTo>
                    <a:pt x="90" y="0"/>
                  </a:lnTo>
                  <a:lnTo>
                    <a:pt x="82" y="1"/>
                  </a:lnTo>
                  <a:lnTo>
                    <a:pt x="73" y="2"/>
                  </a:lnTo>
                  <a:lnTo>
                    <a:pt x="64" y="4"/>
                  </a:lnTo>
                  <a:lnTo>
                    <a:pt x="55" y="8"/>
                  </a:lnTo>
                  <a:lnTo>
                    <a:pt x="47" y="11"/>
                  </a:lnTo>
                  <a:lnTo>
                    <a:pt x="40" y="15"/>
                  </a:lnTo>
                  <a:lnTo>
                    <a:pt x="33" y="21"/>
                  </a:lnTo>
                  <a:lnTo>
                    <a:pt x="26" y="26"/>
                  </a:lnTo>
                  <a:lnTo>
                    <a:pt x="21" y="33"/>
                  </a:lnTo>
                  <a:lnTo>
                    <a:pt x="15" y="40"/>
                  </a:lnTo>
                  <a:lnTo>
                    <a:pt x="11" y="47"/>
                  </a:lnTo>
                  <a:lnTo>
                    <a:pt x="7" y="55"/>
                  </a:lnTo>
                  <a:lnTo>
                    <a:pt x="4" y="64"/>
                  </a:lnTo>
                  <a:lnTo>
                    <a:pt x="2" y="72"/>
                  </a:lnTo>
                  <a:lnTo>
                    <a:pt x="1" y="82"/>
                  </a:lnTo>
                  <a:lnTo>
                    <a:pt x="0" y="91"/>
                  </a:lnTo>
                  <a:lnTo>
                    <a:pt x="0" y="332"/>
                  </a:lnTo>
                  <a:lnTo>
                    <a:pt x="633" y="332"/>
                  </a:lnTo>
                  <a:lnTo>
                    <a:pt x="633" y="91"/>
                  </a:lnTo>
                  <a:lnTo>
                    <a:pt x="633" y="82"/>
                  </a:lnTo>
                  <a:lnTo>
                    <a:pt x="632" y="72"/>
                  </a:lnTo>
                  <a:lnTo>
                    <a:pt x="630" y="64"/>
                  </a:lnTo>
                  <a:lnTo>
                    <a:pt x="627" y="55"/>
                  </a:lnTo>
                  <a:lnTo>
                    <a:pt x="622" y="47"/>
                  </a:lnTo>
                  <a:lnTo>
                    <a:pt x="618" y="40"/>
                  </a:lnTo>
                  <a:lnTo>
                    <a:pt x="614" y="33"/>
                  </a:lnTo>
                  <a:lnTo>
                    <a:pt x="607" y="26"/>
                  </a:lnTo>
                  <a:lnTo>
                    <a:pt x="600" y="21"/>
                  </a:lnTo>
                  <a:lnTo>
                    <a:pt x="594" y="15"/>
                  </a:lnTo>
                  <a:lnTo>
                    <a:pt x="586" y="11"/>
                  </a:lnTo>
                  <a:lnTo>
                    <a:pt x="578" y="8"/>
                  </a:lnTo>
                  <a:lnTo>
                    <a:pt x="570" y="4"/>
                  </a:lnTo>
                  <a:lnTo>
                    <a:pt x="562" y="2"/>
                  </a:lnTo>
                  <a:lnTo>
                    <a:pt x="553" y="1"/>
                  </a:lnTo>
                  <a:lnTo>
                    <a:pt x="5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1640">
              <a:extLst>
                <a:ext uri="{FF2B5EF4-FFF2-40B4-BE49-F238E27FC236}">
                  <a16:creationId xmlns:a16="http://schemas.microsoft.com/office/drawing/2014/main" id="{8A8D0C73-A5C6-464E-846B-C5C294BF2272}"/>
                </a:ext>
              </a:extLst>
            </p:cNvPr>
            <p:cNvSpPr>
              <a:spLocks noEditPoints="1"/>
            </p:cNvSpPr>
            <p:nvPr/>
          </p:nvSpPr>
          <p:spPr bwMode="auto">
            <a:xfrm>
              <a:off x="965200" y="5330825"/>
              <a:ext cx="201613" cy="57150"/>
            </a:xfrm>
            <a:custGeom>
              <a:avLst/>
              <a:gdLst>
                <a:gd name="T0" fmla="*/ 322 w 633"/>
                <a:gd name="T1" fmla="*/ 23 h 181"/>
                <a:gd name="T2" fmla="*/ 329 w 633"/>
                <a:gd name="T3" fmla="*/ 26 h 181"/>
                <a:gd name="T4" fmla="*/ 336 w 633"/>
                <a:gd name="T5" fmla="*/ 33 h 181"/>
                <a:gd name="T6" fmla="*/ 339 w 633"/>
                <a:gd name="T7" fmla="*/ 41 h 181"/>
                <a:gd name="T8" fmla="*/ 339 w 633"/>
                <a:gd name="T9" fmla="*/ 51 h 181"/>
                <a:gd name="T10" fmla="*/ 336 w 633"/>
                <a:gd name="T11" fmla="*/ 58 h 181"/>
                <a:gd name="T12" fmla="*/ 329 w 633"/>
                <a:gd name="T13" fmla="*/ 64 h 181"/>
                <a:gd name="T14" fmla="*/ 322 w 633"/>
                <a:gd name="T15" fmla="*/ 67 h 181"/>
                <a:gd name="T16" fmla="*/ 313 w 633"/>
                <a:gd name="T17" fmla="*/ 67 h 181"/>
                <a:gd name="T18" fmla="*/ 304 w 633"/>
                <a:gd name="T19" fmla="*/ 64 h 181"/>
                <a:gd name="T20" fmla="*/ 298 w 633"/>
                <a:gd name="T21" fmla="*/ 58 h 181"/>
                <a:gd name="T22" fmla="*/ 295 w 633"/>
                <a:gd name="T23" fmla="*/ 51 h 181"/>
                <a:gd name="T24" fmla="*/ 295 w 633"/>
                <a:gd name="T25" fmla="*/ 41 h 181"/>
                <a:gd name="T26" fmla="*/ 298 w 633"/>
                <a:gd name="T27" fmla="*/ 33 h 181"/>
                <a:gd name="T28" fmla="*/ 304 w 633"/>
                <a:gd name="T29" fmla="*/ 26 h 181"/>
                <a:gd name="T30" fmla="*/ 313 w 633"/>
                <a:gd name="T31" fmla="*/ 23 h 181"/>
                <a:gd name="T32" fmla="*/ 0 w 633"/>
                <a:gd name="T33" fmla="*/ 31 h 181"/>
                <a:gd name="T34" fmla="*/ 2 w 633"/>
                <a:gd name="T35" fmla="*/ 48 h 181"/>
                <a:gd name="T36" fmla="*/ 7 w 633"/>
                <a:gd name="T37" fmla="*/ 66 h 181"/>
                <a:gd name="T38" fmla="*/ 15 w 633"/>
                <a:gd name="T39" fmla="*/ 80 h 181"/>
                <a:gd name="T40" fmla="*/ 26 w 633"/>
                <a:gd name="T41" fmla="*/ 95 h 181"/>
                <a:gd name="T42" fmla="*/ 40 w 633"/>
                <a:gd name="T43" fmla="*/ 106 h 181"/>
                <a:gd name="T44" fmla="*/ 55 w 633"/>
                <a:gd name="T45" fmla="*/ 114 h 181"/>
                <a:gd name="T46" fmla="*/ 73 w 633"/>
                <a:gd name="T47" fmla="*/ 119 h 181"/>
                <a:gd name="T48" fmla="*/ 90 w 633"/>
                <a:gd name="T49" fmla="*/ 121 h 181"/>
                <a:gd name="T50" fmla="*/ 302 w 633"/>
                <a:gd name="T51" fmla="*/ 151 h 181"/>
                <a:gd name="T52" fmla="*/ 163 w 633"/>
                <a:gd name="T53" fmla="*/ 151 h 181"/>
                <a:gd name="T54" fmla="*/ 158 w 633"/>
                <a:gd name="T55" fmla="*/ 153 h 181"/>
                <a:gd name="T56" fmla="*/ 153 w 633"/>
                <a:gd name="T57" fmla="*/ 158 h 181"/>
                <a:gd name="T58" fmla="*/ 151 w 633"/>
                <a:gd name="T59" fmla="*/ 163 h 181"/>
                <a:gd name="T60" fmla="*/ 151 w 633"/>
                <a:gd name="T61" fmla="*/ 169 h 181"/>
                <a:gd name="T62" fmla="*/ 153 w 633"/>
                <a:gd name="T63" fmla="*/ 174 h 181"/>
                <a:gd name="T64" fmla="*/ 158 w 633"/>
                <a:gd name="T65" fmla="*/ 179 h 181"/>
                <a:gd name="T66" fmla="*/ 163 w 633"/>
                <a:gd name="T67" fmla="*/ 181 h 181"/>
                <a:gd name="T68" fmla="*/ 468 w 633"/>
                <a:gd name="T69" fmla="*/ 181 h 181"/>
                <a:gd name="T70" fmla="*/ 474 w 633"/>
                <a:gd name="T71" fmla="*/ 180 h 181"/>
                <a:gd name="T72" fmla="*/ 479 w 633"/>
                <a:gd name="T73" fmla="*/ 177 h 181"/>
                <a:gd name="T74" fmla="*/ 482 w 633"/>
                <a:gd name="T75" fmla="*/ 172 h 181"/>
                <a:gd name="T76" fmla="*/ 483 w 633"/>
                <a:gd name="T77" fmla="*/ 167 h 181"/>
                <a:gd name="T78" fmla="*/ 482 w 633"/>
                <a:gd name="T79" fmla="*/ 160 h 181"/>
                <a:gd name="T80" fmla="*/ 479 w 633"/>
                <a:gd name="T81" fmla="*/ 156 h 181"/>
                <a:gd name="T82" fmla="*/ 474 w 633"/>
                <a:gd name="T83" fmla="*/ 152 h 181"/>
                <a:gd name="T84" fmla="*/ 468 w 633"/>
                <a:gd name="T85" fmla="*/ 151 h 181"/>
                <a:gd name="T86" fmla="*/ 332 w 633"/>
                <a:gd name="T87" fmla="*/ 121 h 181"/>
                <a:gd name="T88" fmla="*/ 553 w 633"/>
                <a:gd name="T89" fmla="*/ 120 h 181"/>
                <a:gd name="T90" fmla="*/ 570 w 633"/>
                <a:gd name="T91" fmla="*/ 117 h 181"/>
                <a:gd name="T92" fmla="*/ 586 w 633"/>
                <a:gd name="T93" fmla="*/ 110 h 181"/>
                <a:gd name="T94" fmla="*/ 600 w 633"/>
                <a:gd name="T95" fmla="*/ 100 h 181"/>
                <a:gd name="T96" fmla="*/ 614 w 633"/>
                <a:gd name="T97" fmla="*/ 88 h 181"/>
                <a:gd name="T98" fmla="*/ 622 w 633"/>
                <a:gd name="T99" fmla="*/ 74 h 181"/>
                <a:gd name="T100" fmla="*/ 630 w 633"/>
                <a:gd name="T101" fmla="*/ 57 h 181"/>
                <a:gd name="T102" fmla="*/ 633 w 633"/>
                <a:gd name="T103" fmla="*/ 39 h 181"/>
                <a:gd name="T104" fmla="*/ 633 w 633"/>
                <a:gd name="T105" fmla="*/ 0 h 181"/>
                <a:gd name="T106" fmla="*/ 0 w 633"/>
                <a:gd name="T107" fmla="*/ 3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33" h="181">
                  <a:moveTo>
                    <a:pt x="317" y="23"/>
                  </a:moveTo>
                  <a:lnTo>
                    <a:pt x="322" y="23"/>
                  </a:lnTo>
                  <a:lnTo>
                    <a:pt x="326" y="25"/>
                  </a:lnTo>
                  <a:lnTo>
                    <a:pt x="329" y="26"/>
                  </a:lnTo>
                  <a:lnTo>
                    <a:pt x="333" y="30"/>
                  </a:lnTo>
                  <a:lnTo>
                    <a:pt x="336" y="33"/>
                  </a:lnTo>
                  <a:lnTo>
                    <a:pt x="338" y="36"/>
                  </a:lnTo>
                  <a:lnTo>
                    <a:pt x="339" y="41"/>
                  </a:lnTo>
                  <a:lnTo>
                    <a:pt x="339" y="45"/>
                  </a:lnTo>
                  <a:lnTo>
                    <a:pt x="339" y="51"/>
                  </a:lnTo>
                  <a:lnTo>
                    <a:pt x="338" y="54"/>
                  </a:lnTo>
                  <a:lnTo>
                    <a:pt x="336" y="58"/>
                  </a:lnTo>
                  <a:lnTo>
                    <a:pt x="333" y="62"/>
                  </a:lnTo>
                  <a:lnTo>
                    <a:pt x="329" y="64"/>
                  </a:lnTo>
                  <a:lnTo>
                    <a:pt x="326" y="66"/>
                  </a:lnTo>
                  <a:lnTo>
                    <a:pt x="322" y="67"/>
                  </a:lnTo>
                  <a:lnTo>
                    <a:pt x="317" y="68"/>
                  </a:lnTo>
                  <a:lnTo>
                    <a:pt x="313" y="67"/>
                  </a:lnTo>
                  <a:lnTo>
                    <a:pt x="308" y="66"/>
                  </a:lnTo>
                  <a:lnTo>
                    <a:pt x="304" y="64"/>
                  </a:lnTo>
                  <a:lnTo>
                    <a:pt x="301" y="62"/>
                  </a:lnTo>
                  <a:lnTo>
                    <a:pt x="298" y="58"/>
                  </a:lnTo>
                  <a:lnTo>
                    <a:pt x="296" y="54"/>
                  </a:lnTo>
                  <a:lnTo>
                    <a:pt x="295" y="51"/>
                  </a:lnTo>
                  <a:lnTo>
                    <a:pt x="294" y="45"/>
                  </a:lnTo>
                  <a:lnTo>
                    <a:pt x="295" y="41"/>
                  </a:lnTo>
                  <a:lnTo>
                    <a:pt x="296" y="36"/>
                  </a:lnTo>
                  <a:lnTo>
                    <a:pt x="298" y="33"/>
                  </a:lnTo>
                  <a:lnTo>
                    <a:pt x="301" y="30"/>
                  </a:lnTo>
                  <a:lnTo>
                    <a:pt x="304" y="26"/>
                  </a:lnTo>
                  <a:lnTo>
                    <a:pt x="308" y="25"/>
                  </a:lnTo>
                  <a:lnTo>
                    <a:pt x="313" y="23"/>
                  </a:lnTo>
                  <a:lnTo>
                    <a:pt x="317" y="23"/>
                  </a:lnTo>
                  <a:close/>
                  <a:moveTo>
                    <a:pt x="0" y="31"/>
                  </a:moveTo>
                  <a:lnTo>
                    <a:pt x="1" y="39"/>
                  </a:lnTo>
                  <a:lnTo>
                    <a:pt x="2" y="48"/>
                  </a:lnTo>
                  <a:lnTo>
                    <a:pt x="4" y="57"/>
                  </a:lnTo>
                  <a:lnTo>
                    <a:pt x="7" y="66"/>
                  </a:lnTo>
                  <a:lnTo>
                    <a:pt x="11" y="74"/>
                  </a:lnTo>
                  <a:lnTo>
                    <a:pt x="15" y="80"/>
                  </a:lnTo>
                  <a:lnTo>
                    <a:pt x="21" y="88"/>
                  </a:lnTo>
                  <a:lnTo>
                    <a:pt x="26" y="95"/>
                  </a:lnTo>
                  <a:lnTo>
                    <a:pt x="33" y="100"/>
                  </a:lnTo>
                  <a:lnTo>
                    <a:pt x="40" y="106"/>
                  </a:lnTo>
                  <a:lnTo>
                    <a:pt x="47" y="110"/>
                  </a:lnTo>
                  <a:lnTo>
                    <a:pt x="55" y="114"/>
                  </a:lnTo>
                  <a:lnTo>
                    <a:pt x="64" y="117"/>
                  </a:lnTo>
                  <a:lnTo>
                    <a:pt x="73" y="119"/>
                  </a:lnTo>
                  <a:lnTo>
                    <a:pt x="82" y="120"/>
                  </a:lnTo>
                  <a:lnTo>
                    <a:pt x="90" y="121"/>
                  </a:lnTo>
                  <a:lnTo>
                    <a:pt x="302" y="121"/>
                  </a:lnTo>
                  <a:lnTo>
                    <a:pt x="302" y="151"/>
                  </a:lnTo>
                  <a:lnTo>
                    <a:pt x="166" y="151"/>
                  </a:lnTo>
                  <a:lnTo>
                    <a:pt x="163" y="151"/>
                  </a:lnTo>
                  <a:lnTo>
                    <a:pt x="160" y="152"/>
                  </a:lnTo>
                  <a:lnTo>
                    <a:pt x="158" y="153"/>
                  </a:lnTo>
                  <a:lnTo>
                    <a:pt x="156" y="156"/>
                  </a:lnTo>
                  <a:lnTo>
                    <a:pt x="153" y="158"/>
                  </a:lnTo>
                  <a:lnTo>
                    <a:pt x="152" y="160"/>
                  </a:lnTo>
                  <a:lnTo>
                    <a:pt x="151" y="163"/>
                  </a:lnTo>
                  <a:lnTo>
                    <a:pt x="151" y="167"/>
                  </a:lnTo>
                  <a:lnTo>
                    <a:pt x="151" y="169"/>
                  </a:lnTo>
                  <a:lnTo>
                    <a:pt x="152" y="172"/>
                  </a:lnTo>
                  <a:lnTo>
                    <a:pt x="153" y="174"/>
                  </a:lnTo>
                  <a:lnTo>
                    <a:pt x="156" y="177"/>
                  </a:lnTo>
                  <a:lnTo>
                    <a:pt x="158" y="179"/>
                  </a:lnTo>
                  <a:lnTo>
                    <a:pt x="160" y="180"/>
                  </a:lnTo>
                  <a:lnTo>
                    <a:pt x="163" y="181"/>
                  </a:lnTo>
                  <a:lnTo>
                    <a:pt x="166" y="181"/>
                  </a:lnTo>
                  <a:lnTo>
                    <a:pt x="468" y="181"/>
                  </a:lnTo>
                  <a:lnTo>
                    <a:pt x="471" y="181"/>
                  </a:lnTo>
                  <a:lnTo>
                    <a:pt x="474" y="180"/>
                  </a:lnTo>
                  <a:lnTo>
                    <a:pt x="476" y="179"/>
                  </a:lnTo>
                  <a:lnTo>
                    <a:pt x="479" y="177"/>
                  </a:lnTo>
                  <a:lnTo>
                    <a:pt x="481" y="174"/>
                  </a:lnTo>
                  <a:lnTo>
                    <a:pt x="482" y="172"/>
                  </a:lnTo>
                  <a:lnTo>
                    <a:pt x="483" y="169"/>
                  </a:lnTo>
                  <a:lnTo>
                    <a:pt x="483" y="167"/>
                  </a:lnTo>
                  <a:lnTo>
                    <a:pt x="483" y="163"/>
                  </a:lnTo>
                  <a:lnTo>
                    <a:pt x="482" y="160"/>
                  </a:lnTo>
                  <a:lnTo>
                    <a:pt x="481" y="158"/>
                  </a:lnTo>
                  <a:lnTo>
                    <a:pt x="479" y="156"/>
                  </a:lnTo>
                  <a:lnTo>
                    <a:pt x="476" y="153"/>
                  </a:lnTo>
                  <a:lnTo>
                    <a:pt x="474" y="152"/>
                  </a:lnTo>
                  <a:lnTo>
                    <a:pt x="471" y="151"/>
                  </a:lnTo>
                  <a:lnTo>
                    <a:pt x="468" y="151"/>
                  </a:lnTo>
                  <a:lnTo>
                    <a:pt x="332" y="151"/>
                  </a:lnTo>
                  <a:lnTo>
                    <a:pt x="332" y="121"/>
                  </a:lnTo>
                  <a:lnTo>
                    <a:pt x="543" y="121"/>
                  </a:lnTo>
                  <a:lnTo>
                    <a:pt x="553" y="120"/>
                  </a:lnTo>
                  <a:lnTo>
                    <a:pt x="562" y="119"/>
                  </a:lnTo>
                  <a:lnTo>
                    <a:pt x="570" y="117"/>
                  </a:lnTo>
                  <a:lnTo>
                    <a:pt x="578" y="114"/>
                  </a:lnTo>
                  <a:lnTo>
                    <a:pt x="586" y="110"/>
                  </a:lnTo>
                  <a:lnTo>
                    <a:pt x="594" y="106"/>
                  </a:lnTo>
                  <a:lnTo>
                    <a:pt x="600" y="100"/>
                  </a:lnTo>
                  <a:lnTo>
                    <a:pt x="607" y="95"/>
                  </a:lnTo>
                  <a:lnTo>
                    <a:pt x="614" y="88"/>
                  </a:lnTo>
                  <a:lnTo>
                    <a:pt x="618" y="80"/>
                  </a:lnTo>
                  <a:lnTo>
                    <a:pt x="622" y="74"/>
                  </a:lnTo>
                  <a:lnTo>
                    <a:pt x="627" y="66"/>
                  </a:lnTo>
                  <a:lnTo>
                    <a:pt x="630" y="57"/>
                  </a:lnTo>
                  <a:lnTo>
                    <a:pt x="632" y="48"/>
                  </a:lnTo>
                  <a:lnTo>
                    <a:pt x="633" y="39"/>
                  </a:lnTo>
                  <a:lnTo>
                    <a:pt x="633" y="31"/>
                  </a:lnTo>
                  <a:lnTo>
                    <a:pt x="633" y="0"/>
                  </a:lnTo>
                  <a:lnTo>
                    <a:pt x="0" y="0"/>
                  </a:lnTo>
                  <a:lnTo>
                    <a:pt x="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87579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D33B6BF4-2C08-4464-A4ED-A7F5F991F0BF}"/>
              </a:ext>
            </a:extLst>
          </p:cNvPr>
          <p:cNvSpPr>
            <a:spLocks noGrp="1"/>
          </p:cNvSpPr>
          <p:nvPr>
            <p:ph type="title"/>
          </p:nvPr>
        </p:nvSpPr>
        <p:spPr/>
        <p:txBody>
          <a:bodyPr/>
          <a:lstStyle/>
          <a:p>
            <a:r>
              <a:rPr lang="en-US" dirty="0"/>
              <a:t>Project analysis slide 7</a:t>
            </a:r>
          </a:p>
        </p:txBody>
      </p:sp>
      <p:sp>
        <p:nvSpPr>
          <p:cNvPr id="7" name="Content Placeholder 6">
            <a:extLst>
              <a:ext uri="{FF2B5EF4-FFF2-40B4-BE49-F238E27FC236}">
                <a16:creationId xmlns:a16="http://schemas.microsoft.com/office/drawing/2014/main" id="{67149B44-59AD-4690-80C9-E1BD6CD00D07}"/>
              </a:ext>
            </a:extLst>
          </p:cNvPr>
          <p:cNvSpPr>
            <a:spLocks noGrp="1"/>
          </p:cNvSpPr>
          <p:nvPr>
            <p:ph idx="1"/>
          </p:nvPr>
        </p:nvSpPr>
        <p:spPr/>
        <p:txBody>
          <a:bodyPr/>
          <a:lstStyle/>
          <a:p>
            <a:endParaRPr lang="en-US" dirty="0"/>
          </a:p>
        </p:txBody>
      </p:sp>
      <p:sp>
        <p:nvSpPr>
          <p:cNvPr id="6" name="Slide Number Placeholder 5">
            <a:extLst>
              <a:ext uri="{FF2B5EF4-FFF2-40B4-BE49-F238E27FC236}">
                <a16:creationId xmlns:a16="http://schemas.microsoft.com/office/drawing/2014/main" id="{8C0551EA-9F3C-4E6B-8292-6C64ABE1C797}"/>
              </a:ext>
            </a:extLst>
          </p:cNvPr>
          <p:cNvSpPr>
            <a:spLocks noGrp="1"/>
          </p:cNvSpPr>
          <p:nvPr>
            <p:ph type="sldNum" sz="quarter" idx="12"/>
          </p:nvPr>
        </p:nvSpPr>
        <p:spPr/>
        <p:txBody>
          <a:bodyPr/>
          <a:lstStyle/>
          <a:p>
            <a:fld id="{06FEDF93-2BFD-41CA-ABC7-B039102F3792}" type="slidenum">
              <a:rPr lang="en-US" smtClean="0"/>
              <a:pPr/>
              <a:t>9</a:t>
            </a:fld>
            <a:endParaRPr lang="en-US"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403797" y="19083"/>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4293C5FE-8B5A-43A8-B602-44F133628917}"/>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964200282"/>
              </p:ext>
            </p:extLst>
          </p:nvPr>
        </p:nvGraphicFramePr>
        <p:xfrm>
          <a:off x="782192" y="1823451"/>
          <a:ext cx="10978010" cy="3440944"/>
        </p:xfrm>
        <a:graphic>
          <a:graphicData uri="http://schemas.openxmlformats.org/drawingml/2006/table">
            <a:tbl>
              <a:tblPr firstRow="1" bandRow="1">
                <a:tableStyleId>{5C22544A-7EE6-4342-B048-85BDC9FD1C3A}</a:tableStyleId>
              </a:tblPr>
              <a:tblGrid>
                <a:gridCol w="1097801">
                  <a:extLst>
                    <a:ext uri="{9D8B030D-6E8A-4147-A177-3AD203B41FA5}">
                      <a16:colId xmlns:a16="http://schemas.microsoft.com/office/drawing/2014/main" val="1064767228"/>
                    </a:ext>
                  </a:extLst>
                </a:gridCol>
                <a:gridCol w="1097801">
                  <a:extLst>
                    <a:ext uri="{9D8B030D-6E8A-4147-A177-3AD203B41FA5}">
                      <a16:colId xmlns:a16="http://schemas.microsoft.com/office/drawing/2014/main" val="2110247153"/>
                    </a:ext>
                  </a:extLst>
                </a:gridCol>
                <a:gridCol w="1097801">
                  <a:extLst>
                    <a:ext uri="{9D8B030D-6E8A-4147-A177-3AD203B41FA5}">
                      <a16:colId xmlns:a16="http://schemas.microsoft.com/office/drawing/2014/main" val="1671774837"/>
                    </a:ext>
                  </a:extLst>
                </a:gridCol>
                <a:gridCol w="1097801">
                  <a:extLst>
                    <a:ext uri="{9D8B030D-6E8A-4147-A177-3AD203B41FA5}">
                      <a16:colId xmlns:a16="http://schemas.microsoft.com/office/drawing/2014/main" val="1042921663"/>
                    </a:ext>
                  </a:extLst>
                </a:gridCol>
                <a:gridCol w="1097801">
                  <a:extLst>
                    <a:ext uri="{9D8B030D-6E8A-4147-A177-3AD203B41FA5}">
                      <a16:colId xmlns:a16="http://schemas.microsoft.com/office/drawing/2014/main" val="1140046485"/>
                    </a:ext>
                  </a:extLst>
                </a:gridCol>
                <a:gridCol w="1097801">
                  <a:extLst>
                    <a:ext uri="{9D8B030D-6E8A-4147-A177-3AD203B41FA5}">
                      <a16:colId xmlns:a16="http://schemas.microsoft.com/office/drawing/2014/main" val="1773304150"/>
                    </a:ext>
                  </a:extLst>
                </a:gridCol>
                <a:gridCol w="1097801">
                  <a:extLst>
                    <a:ext uri="{9D8B030D-6E8A-4147-A177-3AD203B41FA5}">
                      <a16:colId xmlns:a16="http://schemas.microsoft.com/office/drawing/2014/main" val="1528819555"/>
                    </a:ext>
                  </a:extLst>
                </a:gridCol>
                <a:gridCol w="1097801">
                  <a:extLst>
                    <a:ext uri="{9D8B030D-6E8A-4147-A177-3AD203B41FA5}">
                      <a16:colId xmlns:a16="http://schemas.microsoft.com/office/drawing/2014/main" val="3985123976"/>
                    </a:ext>
                  </a:extLst>
                </a:gridCol>
                <a:gridCol w="1097801">
                  <a:extLst>
                    <a:ext uri="{9D8B030D-6E8A-4147-A177-3AD203B41FA5}">
                      <a16:colId xmlns:a16="http://schemas.microsoft.com/office/drawing/2014/main" val="1999644776"/>
                    </a:ext>
                  </a:extLst>
                </a:gridCol>
                <a:gridCol w="1097801">
                  <a:extLst>
                    <a:ext uri="{9D8B030D-6E8A-4147-A177-3AD203B41FA5}">
                      <a16:colId xmlns:a16="http://schemas.microsoft.com/office/drawing/2014/main" val="1607982248"/>
                    </a:ext>
                  </a:extLst>
                </a:gridCol>
              </a:tblGrid>
              <a:tr h="430118">
                <a:tc>
                  <a:txBody>
                    <a:bodyPr/>
                    <a:lstStyle/>
                    <a:p>
                      <a:endParaRPr lang="en-US" dirty="0"/>
                    </a:p>
                  </a:txBody>
                  <a:tcPr>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4">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4">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4">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4">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solidFill>
                      <a:schemeClr val="accent3">
                        <a:lumMod val="75000"/>
                      </a:schemeClr>
                    </a:solidFill>
                  </a:tcPr>
                </a:tc>
                <a:tc>
                  <a:txBody>
                    <a:bodyPr/>
                    <a:lstStyle/>
                    <a:p>
                      <a:endParaRPr lang="en-US" dirty="0"/>
                    </a:p>
                  </a:txBody>
                  <a:tcPr>
                    <a:lnL w="6350" cap="flat" cmpd="sng" algn="ctr">
                      <a:solidFill>
                        <a:schemeClr val="bg1"/>
                      </a:solidFill>
                      <a:prstDash val="solid"/>
                      <a:round/>
                      <a:headEnd type="none" w="med" len="med"/>
                      <a:tailEnd type="none" w="med" len="med"/>
                    </a:lnL>
                    <a:lnB w="6350" cap="flat" cmpd="sng" algn="ctr">
                      <a:solidFill>
                        <a:schemeClr val="bg1"/>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1216711411"/>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818672463"/>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92303603"/>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967257650"/>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43268816"/>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459237457"/>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00174924"/>
                  </a:ext>
                </a:extLst>
              </a:tr>
              <a:tr h="430118">
                <a:tc>
                  <a:txBody>
                    <a:bodyPr/>
                    <a:lstStyle/>
                    <a:p>
                      <a:pPr algn="ctr"/>
                      <a:endParaRPr lang="en-US" sz="1600" dirty="0">
                        <a:solidFill>
                          <a:schemeClr val="tx1"/>
                        </a:solidFill>
                      </a:endParaRP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chemeClr val="bg2"/>
                    </a:solidFill>
                  </a:tcPr>
                </a:tc>
                <a:tc>
                  <a:txBody>
                    <a:bodyPr/>
                    <a:lstStyle/>
                    <a:p>
                      <a:pPr algn="ct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solidFill>
                      <a:schemeClr val="bg2"/>
                    </a:solidFill>
                  </a:tcPr>
                </a:tc>
                <a:extLst>
                  <a:ext uri="{0D108BD9-81ED-4DB2-BD59-A6C34878D82A}">
                    <a16:rowId xmlns:a16="http://schemas.microsoft.com/office/drawing/2014/main" val="3154256183"/>
                  </a:ext>
                </a:extLst>
              </a:tr>
            </a:tbl>
          </a:graphicData>
        </a:graphic>
      </p:graphicFrame>
      <p:sp>
        <p:nvSpPr>
          <p:cNvPr id="131" name="Freeform 1837" descr="Marker with plus mark. ">
            <a:extLst>
              <a:ext uri="{FF2B5EF4-FFF2-40B4-BE49-F238E27FC236}">
                <a16:creationId xmlns:a16="http://schemas.microsoft.com/office/drawing/2014/main" id="{160F3D2A-DDEB-465E-AAD3-D5DF7B6D5B43}"/>
              </a:ext>
            </a:extLst>
          </p:cNvPr>
          <p:cNvSpPr>
            <a:spLocks noEditPoints="1"/>
          </p:cNvSpPr>
          <p:nvPr/>
        </p:nvSpPr>
        <p:spPr bwMode="auto">
          <a:xfrm>
            <a:off x="845745" y="1876981"/>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2" name="Freeform 1838" descr="Marker with minus sign. ">
            <a:extLst>
              <a:ext uri="{FF2B5EF4-FFF2-40B4-BE49-F238E27FC236}">
                <a16:creationId xmlns:a16="http://schemas.microsoft.com/office/drawing/2014/main" id="{B5F2BF4D-A7CC-4EBB-95EE-71610004A3D7}"/>
              </a:ext>
            </a:extLst>
          </p:cNvPr>
          <p:cNvSpPr>
            <a:spLocks noEditPoints="1"/>
          </p:cNvSpPr>
          <p:nvPr/>
        </p:nvSpPr>
        <p:spPr bwMode="auto">
          <a:xfrm>
            <a:off x="1989538" y="2385217"/>
            <a:ext cx="276225" cy="276225"/>
          </a:xfrm>
          <a:custGeom>
            <a:avLst/>
            <a:gdLst>
              <a:gd name="T0" fmla="*/ 526 w 695"/>
              <a:gd name="T1" fmla="*/ 362 h 695"/>
              <a:gd name="T2" fmla="*/ 162 w 695"/>
              <a:gd name="T3" fmla="*/ 362 h 695"/>
              <a:gd name="T4" fmla="*/ 158 w 695"/>
              <a:gd name="T5" fmla="*/ 361 h 695"/>
              <a:gd name="T6" fmla="*/ 155 w 695"/>
              <a:gd name="T7" fmla="*/ 359 h 695"/>
              <a:gd name="T8" fmla="*/ 151 w 695"/>
              <a:gd name="T9" fmla="*/ 356 h 695"/>
              <a:gd name="T10" fmla="*/ 151 w 695"/>
              <a:gd name="T11" fmla="*/ 350 h 695"/>
              <a:gd name="T12" fmla="*/ 151 w 695"/>
              <a:gd name="T13" fmla="*/ 346 h 695"/>
              <a:gd name="T14" fmla="*/ 155 w 695"/>
              <a:gd name="T15" fmla="*/ 342 h 695"/>
              <a:gd name="T16" fmla="*/ 158 w 695"/>
              <a:gd name="T17" fmla="*/ 339 h 695"/>
              <a:gd name="T18" fmla="*/ 162 w 695"/>
              <a:gd name="T19" fmla="*/ 339 h 695"/>
              <a:gd name="T20" fmla="*/ 526 w 695"/>
              <a:gd name="T21" fmla="*/ 339 h 695"/>
              <a:gd name="T22" fmla="*/ 530 w 695"/>
              <a:gd name="T23" fmla="*/ 339 h 695"/>
              <a:gd name="T24" fmla="*/ 533 w 695"/>
              <a:gd name="T25" fmla="*/ 342 h 695"/>
              <a:gd name="T26" fmla="*/ 537 w 695"/>
              <a:gd name="T27" fmla="*/ 346 h 695"/>
              <a:gd name="T28" fmla="*/ 537 w 695"/>
              <a:gd name="T29" fmla="*/ 350 h 695"/>
              <a:gd name="T30" fmla="*/ 537 w 695"/>
              <a:gd name="T31" fmla="*/ 356 h 695"/>
              <a:gd name="T32" fmla="*/ 533 w 695"/>
              <a:gd name="T33" fmla="*/ 359 h 695"/>
              <a:gd name="T34" fmla="*/ 530 w 695"/>
              <a:gd name="T35" fmla="*/ 361 h 695"/>
              <a:gd name="T36" fmla="*/ 526 w 695"/>
              <a:gd name="T37" fmla="*/ 362 h 695"/>
              <a:gd name="T38" fmla="*/ 682 w 695"/>
              <a:gd name="T39" fmla="*/ 0 h 695"/>
              <a:gd name="T40" fmla="*/ 12 w 695"/>
              <a:gd name="T41" fmla="*/ 0 h 695"/>
              <a:gd name="T42" fmla="*/ 7 w 695"/>
              <a:gd name="T43" fmla="*/ 1 h 695"/>
              <a:gd name="T44" fmla="*/ 3 w 695"/>
              <a:gd name="T45" fmla="*/ 3 h 695"/>
              <a:gd name="T46" fmla="*/ 1 w 695"/>
              <a:gd name="T47" fmla="*/ 7 h 695"/>
              <a:gd name="T48" fmla="*/ 0 w 695"/>
              <a:gd name="T49" fmla="*/ 11 h 695"/>
              <a:gd name="T50" fmla="*/ 0 w 695"/>
              <a:gd name="T51" fmla="*/ 683 h 695"/>
              <a:gd name="T52" fmla="*/ 1 w 695"/>
              <a:gd name="T53" fmla="*/ 687 h 695"/>
              <a:gd name="T54" fmla="*/ 3 w 695"/>
              <a:gd name="T55" fmla="*/ 691 h 695"/>
              <a:gd name="T56" fmla="*/ 7 w 695"/>
              <a:gd name="T57" fmla="*/ 694 h 695"/>
              <a:gd name="T58" fmla="*/ 12 w 695"/>
              <a:gd name="T59" fmla="*/ 695 h 695"/>
              <a:gd name="T60" fmla="*/ 682 w 695"/>
              <a:gd name="T61" fmla="*/ 695 h 695"/>
              <a:gd name="T62" fmla="*/ 687 w 695"/>
              <a:gd name="T63" fmla="*/ 694 h 695"/>
              <a:gd name="T64" fmla="*/ 691 w 695"/>
              <a:gd name="T65" fmla="*/ 691 h 695"/>
              <a:gd name="T66" fmla="*/ 694 w 695"/>
              <a:gd name="T67" fmla="*/ 687 h 695"/>
              <a:gd name="T68" fmla="*/ 695 w 695"/>
              <a:gd name="T69" fmla="*/ 683 h 695"/>
              <a:gd name="T70" fmla="*/ 695 w 695"/>
              <a:gd name="T71" fmla="*/ 11 h 695"/>
              <a:gd name="T72" fmla="*/ 694 w 695"/>
              <a:gd name="T73" fmla="*/ 7 h 695"/>
              <a:gd name="T74" fmla="*/ 691 w 695"/>
              <a:gd name="T75" fmla="*/ 3 h 695"/>
              <a:gd name="T76" fmla="*/ 687 w 695"/>
              <a:gd name="T77" fmla="*/ 1 h 695"/>
              <a:gd name="T78" fmla="*/ 682 w 695"/>
              <a:gd name="T79"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5" h="695">
                <a:moveTo>
                  <a:pt x="526" y="362"/>
                </a:moveTo>
                <a:lnTo>
                  <a:pt x="162" y="362"/>
                </a:lnTo>
                <a:lnTo>
                  <a:pt x="158" y="361"/>
                </a:lnTo>
                <a:lnTo>
                  <a:pt x="155" y="359"/>
                </a:lnTo>
                <a:lnTo>
                  <a:pt x="151" y="356"/>
                </a:lnTo>
                <a:lnTo>
                  <a:pt x="151" y="350"/>
                </a:lnTo>
                <a:lnTo>
                  <a:pt x="151" y="346"/>
                </a:lnTo>
                <a:lnTo>
                  <a:pt x="155" y="342"/>
                </a:lnTo>
                <a:lnTo>
                  <a:pt x="158" y="339"/>
                </a:lnTo>
                <a:lnTo>
                  <a:pt x="162" y="339"/>
                </a:lnTo>
                <a:lnTo>
                  <a:pt x="526" y="339"/>
                </a:lnTo>
                <a:lnTo>
                  <a:pt x="530" y="339"/>
                </a:lnTo>
                <a:lnTo>
                  <a:pt x="533" y="342"/>
                </a:lnTo>
                <a:lnTo>
                  <a:pt x="537" y="346"/>
                </a:lnTo>
                <a:lnTo>
                  <a:pt x="537" y="350"/>
                </a:lnTo>
                <a:lnTo>
                  <a:pt x="537" y="356"/>
                </a:lnTo>
                <a:lnTo>
                  <a:pt x="533" y="359"/>
                </a:lnTo>
                <a:lnTo>
                  <a:pt x="530" y="361"/>
                </a:lnTo>
                <a:lnTo>
                  <a:pt x="526" y="362"/>
                </a:lnTo>
                <a:close/>
                <a:moveTo>
                  <a:pt x="682" y="0"/>
                </a:moveTo>
                <a:lnTo>
                  <a:pt x="12" y="0"/>
                </a:lnTo>
                <a:lnTo>
                  <a:pt x="7" y="1"/>
                </a:lnTo>
                <a:lnTo>
                  <a:pt x="3" y="3"/>
                </a:lnTo>
                <a:lnTo>
                  <a:pt x="1" y="7"/>
                </a:lnTo>
                <a:lnTo>
                  <a:pt x="0" y="11"/>
                </a:lnTo>
                <a:lnTo>
                  <a:pt x="0" y="683"/>
                </a:lnTo>
                <a:lnTo>
                  <a:pt x="1" y="687"/>
                </a:lnTo>
                <a:lnTo>
                  <a:pt x="3" y="691"/>
                </a:lnTo>
                <a:lnTo>
                  <a:pt x="7" y="694"/>
                </a:lnTo>
                <a:lnTo>
                  <a:pt x="12" y="695"/>
                </a:lnTo>
                <a:lnTo>
                  <a:pt x="682" y="695"/>
                </a:lnTo>
                <a:lnTo>
                  <a:pt x="687" y="694"/>
                </a:lnTo>
                <a:lnTo>
                  <a:pt x="691" y="691"/>
                </a:lnTo>
                <a:lnTo>
                  <a:pt x="694" y="687"/>
                </a:lnTo>
                <a:lnTo>
                  <a:pt x="695" y="683"/>
                </a:lnTo>
                <a:lnTo>
                  <a:pt x="695" y="11"/>
                </a:lnTo>
                <a:lnTo>
                  <a:pt x="694" y="7"/>
                </a:lnTo>
                <a:lnTo>
                  <a:pt x="691" y="3"/>
                </a:lnTo>
                <a:lnTo>
                  <a:pt x="687" y="1"/>
                </a:lnTo>
                <a:lnTo>
                  <a:pt x="682"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3" name="Freeform 1839" descr="Marker with multiplication sign. ">
            <a:extLst>
              <a:ext uri="{FF2B5EF4-FFF2-40B4-BE49-F238E27FC236}">
                <a16:creationId xmlns:a16="http://schemas.microsoft.com/office/drawing/2014/main" id="{C1376BF3-C8B4-42C0-BF77-D3FADEB8D226}"/>
              </a:ext>
            </a:extLst>
          </p:cNvPr>
          <p:cNvSpPr>
            <a:spLocks noEditPoints="1"/>
          </p:cNvSpPr>
          <p:nvPr/>
        </p:nvSpPr>
        <p:spPr bwMode="auto">
          <a:xfrm>
            <a:off x="1978823" y="3385358"/>
            <a:ext cx="276225" cy="276225"/>
          </a:xfrm>
          <a:custGeom>
            <a:avLst/>
            <a:gdLst>
              <a:gd name="T0" fmla="*/ 488 w 695"/>
              <a:gd name="T1" fmla="*/ 471 h 695"/>
              <a:gd name="T2" fmla="*/ 490 w 695"/>
              <a:gd name="T3" fmla="*/ 475 h 695"/>
              <a:gd name="T4" fmla="*/ 491 w 695"/>
              <a:gd name="T5" fmla="*/ 479 h 695"/>
              <a:gd name="T6" fmla="*/ 490 w 695"/>
              <a:gd name="T7" fmla="*/ 484 h 695"/>
              <a:gd name="T8" fmla="*/ 488 w 695"/>
              <a:gd name="T9" fmla="*/ 487 h 695"/>
              <a:gd name="T10" fmla="*/ 483 w 695"/>
              <a:gd name="T11" fmla="*/ 490 h 695"/>
              <a:gd name="T12" fmla="*/ 479 w 695"/>
              <a:gd name="T13" fmla="*/ 490 h 695"/>
              <a:gd name="T14" fmla="*/ 475 w 695"/>
              <a:gd name="T15" fmla="*/ 490 h 695"/>
              <a:gd name="T16" fmla="*/ 471 w 695"/>
              <a:gd name="T17" fmla="*/ 487 h 695"/>
              <a:gd name="T18" fmla="*/ 348 w 695"/>
              <a:gd name="T19" fmla="*/ 365 h 695"/>
              <a:gd name="T20" fmla="*/ 225 w 695"/>
              <a:gd name="T21" fmla="*/ 487 h 695"/>
              <a:gd name="T22" fmla="*/ 221 w 695"/>
              <a:gd name="T23" fmla="*/ 490 h 695"/>
              <a:gd name="T24" fmla="*/ 216 w 695"/>
              <a:gd name="T25" fmla="*/ 490 h 695"/>
              <a:gd name="T26" fmla="*/ 212 w 695"/>
              <a:gd name="T27" fmla="*/ 490 h 695"/>
              <a:gd name="T28" fmla="*/ 207 w 695"/>
              <a:gd name="T29" fmla="*/ 487 h 695"/>
              <a:gd name="T30" fmla="*/ 205 w 695"/>
              <a:gd name="T31" fmla="*/ 483 h 695"/>
              <a:gd name="T32" fmla="*/ 204 w 695"/>
              <a:gd name="T33" fmla="*/ 478 h 695"/>
              <a:gd name="T34" fmla="*/ 205 w 695"/>
              <a:gd name="T35" fmla="*/ 474 h 695"/>
              <a:gd name="T36" fmla="*/ 207 w 695"/>
              <a:gd name="T37" fmla="*/ 471 h 695"/>
              <a:gd name="T38" fmla="*/ 331 w 695"/>
              <a:gd name="T39" fmla="*/ 347 h 695"/>
              <a:gd name="T40" fmla="*/ 207 w 695"/>
              <a:gd name="T41" fmla="*/ 223 h 695"/>
              <a:gd name="T42" fmla="*/ 205 w 695"/>
              <a:gd name="T43" fmla="*/ 220 h 695"/>
              <a:gd name="T44" fmla="*/ 204 w 695"/>
              <a:gd name="T45" fmla="*/ 215 h 695"/>
              <a:gd name="T46" fmla="*/ 205 w 695"/>
              <a:gd name="T47" fmla="*/ 211 h 695"/>
              <a:gd name="T48" fmla="*/ 207 w 695"/>
              <a:gd name="T49" fmla="*/ 207 h 695"/>
              <a:gd name="T50" fmla="*/ 212 w 695"/>
              <a:gd name="T51" fmla="*/ 204 h 695"/>
              <a:gd name="T52" fmla="*/ 216 w 695"/>
              <a:gd name="T53" fmla="*/ 203 h 695"/>
              <a:gd name="T54" fmla="*/ 221 w 695"/>
              <a:gd name="T55" fmla="*/ 204 h 695"/>
              <a:gd name="T56" fmla="*/ 224 w 695"/>
              <a:gd name="T57" fmla="*/ 207 h 695"/>
              <a:gd name="T58" fmla="*/ 348 w 695"/>
              <a:gd name="T59" fmla="*/ 330 h 695"/>
              <a:gd name="T60" fmla="*/ 471 w 695"/>
              <a:gd name="T61" fmla="*/ 207 h 695"/>
              <a:gd name="T62" fmla="*/ 475 w 695"/>
              <a:gd name="T63" fmla="*/ 204 h 695"/>
              <a:gd name="T64" fmla="*/ 479 w 695"/>
              <a:gd name="T65" fmla="*/ 203 h 695"/>
              <a:gd name="T66" fmla="*/ 483 w 695"/>
              <a:gd name="T67" fmla="*/ 204 h 695"/>
              <a:gd name="T68" fmla="*/ 488 w 695"/>
              <a:gd name="T69" fmla="*/ 207 h 695"/>
              <a:gd name="T70" fmla="*/ 490 w 695"/>
              <a:gd name="T71" fmla="*/ 211 h 695"/>
              <a:gd name="T72" fmla="*/ 491 w 695"/>
              <a:gd name="T73" fmla="*/ 215 h 695"/>
              <a:gd name="T74" fmla="*/ 490 w 695"/>
              <a:gd name="T75" fmla="*/ 220 h 695"/>
              <a:gd name="T76" fmla="*/ 488 w 695"/>
              <a:gd name="T77" fmla="*/ 223 h 695"/>
              <a:gd name="T78" fmla="*/ 364 w 695"/>
              <a:gd name="T79" fmla="*/ 347 h 695"/>
              <a:gd name="T80" fmla="*/ 488 w 695"/>
              <a:gd name="T81" fmla="*/ 471 h 695"/>
              <a:gd name="T82" fmla="*/ 683 w 695"/>
              <a:gd name="T83" fmla="*/ 0 h 695"/>
              <a:gd name="T84" fmla="*/ 12 w 695"/>
              <a:gd name="T85" fmla="*/ 0 h 695"/>
              <a:gd name="T86" fmla="*/ 7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7 w 695"/>
              <a:gd name="T101" fmla="*/ 694 h 695"/>
              <a:gd name="T102" fmla="*/ 12 w 695"/>
              <a:gd name="T103" fmla="*/ 695 h 695"/>
              <a:gd name="T104" fmla="*/ 683 w 695"/>
              <a:gd name="T105" fmla="*/ 695 h 695"/>
              <a:gd name="T106" fmla="*/ 688 w 695"/>
              <a:gd name="T107" fmla="*/ 694 h 695"/>
              <a:gd name="T108" fmla="*/ 691 w 695"/>
              <a:gd name="T109" fmla="*/ 691 h 695"/>
              <a:gd name="T110" fmla="*/ 694 w 695"/>
              <a:gd name="T111" fmla="*/ 687 h 695"/>
              <a:gd name="T112" fmla="*/ 695 w 695"/>
              <a:gd name="T113" fmla="*/ 683 h 695"/>
              <a:gd name="T114" fmla="*/ 695 w 695"/>
              <a:gd name="T115" fmla="*/ 11 h 695"/>
              <a:gd name="T116" fmla="*/ 694 w 695"/>
              <a:gd name="T117" fmla="*/ 7 h 695"/>
              <a:gd name="T118" fmla="*/ 691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488" y="471"/>
                </a:moveTo>
                <a:lnTo>
                  <a:pt x="490" y="475"/>
                </a:lnTo>
                <a:lnTo>
                  <a:pt x="491" y="479"/>
                </a:lnTo>
                <a:lnTo>
                  <a:pt x="490" y="484"/>
                </a:lnTo>
                <a:lnTo>
                  <a:pt x="488" y="487"/>
                </a:lnTo>
                <a:lnTo>
                  <a:pt x="483" y="490"/>
                </a:lnTo>
                <a:lnTo>
                  <a:pt x="479" y="490"/>
                </a:lnTo>
                <a:lnTo>
                  <a:pt x="475" y="490"/>
                </a:lnTo>
                <a:lnTo>
                  <a:pt x="471" y="487"/>
                </a:lnTo>
                <a:lnTo>
                  <a:pt x="348" y="365"/>
                </a:lnTo>
                <a:lnTo>
                  <a:pt x="225" y="487"/>
                </a:lnTo>
                <a:lnTo>
                  <a:pt x="221" y="490"/>
                </a:lnTo>
                <a:lnTo>
                  <a:pt x="216" y="490"/>
                </a:lnTo>
                <a:lnTo>
                  <a:pt x="212" y="490"/>
                </a:lnTo>
                <a:lnTo>
                  <a:pt x="207" y="487"/>
                </a:lnTo>
                <a:lnTo>
                  <a:pt x="205" y="483"/>
                </a:lnTo>
                <a:lnTo>
                  <a:pt x="204" y="478"/>
                </a:lnTo>
                <a:lnTo>
                  <a:pt x="205" y="474"/>
                </a:lnTo>
                <a:lnTo>
                  <a:pt x="207" y="471"/>
                </a:lnTo>
                <a:lnTo>
                  <a:pt x="331" y="347"/>
                </a:lnTo>
                <a:lnTo>
                  <a:pt x="207" y="223"/>
                </a:lnTo>
                <a:lnTo>
                  <a:pt x="205" y="220"/>
                </a:lnTo>
                <a:lnTo>
                  <a:pt x="204" y="215"/>
                </a:lnTo>
                <a:lnTo>
                  <a:pt x="205" y="211"/>
                </a:lnTo>
                <a:lnTo>
                  <a:pt x="207" y="207"/>
                </a:lnTo>
                <a:lnTo>
                  <a:pt x="212" y="204"/>
                </a:lnTo>
                <a:lnTo>
                  <a:pt x="216" y="203"/>
                </a:lnTo>
                <a:lnTo>
                  <a:pt x="221" y="204"/>
                </a:lnTo>
                <a:lnTo>
                  <a:pt x="224" y="207"/>
                </a:lnTo>
                <a:lnTo>
                  <a:pt x="348" y="330"/>
                </a:lnTo>
                <a:lnTo>
                  <a:pt x="471" y="207"/>
                </a:lnTo>
                <a:lnTo>
                  <a:pt x="475" y="204"/>
                </a:lnTo>
                <a:lnTo>
                  <a:pt x="479" y="203"/>
                </a:lnTo>
                <a:lnTo>
                  <a:pt x="483" y="204"/>
                </a:lnTo>
                <a:lnTo>
                  <a:pt x="488" y="207"/>
                </a:lnTo>
                <a:lnTo>
                  <a:pt x="490" y="211"/>
                </a:lnTo>
                <a:lnTo>
                  <a:pt x="491" y="215"/>
                </a:lnTo>
                <a:lnTo>
                  <a:pt x="490" y="220"/>
                </a:lnTo>
                <a:lnTo>
                  <a:pt x="488" y="223"/>
                </a:lnTo>
                <a:lnTo>
                  <a:pt x="364" y="347"/>
                </a:lnTo>
                <a:lnTo>
                  <a:pt x="488" y="471"/>
                </a:lnTo>
                <a:close/>
                <a:moveTo>
                  <a:pt x="683" y="0"/>
                </a:moveTo>
                <a:lnTo>
                  <a:pt x="12" y="0"/>
                </a:lnTo>
                <a:lnTo>
                  <a:pt x="7" y="1"/>
                </a:lnTo>
                <a:lnTo>
                  <a:pt x="4" y="3"/>
                </a:lnTo>
                <a:lnTo>
                  <a:pt x="1" y="7"/>
                </a:lnTo>
                <a:lnTo>
                  <a:pt x="0" y="11"/>
                </a:lnTo>
                <a:lnTo>
                  <a:pt x="0" y="683"/>
                </a:lnTo>
                <a:lnTo>
                  <a:pt x="1" y="687"/>
                </a:lnTo>
                <a:lnTo>
                  <a:pt x="4" y="691"/>
                </a:lnTo>
                <a:lnTo>
                  <a:pt x="7" y="694"/>
                </a:lnTo>
                <a:lnTo>
                  <a:pt x="12" y="695"/>
                </a:lnTo>
                <a:lnTo>
                  <a:pt x="683" y="695"/>
                </a:lnTo>
                <a:lnTo>
                  <a:pt x="688" y="694"/>
                </a:lnTo>
                <a:lnTo>
                  <a:pt x="691" y="691"/>
                </a:lnTo>
                <a:lnTo>
                  <a:pt x="694" y="687"/>
                </a:lnTo>
                <a:lnTo>
                  <a:pt x="695" y="683"/>
                </a:lnTo>
                <a:lnTo>
                  <a:pt x="695" y="11"/>
                </a:lnTo>
                <a:lnTo>
                  <a:pt x="694" y="7"/>
                </a:lnTo>
                <a:lnTo>
                  <a:pt x="691"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4" name="Freeform 1839" descr="Marker with multiplication sign. ">
            <a:extLst>
              <a:ext uri="{FF2B5EF4-FFF2-40B4-BE49-F238E27FC236}">
                <a16:creationId xmlns:a16="http://schemas.microsoft.com/office/drawing/2014/main" id="{78429B93-7238-4139-A703-26ABDBFB1498}"/>
              </a:ext>
            </a:extLst>
          </p:cNvPr>
          <p:cNvSpPr>
            <a:spLocks noEditPoints="1"/>
          </p:cNvSpPr>
          <p:nvPr/>
        </p:nvSpPr>
        <p:spPr bwMode="auto">
          <a:xfrm>
            <a:off x="1978823" y="4382024"/>
            <a:ext cx="276225" cy="276225"/>
          </a:xfrm>
          <a:custGeom>
            <a:avLst/>
            <a:gdLst>
              <a:gd name="T0" fmla="*/ 488 w 695"/>
              <a:gd name="T1" fmla="*/ 471 h 695"/>
              <a:gd name="T2" fmla="*/ 490 w 695"/>
              <a:gd name="T3" fmla="*/ 475 h 695"/>
              <a:gd name="T4" fmla="*/ 491 w 695"/>
              <a:gd name="T5" fmla="*/ 479 h 695"/>
              <a:gd name="T6" fmla="*/ 490 w 695"/>
              <a:gd name="T7" fmla="*/ 484 h 695"/>
              <a:gd name="T8" fmla="*/ 488 w 695"/>
              <a:gd name="T9" fmla="*/ 487 h 695"/>
              <a:gd name="T10" fmla="*/ 483 w 695"/>
              <a:gd name="T11" fmla="*/ 490 h 695"/>
              <a:gd name="T12" fmla="*/ 479 w 695"/>
              <a:gd name="T13" fmla="*/ 490 h 695"/>
              <a:gd name="T14" fmla="*/ 475 w 695"/>
              <a:gd name="T15" fmla="*/ 490 h 695"/>
              <a:gd name="T16" fmla="*/ 471 w 695"/>
              <a:gd name="T17" fmla="*/ 487 h 695"/>
              <a:gd name="T18" fmla="*/ 348 w 695"/>
              <a:gd name="T19" fmla="*/ 365 h 695"/>
              <a:gd name="T20" fmla="*/ 225 w 695"/>
              <a:gd name="T21" fmla="*/ 487 h 695"/>
              <a:gd name="T22" fmla="*/ 221 w 695"/>
              <a:gd name="T23" fmla="*/ 490 h 695"/>
              <a:gd name="T24" fmla="*/ 216 w 695"/>
              <a:gd name="T25" fmla="*/ 490 h 695"/>
              <a:gd name="T26" fmla="*/ 212 w 695"/>
              <a:gd name="T27" fmla="*/ 490 h 695"/>
              <a:gd name="T28" fmla="*/ 207 w 695"/>
              <a:gd name="T29" fmla="*/ 487 h 695"/>
              <a:gd name="T30" fmla="*/ 205 w 695"/>
              <a:gd name="T31" fmla="*/ 483 h 695"/>
              <a:gd name="T32" fmla="*/ 204 w 695"/>
              <a:gd name="T33" fmla="*/ 478 h 695"/>
              <a:gd name="T34" fmla="*/ 205 w 695"/>
              <a:gd name="T35" fmla="*/ 474 h 695"/>
              <a:gd name="T36" fmla="*/ 207 w 695"/>
              <a:gd name="T37" fmla="*/ 471 h 695"/>
              <a:gd name="T38" fmla="*/ 331 w 695"/>
              <a:gd name="T39" fmla="*/ 347 h 695"/>
              <a:gd name="T40" fmla="*/ 207 w 695"/>
              <a:gd name="T41" fmla="*/ 223 h 695"/>
              <a:gd name="T42" fmla="*/ 205 w 695"/>
              <a:gd name="T43" fmla="*/ 220 h 695"/>
              <a:gd name="T44" fmla="*/ 204 w 695"/>
              <a:gd name="T45" fmla="*/ 215 h 695"/>
              <a:gd name="T46" fmla="*/ 205 w 695"/>
              <a:gd name="T47" fmla="*/ 211 h 695"/>
              <a:gd name="T48" fmla="*/ 207 w 695"/>
              <a:gd name="T49" fmla="*/ 207 h 695"/>
              <a:gd name="T50" fmla="*/ 212 w 695"/>
              <a:gd name="T51" fmla="*/ 204 h 695"/>
              <a:gd name="T52" fmla="*/ 216 w 695"/>
              <a:gd name="T53" fmla="*/ 203 h 695"/>
              <a:gd name="T54" fmla="*/ 221 w 695"/>
              <a:gd name="T55" fmla="*/ 204 h 695"/>
              <a:gd name="T56" fmla="*/ 224 w 695"/>
              <a:gd name="T57" fmla="*/ 207 h 695"/>
              <a:gd name="T58" fmla="*/ 348 w 695"/>
              <a:gd name="T59" fmla="*/ 330 h 695"/>
              <a:gd name="T60" fmla="*/ 471 w 695"/>
              <a:gd name="T61" fmla="*/ 207 h 695"/>
              <a:gd name="T62" fmla="*/ 475 w 695"/>
              <a:gd name="T63" fmla="*/ 204 h 695"/>
              <a:gd name="T64" fmla="*/ 479 w 695"/>
              <a:gd name="T65" fmla="*/ 203 h 695"/>
              <a:gd name="T66" fmla="*/ 483 w 695"/>
              <a:gd name="T67" fmla="*/ 204 h 695"/>
              <a:gd name="T68" fmla="*/ 488 w 695"/>
              <a:gd name="T69" fmla="*/ 207 h 695"/>
              <a:gd name="T70" fmla="*/ 490 w 695"/>
              <a:gd name="T71" fmla="*/ 211 h 695"/>
              <a:gd name="T72" fmla="*/ 491 w 695"/>
              <a:gd name="T73" fmla="*/ 215 h 695"/>
              <a:gd name="T74" fmla="*/ 490 w 695"/>
              <a:gd name="T75" fmla="*/ 220 h 695"/>
              <a:gd name="T76" fmla="*/ 488 w 695"/>
              <a:gd name="T77" fmla="*/ 223 h 695"/>
              <a:gd name="T78" fmla="*/ 364 w 695"/>
              <a:gd name="T79" fmla="*/ 347 h 695"/>
              <a:gd name="T80" fmla="*/ 488 w 695"/>
              <a:gd name="T81" fmla="*/ 471 h 695"/>
              <a:gd name="T82" fmla="*/ 683 w 695"/>
              <a:gd name="T83" fmla="*/ 0 h 695"/>
              <a:gd name="T84" fmla="*/ 12 w 695"/>
              <a:gd name="T85" fmla="*/ 0 h 695"/>
              <a:gd name="T86" fmla="*/ 7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7 w 695"/>
              <a:gd name="T101" fmla="*/ 694 h 695"/>
              <a:gd name="T102" fmla="*/ 12 w 695"/>
              <a:gd name="T103" fmla="*/ 695 h 695"/>
              <a:gd name="T104" fmla="*/ 683 w 695"/>
              <a:gd name="T105" fmla="*/ 695 h 695"/>
              <a:gd name="T106" fmla="*/ 688 w 695"/>
              <a:gd name="T107" fmla="*/ 694 h 695"/>
              <a:gd name="T108" fmla="*/ 691 w 695"/>
              <a:gd name="T109" fmla="*/ 691 h 695"/>
              <a:gd name="T110" fmla="*/ 694 w 695"/>
              <a:gd name="T111" fmla="*/ 687 h 695"/>
              <a:gd name="T112" fmla="*/ 695 w 695"/>
              <a:gd name="T113" fmla="*/ 683 h 695"/>
              <a:gd name="T114" fmla="*/ 695 w 695"/>
              <a:gd name="T115" fmla="*/ 11 h 695"/>
              <a:gd name="T116" fmla="*/ 694 w 695"/>
              <a:gd name="T117" fmla="*/ 7 h 695"/>
              <a:gd name="T118" fmla="*/ 691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488" y="471"/>
                </a:moveTo>
                <a:lnTo>
                  <a:pt x="490" y="475"/>
                </a:lnTo>
                <a:lnTo>
                  <a:pt x="491" y="479"/>
                </a:lnTo>
                <a:lnTo>
                  <a:pt x="490" y="484"/>
                </a:lnTo>
                <a:lnTo>
                  <a:pt x="488" y="487"/>
                </a:lnTo>
                <a:lnTo>
                  <a:pt x="483" y="490"/>
                </a:lnTo>
                <a:lnTo>
                  <a:pt x="479" y="490"/>
                </a:lnTo>
                <a:lnTo>
                  <a:pt x="475" y="490"/>
                </a:lnTo>
                <a:lnTo>
                  <a:pt x="471" y="487"/>
                </a:lnTo>
                <a:lnTo>
                  <a:pt x="348" y="365"/>
                </a:lnTo>
                <a:lnTo>
                  <a:pt x="225" y="487"/>
                </a:lnTo>
                <a:lnTo>
                  <a:pt x="221" y="490"/>
                </a:lnTo>
                <a:lnTo>
                  <a:pt x="216" y="490"/>
                </a:lnTo>
                <a:lnTo>
                  <a:pt x="212" y="490"/>
                </a:lnTo>
                <a:lnTo>
                  <a:pt x="207" y="487"/>
                </a:lnTo>
                <a:lnTo>
                  <a:pt x="205" y="483"/>
                </a:lnTo>
                <a:lnTo>
                  <a:pt x="204" y="478"/>
                </a:lnTo>
                <a:lnTo>
                  <a:pt x="205" y="474"/>
                </a:lnTo>
                <a:lnTo>
                  <a:pt x="207" y="471"/>
                </a:lnTo>
                <a:lnTo>
                  <a:pt x="331" y="347"/>
                </a:lnTo>
                <a:lnTo>
                  <a:pt x="207" y="223"/>
                </a:lnTo>
                <a:lnTo>
                  <a:pt x="205" y="220"/>
                </a:lnTo>
                <a:lnTo>
                  <a:pt x="204" y="215"/>
                </a:lnTo>
                <a:lnTo>
                  <a:pt x="205" y="211"/>
                </a:lnTo>
                <a:lnTo>
                  <a:pt x="207" y="207"/>
                </a:lnTo>
                <a:lnTo>
                  <a:pt x="212" y="204"/>
                </a:lnTo>
                <a:lnTo>
                  <a:pt x="216" y="203"/>
                </a:lnTo>
                <a:lnTo>
                  <a:pt x="221" y="204"/>
                </a:lnTo>
                <a:lnTo>
                  <a:pt x="224" y="207"/>
                </a:lnTo>
                <a:lnTo>
                  <a:pt x="348" y="330"/>
                </a:lnTo>
                <a:lnTo>
                  <a:pt x="471" y="207"/>
                </a:lnTo>
                <a:lnTo>
                  <a:pt x="475" y="204"/>
                </a:lnTo>
                <a:lnTo>
                  <a:pt x="479" y="203"/>
                </a:lnTo>
                <a:lnTo>
                  <a:pt x="483" y="204"/>
                </a:lnTo>
                <a:lnTo>
                  <a:pt x="488" y="207"/>
                </a:lnTo>
                <a:lnTo>
                  <a:pt x="490" y="211"/>
                </a:lnTo>
                <a:lnTo>
                  <a:pt x="491" y="215"/>
                </a:lnTo>
                <a:lnTo>
                  <a:pt x="490" y="220"/>
                </a:lnTo>
                <a:lnTo>
                  <a:pt x="488" y="223"/>
                </a:lnTo>
                <a:lnTo>
                  <a:pt x="364" y="347"/>
                </a:lnTo>
                <a:lnTo>
                  <a:pt x="488" y="471"/>
                </a:lnTo>
                <a:close/>
                <a:moveTo>
                  <a:pt x="683" y="0"/>
                </a:moveTo>
                <a:lnTo>
                  <a:pt x="12" y="0"/>
                </a:lnTo>
                <a:lnTo>
                  <a:pt x="7" y="1"/>
                </a:lnTo>
                <a:lnTo>
                  <a:pt x="4" y="3"/>
                </a:lnTo>
                <a:lnTo>
                  <a:pt x="1" y="7"/>
                </a:lnTo>
                <a:lnTo>
                  <a:pt x="0" y="11"/>
                </a:lnTo>
                <a:lnTo>
                  <a:pt x="0" y="683"/>
                </a:lnTo>
                <a:lnTo>
                  <a:pt x="1" y="687"/>
                </a:lnTo>
                <a:lnTo>
                  <a:pt x="4" y="691"/>
                </a:lnTo>
                <a:lnTo>
                  <a:pt x="7" y="694"/>
                </a:lnTo>
                <a:lnTo>
                  <a:pt x="12" y="695"/>
                </a:lnTo>
                <a:lnTo>
                  <a:pt x="683" y="695"/>
                </a:lnTo>
                <a:lnTo>
                  <a:pt x="688" y="694"/>
                </a:lnTo>
                <a:lnTo>
                  <a:pt x="691" y="691"/>
                </a:lnTo>
                <a:lnTo>
                  <a:pt x="694" y="687"/>
                </a:lnTo>
                <a:lnTo>
                  <a:pt x="695" y="683"/>
                </a:lnTo>
                <a:lnTo>
                  <a:pt x="695" y="11"/>
                </a:lnTo>
                <a:lnTo>
                  <a:pt x="694" y="7"/>
                </a:lnTo>
                <a:lnTo>
                  <a:pt x="691"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5" name="Freeform 1837" descr="Marker with plus mark. ">
            <a:extLst>
              <a:ext uri="{FF2B5EF4-FFF2-40B4-BE49-F238E27FC236}">
                <a16:creationId xmlns:a16="http://schemas.microsoft.com/office/drawing/2014/main" id="{FFEC666F-8CEB-456C-A2BE-0ED23EE4FADC}"/>
              </a:ext>
            </a:extLst>
          </p:cNvPr>
          <p:cNvSpPr>
            <a:spLocks noEditPoints="1"/>
          </p:cNvSpPr>
          <p:nvPr/>
        </p:nvSpPr>
        <p:spPr bwMode="auto">
          <a:xfrm>
            <a:off x="3139680" y="3385358"/>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6" name="Freeform 1839" descr="Marker with multiplication sign. ">
            <a:extLst>
              <a:ext uri="{FF2B5EF4-FFF2-40B4-BE49-F238E27FC236}">
                <a16:creationId xmlns:a16="http://schemas.microsoft.com/office/drawing/2014/main" id="{406A6BB3-00DC-4CF5-AC64-82CF18B48C9C}"/>
              </a:ext>
            </a:extLst>
          </p:cNvPr>
          <p:cNvSpPr>
            <a:spLocks noEditPoints="1"/>
          </p:cNvSpPr>
          <p:nvPr/>
        </p:nvSpPr>
        <p:spPr bwMode="auto">
          <a:xfrm>
            <a:off x="4302523" y="2892703"/>
            <a:ext cx="276225" cy="276225"/>
          </a:xfrm>
          <a:custGeom>
            <a:avLst/>
            <a:gdLst>
              <a:gd name="T0" fmla="*/ 488 w 695"/>
              <a:gd name="T1" fmla="*/ 471 h 695"/>
              <a:gd name="T2" fmla="*/ 490 w 695"/>
              <a:gd name="T3" fmla="*/ 475 h 695"/>
              <a:gd name="T4" fmla="*/ 491 w 695"/>
              <a:gd name="T5" fmla="*/ 479 h 695"/>
              <a:gd name="T6" fmla="*/ 490 w 695"/>
              <a:gd name="T7" fmla="*/ 484 h 695"/>
              <a:gd name="T8" fmla="*/ 488 w 695"/>
              <a:gd name="T9" fmla="*/ 487 h 695"/>
              <a:gd name="T10" fmla="*/ 483 w 695"/>
              <a:gd name="T11" fmla="*/ 490 h 695"/>
              <a:gd name="T12" fmla="*/ 479 w 695"/>
              <a:gd name="T13" fmla="*/ 490 h 695"/>
              <a:gd name="T14" fmla="*/ 475 w 695"/>
              <a:gd name="T15" fmla="*/ 490 h 695"/>
              <a:gd name="T16" fmla="*/ 471 w 695"/>
              <a:gd name="T17" fmla="*/ 487 h 695"/>
              <a:gd name="T18" fmla="*/ 348 w 695"/>
              <a:gd name="T19" fmla="*/ 365 h 695"/>
              <a:gd name="T20" fmla="*/ 225 w 695"/>
              <a:gd name="T21" fmla="*/ 487 h 695"/>
              <a:gd name="T22" fmla="*/ 221 w 695"/>
              <a:gd name="T23" fmla="*/ 490 h 695"/>
              <a:gd name="T24" fmla="*/ 216 w 695"/>
              <a:gd name="T25" fmla="*/ 490 h 695"/>
              <a:gd name="T26" fmla="*/ 212 w 695"/>
              <a:gd name="T27" fmla="*/ 490 h 695"/>
              <a:gd name="T28" fmla="*/ 207 w 695"/>
              <a:gd name="T29" fmla="*/ 487 h 695"/>
              <a:gd name="T30" fmla="*/ 205 w 695"/>
              <a:gd name="T31" fmla="*/ 483 h 695"/>
              <a:gd name="T32" fmla="*/ 204 w 695"/>
              <a:gd name="T33" fmla="*/ 478 h 695"/>
              <a:gd name="T34" fmla="*/ 205 w 695"/>
              <a:gd name="T35" fmla="*/ 474 h 695"/>
              <a:gd name="T36" fmla="*/ 207 w 695"/>
              <a:gd name="T37" fmla="*/ 471 h 695"/>
              <a:gd name="T38" fmla="*/ 331 w 695"/>
              <a:gd name="T39" fmla="*/ 347 h 695"/>
              <a:gd name="T40" fmla="*/ 207 w 695"/>
              <a:gd name="T41" fmla="*/ 223 h 695"/>
              <a:gd name="T42" fmla="*/ 205 w 695"/>
              <a:gd name="T43" fmla="*/ 220 h 695"/>
              <a:gd name="T44" fmla="*/ 204 w 695"/>
              <a:gd name="T45" fmla="*/ 215 h 695"/>
              <a:gd name="T46" fmla="*/ 205 w 695"/>
              <a:gd name="T47" fmla="*/ 211 h 695"/>
              <a:gd name="T48" fmla="*/ 207 w 695"/>
              <a:gd name="T49" fmla="*/ 207 h 695"/>
              <a:gd name="T50" fmla="*/ 212 w 695"/>
              <a:gd name="T51" fmla="*/ 204 h 695"/>
              <a:gd name="T52" fmla="*/ 216 w 695"/>
              <a:gd name="T53" fmla="*/ 203 h 695"/>
              <a:gd name="T54" fmla="*/ 221 w 695"/>
              <a:gd name="T55" fmla="*/ 204 h 695"/>
              <a:gd name="T56" fmla="*/ 224 w 695"/>
              <a:gd name="T57" fmla="*/ 207 h 695"/>
              <a:gd name="T58" fmla="*/ 348 w 695"/>
              <a:gd name="T59" fmla="*/ 330 h 695"/>
              <a:gd name="T60" fmla="*/ 471 w 695"/>
              <a:gd name="T61" fmla="*/ 207 h 695"/>
              <a:gd name="T62" fmla="*/ 475 w 695"/>
              <a:gd name="T63" fmla="*/ 204 h 695"/>
              <a:gd name="T64" fmla="*/ 479 w 695"/>
              <a:gd name="T65" fmla="*/ 203 h 695"/>
              <a:gd name="T66" fmla="*/ 483 w 695"/>
              <a:gd name="T67" fmla="*/ 204 h 695"/>
              <a:gd name="T68" fmla="*/ 488 w 695"/>
              <a:gd name="T69" fmla="*/ 207 h 695"/>
              <a:gd name="T70" fmla="*/ 490 w 695"/>
              <a:gd name="T71" fmla="*/ 211 h 695"/>
              <a:gd name="T72" fmla="*/ 491 w 695"/>
              <a:gd name="T73" fmla="*/ 215 h 695"/>
              <a:gd name="T74" fmla="*/ 490 w 695"/>
              <a:gd name="T75" fmla="*/ 220 h 695"/>
              <a:gd name="T76" fmla="*/ 488 w 695"/>
              <a:gd name="T77" fmla="*/ 223 h 695"/>
              <a:gd name="T78" fmla="*/ 364 w 695"/>
              <a:gd name="T79" fmla="*/ 347 h 695"/>
              <a:gd name="T80" fmla="*/ 488 w 695"/>
              <a:gd name="T81" fmla="*/ 471 h 695"/>
              <a:gd name="T82" fmla="*/ 683 w 695"/>
              <a:gd name="T83" fmla="*/ 0 h 695"/>
              <a:gd name="T84" fmla="*/ 12 w 695"/>
              <a:gd name="T85" fmla="*/ 0 h 695"/>
              <a:gd name="T86" fmla="*/ 7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7 w 695"/>
              <a:gd name="T101" fmla="*/ 694 h 695"/>
              <a:gd name="T102" fmla="*/ 12 w 695"/>
              <a:gd name="T103" fmla="*/ 695 h 695"/>
              <a:gd name="T104" fmla="*/ 683 w 695"/>
              <a:gd name="T105" fmla="*/ 695 h 695"/>
              <a:gd name="T106" fmla="*/ 688 w 695"/>
              <a:gd name="T107" fmla="*/ 694 h 695"/>
              <a:gd name="T108" fmla="*/ 691 w 695"/>
              <a:gd name="T109" fmla="*/ 691 h 695"/>
              <a:gd name="T110" fmla="*/ 694 w 695"/>
              <a:gd name="T111" fmla="*/ 687 h 695"/>
              <a:gd name="T112" fmla="*/ 695 w 695"/>
              <a:gd name="T113" fmla="*/ 683 h 695"/>
              <a:gd name="T114" fmla="*/ 695 w 695"/>
              <a:gd name="T115" fmla="*/ 11 h 695"/>
              <a:gd name="T116" fmla="*/ 694 w 695"/>
              <a:gd name="T117" fmla="*/ 7 h 695"/>
              <a:gd name="T118" fmla="*/ 691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488" y="471"/>
                </a:moveTo>
                <a:lnTo>
                  <a:pt x="490" y="475"/>
                </a:lnTo>
                <a:lnTo>
                  <a:pt x="491" y="479"/>
                </a:lnTo>
                <a:lnTo>
                  <a:pt x="490" y="484"/>
                </a:lnTo>
                <a:lnTo>
                  <a:pt x="488" y="487"/>
                </a:lnTo>
                <a:lnTo>
                  <a:pt x="483" y="490"/>
                </a:lnTo>
                <a:lnTo>
                  <a:pt x="479" y="490"/>
                </a:lnTo>
                <a:lnTo>
                  <a:pt x="475" y="490"/>
                </a:lnTo>
                <a:lnTo>
                  <a:pt x="471" y="487"/>
                </a:lnTo>
                <a:lnTo>
                  <a:pt x="348" y="365"/>
                </a:lnTo>
                <a:lnTo>
                  <a:pt x="225" y="487"/>
                </a:lnTo>
                <a:lnTo>
                  <a:pt x="221" y="490"/>
                </a:lnTo>
                <a:lnTo>
                  <a:pt x="216" y="490"/>
                </a:lnTo>
                <a:lnTo>
                  <a:pt x="212" y="490"/>
                </a:lnTo>
                <a:lnTo>
                  <a:pt x="207" y="487"/>
                </a:lnTo>
                <a:lnTo>
                  <a:pt x="205" y="483"/>
                </a:lnTo>
                <a:lnTo>
                  <a:pt x="204" y="478"/>
                </a:lnTo>
                <a:lnTo>
                  <a:pt x="205" y="474"/>
                </a:lnTo>
                <a:lnTo>
                  <a:pt x="207" y="471"/>
                </a:lnTo>
                <a:lnTo>
                  <a:pt x="331" y="347"/>
                </a:lnTo>
                <a:lnTo>
                  <a:pt x="207" y="223"/>
                </a:lnTo>
                <a:lnTo>
                  <a:pt x="205" y="220"/>
                </a:lnTo>
                <a:lnTo>
                  <a:pt x="204" y="215"/>
                </a:lnTo>
                <a:lnTo>
                  <a:pt x="205" y="211"/>
                </a:lnTo>
                <a:lnTo>
                  <a:pt x="207" y="207"/>
                </a:lnTo>
                <a:lnTo>
                  <a:pt x="212" y="204"/>
                </a:lnTo>
                <a:lnTo>
                  <a:pt x="216" y="203"/>
                </a:lnTo>
                <a:lnTo>
                  <a:pt x="221" y="204"/>
                </a:lnTo>
                <a:lnTo>
                  <a:pt x="224" y="207"/>
                </a:lnTo>
                <a:lnTo>
                  <a:pt x="348" y="330"/>
                </a:lnTo>
                <a:lnTo>
                  <a:pt x="471" y="207"/>
                </a:lnTo>
                <a:lnTo>
                  <a:pt x="475" y="204"/>
                </a:lnTo>
                <a:lnTo>
                  <a:pt x="479" y="203"/>
                </a:lnTo>
                <a:lnTo>
                  <a:pt x="483" y="204"/>
                </a:lnTo>
                <a:lnTo>
                  <a:pt x="488" y="207"/>
                </a:lnTo>
                <a:lnTo>
                  <a:pt x="490" y="211"/>
                </a:lnTo>
                <a:lnTo>
                  <a:pt x="491" y="215"/>
                </a:lnTo>
                <a:lnTo>
                  <a:pt x="490" y="220"/>
                </a:lnTo>
                <a:lnTo>
                  <a:pt x="488" y="223"/>
                </a:lnTo>
                <a:lnTo>
                  <a:pt x="364" y="347"/>
                </a:lnTo>
                <a:lnTo>
                  <a:pt x="488" y="471"/>
                </a:lnTo>
                <a:close/>
                <a:moveTo>
                  <a:pt x="683" y="0"/>
                </a:moveTo>
                <a:lnTo>
                  <a:pt x="12" y="0"/>
                </a:lnTo>
                <a:lnTo>
                  <a:pt x="7" y="1"/>
                </a:lnTo>
                <a:lnTo>
                  <a:pt x="4" y="3"/>
                </a:lnTo>
                <a:lnTo>
                  <a:pt x="1" y="7"/>
                </a:lnTo>
                <a:lnTo>
                  <a:pt x="0" y="11"/>
                </a:lnTo>
                <a:lnTo>
                  <a:pt x="0" y="683"/>
                </a:lnTo>
                <a:lnTo>
                  <a:pt x="1" y="687"/>
                </a:lnTo>
                <a:lnTo>
                  <a:pt x="4" y="691"/>
                </a:lnTo>
                <a:lnTo>
                  <a:pt x="7" y="694"/>
                </a:lnTo>
                <a:lnTo>
                  <a:pt x="12" y="695"/>
                </a:lnTo>
                <a:lnTo>
                  <a:pt x="683" y="695"/>
                </a:lnTo>
                <a:lnTo>
                  <a:pt x="688" y="694"/>
                </a:lnTo>
                <a:lnTo>
                  <a:pt x="691" y="691"/>
                </a:lnTo>
                <a:lnTo>
                  <a:pt x="694" y="687"/>
                </a:lnTo>
                <a:lnTo>
                  <a:pt x="695" y="683"/>
                </a:lnTo>
                <a:lnTo>
                  <a:pt x="695" y="11"/>
                </a:lnTo>
                <a:lnTo>
                  <a:pt x="694" y="7"/>
                </a:lnTo>
                <a:lnTo>
                  <a:pt x="691"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7" name="Freeform 1838" descr="Marker with minus sign. ">
            <a:extLst>
              <a:ext uri="{FF2B5EF4-FFF2-40B4-BE49-F238E27FC236}">
                <a16:creationId xmlns:a16="http://schemas.microsoft.com/office/drawing/2014/main" id="{0852AFAF-F59C-431F-8C82-94379765098D}"/>
              </a:ext>
            </a:extLst>
          </p:cNvPr>
          <p:cNvSpPr>
            <a:spLocks noEditPoints="1"/>
          </p:cNvSpPr>
          <p:nvPr/>
        </p:nvSpPr>
        <p:spPr bwMode="auto">
          <a:xfrm>
            <a:off x="5427446" y="3880657"/>
            <a:ext cx="276225" cy="276225"/>
          </a:xfrm>
          <a:custGeom>
            <a:avLst/>
            <a:gdLst>
              <a:gd name="T0" fmla="*/ 526 w 695"/>
              <a:gd name="T1" fmla="*/ 362 h 695"/>
              <a:gd name="T2" fmla="*/ 162 w 695"/>
              <a:gd name="T3" fmla="*/ 362 h 695"/>
              <a:gd name="T4" fmla="*/ 158 w 695"/>
              <a:gd name="T5" fmla="*/ 361 h 695"/>
              <a:gd name="T6" fmla="*/ 155 w 695"/>
              <a:gd name="T7" fmla="*/ 359 h 695"/>
              <a:gd name="T8" fmla="*/ 151 w 695"/>
              <a:gd name="T9" fmla="*/ 356 h 695"/>
              <a:gd name="T10" fmla="*/ 151 w 695"/>
              <a:gd name="T11" fmla="*/ 350 h 695"/>
              <a:gd name="T12" fmla="*/ 151 w 695"/>
              <a:gd name="T13" fmla="*/ 346 h 695"/>
              <a:gd name="T14" fmla="*/ 155 w 695"/>
              <a:gd name="T15" fmla="*/ 342 h 695"/>
              <a:gd name="T16" fmla="*/ 158 w 695"/>
              <a:gd name="T17" fmla="*/ 339 h 695"/>
              <a:gd name="T18" fmla="*/ 162 w 695"/>
              <a:gd name="T19" fmla="*/ 339 h 695"/>
              <a:gd name="T20" fmla="*/ 526 w 695"/>
              <a:gd name="T21" fmla="*/ 339 h 695"/>
              <a:gd name="T22" fmla="*/ 530 w 695"/>
              <a:gd name="T23" fmla="*/ 339 h 695"/>
              <a:gd name="T24" fmla="*/ 533 w 695"/>
              <a:gd name="T25" fmla="*/ 342 h 695"/>
              <a:gd name="T26" fmla="*/ 537 w 695"/>
              <a:gd name="T27" fmla="*/ 346 h 695"/>
              <a:gd name="T28" fmla="*/ 537 w 695"/>
              <a:gd name="T29" fmla="*/ 350 h 695"/>
              <a:gd name="T30" fmla="*/ 537 w 695"/>
              <a:gd name="T31" fmla="*/ 356 h 695"/>
              <a:gd name="T32" fmla="*/ 533 w 695"/>
              <a:gd name="T33" fmla="*/ 359 h 695"/>
              <a:gd name="T34" fmla="*/ 530 w 695"/>
              <a:gd name="T35" fmla="*/ 361 h 695"/>
              <a:gd name="T36" fmla="*/ 526 w 695"/>
              <a:gd name="T37" fmla="*/ 362 h 695"/>
              <a:gd name="T38" fmla="*/ 682 w 695"/>
              <a:gd name="T39" fmla="*/ 0 h 695"/>
              <a:gd name="T40" fmla="*/ 12 w 695"/>
              <a:gd name="T41" fmla="*/ 0 h 695"/>
              <a:gd name="T42" fmla="*/ 7 w 695"/>
              <a:gd name="T43" fmla="*/ 1 h 695"/>
              <a:gd name="T44" fmla="*/ 3 w 695"/>
              <a:gd name="T45" fmla="*/ 3 h 695"/>
              <a:gd name="T46" fmla="*/ 1 w 695"/>
              <a:gd name="T47" fmla="*/ 7 h 695"/>
              <a:gd name="T48" fmla="*/ 0 w 695"/>
              <a:gd name="T49" fmla="*/ 11 h 695"/>
              <a:gd name="T50" fmla="*/ 0 w 695"/>
              <a:gd name="T51" fmla="*/ 683 h 695"/>
              <a:gd name="T52" fmla="*/ 1 w 695"/>
              <a:gd name="T53" fmla="*/ 687 h 695"/>
              <a:gd name="T54" fmla="*/ 3 w 695"/>
              <a:gd name="T55" fmla="*/ 691 h 695"/>
              <a:gd name="T56" fmla="*/ 7 w 695"/>
              <a:gd name="T57" fmla="*/ 694 h 695"/>
              <a:gd name="T58" fmla="*/ 12 w 695"/>
              <a:gd name="T59" fmla="*/ 695 h 695"/>
              <a:gd name="T60" fmla="*/ 682 w 695"/>
              <a:gd name="T61" fmla="*/ 695 h 695"/>
              <a:gd name="T62" fmla="*/ 687 w 695"/>
              <a:gd name="T63" fmla="*/ 694 h 695"/>
              <a:gd name="T64" fmla="*/ 691 w 695"/>
              <a:gd name="T65" fmla="*/ 691 h 695"/>
              <a:gd name="T66" fmla="*/ 694 w 695"/>
              <a:gd name="T67" fmla="*/ 687 h 695"/>
              <a:gd name="T68" fmla="*/ 695 w 695"/>
              <a:gd name="T69" fmla="*/ 683 h 695"/>
              <a:gd name="T70" fmla="*/ 695 w 695"/>
              <a:gd name="T71" fmla="*/ 11 h 695"/>
              <a:gd name="T72" fmla="*/ 694 w 695"/>
              <a:gd name="T73" fmla="*/ 7 h 695"/>
              <a:gd name="T74" fmla="*/ 691 w 695"/>
              <a:gd name="T75" fmla="*/ 3 h 695"/>
              <a:gd name="T76" fmla="*/ 687 w 695"/>
              <a:gd name="T77" fmla="*/ 1 h 695"/>
              <a:gd name="T78" fmla="*/ 682 w 695"/>
              <a:gd name="T79"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5" h="695">
                <a:moveTo>
                  <a:pt x="526" y="362"/>
                </a:moveTo>
                <a:lnTo>
                  <a:pt x="162" y="362"/>
                </a:lnTo>
                <a:lnTo>
                  <a:pt x="158" y="361"/>
                </a:lnTo>
                <a:lnTo>
                  <a:pt x="155" y="359"/>
                </a:lnTo>
                <a:lnTo>
                  <a:pt x="151" y="356"/>
                </a:lnTo>
                <a:lnTo>
                  <a:pt x="151" y="350"/>
                </a:lnTo>
                <a:lnTo>
                  <a:pt x="151" y="346"/>
                </a:lnTo>
                <a:lnTo>
                  <a:pt x="155" y="342"/>
                </a:lnTo>
                <a:lnTo>
                  <a:pt x="158" y="339"/>
                </a:lnTo>
                <a:lnTo>
                  <a:pt x="162" y="339"/>
                </a:lnTo>
                <a:lnTo>
                  <a:pt x="526" y="339"/>
                </a:lnTo>
                <a:lnTo>
                  <a:pt x="530" y="339"/>
                </a:lnTo>
                <a:lnTo>
                  <a:pt x="533" y="342"/>
                </a:lnTo>
                <a:lnTo>
                  <a:pt x="537" y="346"/>
                </a:lnTo>
                <a:lnTo>
                  <a:pt x="537" y="350"/>
                </a:lnTo>
                <a:lnTo>
                  <a:pt x="537" y="356"/>
                </a:lnTo>
                <a:lnTo>
                  <a:pt x="533" y="359"/>
                </a:lnTo>
                <a:lnTo>
                  <a:pt x="530" y="361"/>
                </a:lnTo>
                <a:lnTo>
                  <a:pt x="526" y="362"/>
                </a:lnTo>
                <a:close/>
                <a:moveTo>
                  <a:pt x="682" y="0"/>
                </a:moveTo>
                <a:lnTo>
                  <a:pt x="12" y="0"/>
                </a:lnTo>
                <a:lnTo>
                  <a:pt x="7" y="1"/>
                </a:lnTo>
                <a:lnTo>
                  <a:pt x="3" y="3"/>
                </a:lnTo>
                <a:lnTo>
                  <a:pt x="1" y="7"/>
                </a:lnTo>
                <a:lnTo>
                  <a:pt x="0" y="11"/>
                </a:lnTo>
                <a:lnTo>
                  <a:pt x="0" y="683"/>
                </a:lnTo>
                <a:lnTo>
                  <a:pt x="1" y="687"/>
                </a:lnTo>
                <a:lnTo>
                  <a:pt x="3" y="691"/>
                </a:lnTo>
                <a:lnTo>
                  <a:pt x="7" y="694"/>
                </a:lnTo>
                <a:lnTo>
                  <a:pt x="12" y="695"/>
                </a:lnTo>
                <a:lnTo>
                  <a:pt x="682" y="695"/>
                </a:lnTo>
                <a:lnTo>
                  <a:pt x="687" y="694"/>
                </a:lnTo>
                <a:lnTo>
                  <a:pt x="691" y="691"/>
                </a:lnTo>
                <a:lnTo>
                  <a:pt x="694" y="687"/>
                </a:lnTo>
                <a:lnTo>
                  <a:pt x="695" y="683"/>
                </a:lnTo>
                <a:lnTo>
                  <a:pt x="695" y="11"/>
                </a:lnTo>
                <a:lnTo>
                  <a:pt x="694" y="7"/>
                </a:lnTo>
                <a:lnTo>
                  <a:pt x="691" y="3"/>
                </a:lnTo>
                <a:lnTo>
                  <a:pt x="687" y="1"/>
                </a:lnTo>
                <a:lnTo>
                  <a:pt x="682"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8" name="Freeform 1837" descr="Marker with plus mark. ">
            <a:extLst>
              <a:ext uri="{FF2B5EF4-FFF2-40B4-BE49-F238E27FC236}">
                <a16:creationId xmlns:a16="http://schemas.microsoft.com/office/drawing/2014/main" id="{4C5127E9-68E5-46FA-8C57-25FDF54CF7BC}"/>
              </a:ext>
            </a:extLst>
          </p:cNvPr>
          <p:cNvSpPr>
            <a:spLocks noEditPoints="1"/>
          </p:cNvSpPr>
          <p:nvPr/>
        </p:nvSpPr>
        <p:spPr bwMode="auto">
          <a:xfrm>
            <a:off x="3139680" y="4865305"/>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Freeform 1837" descr="Marker with plus mark. ">
            <a:extLst>
              <a:ext uri="{FF2B5EF4-FFF2-40B4-BE49-F238E27FC236}">
                <a16:creationId xmlns:a16="http://schemas.microsoft.com/office/drawing/2014/main" id="{2359F2CA-3777-4AA1-A96A-2B49185A93F8}"/>
              </a:ext>
            </a:extLst>
          </p:cNvPr>
          <p:cNvSpPr>
            <a:spLocks noEditPoints="1"/>
          </p:cNvSpPr>
          <p:nvPr/>
        </p:nvSpPr>
        <p:spPr bwMode="auto">
          <a:xfrm>
            <a:off x="4306097" y="1876505"/>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Freeform 1838" descr="Marker with minus sign. ">
            <a:extLst>
              <a:ext uri="{FF2B5EF4-FFF2-40B4-BE49-F238E27FC236}">
                <a16:creationId xmlns:a16="http://schemas.microsoft.com/office/drawing/2014/main" id="{1FE19FFA-CAD6-453B-8808-4EB523DD1271}"/>
              </a:ext>
            </a:extLst>
          </p:cNvPr>
          <p:cNvSpPr>
            <a:spLocks noEditPoints="1"/>
          </p:cNvSpPr>
          <p:nvPr/>
        </p:nvSpPr>
        <p:spPr bwMode="auto">
          <a:xfrm>
            <a:off x="845745" y="3880657"/>
            <a:ext cx="276225" cy="276225"/>
          </a:xfrm>
          <a:custGeom>
            <a:avLst/>
            <a:gdLst>
              <a:gd name="T0" fmla="*/ 526 w 695"/>
              <a:gd name="T1" fmla="*/ 362 h 695"/>
              <a:gd name="T2" fmla="*/ 162 w 695"/>
              <a:gd name="T3" fmla="*/ 362 h 695"/>
              <a:gd name="T4" fmla="*/ 158 w 695"/>
              <a:gd name="T5" fmla="*/ 361 h 695"/>
              <a:gd name="T6" fmla="*/ 155 w 695"/>
              <a:gd name="T7" fmla="*/ 359 h 695"/>
              <a:gd name="T8" fmla="*/ 151 w 695"/>
              <a:gd name="T9" fmla="*/ 356 h 695"/>
              <a:gd name="T10" fmla="*/ 151 w 695"/>
              <a:gd name="T11" fmla="*/ 350 h 695"/>
              <a:gd name="T12" fmla="*/ 151 w 695"/>
              <a:gd name="T13" fmla="*/ 346 h 695"/>
              <a:gd name="T14" fmla="*/ 155 w 695"/>
              <a:gd name="T15" fmla="*/ 342 h 695"/>
              <a:gd name="T16" fmla="*/ 158 w 695"/>
              <a:gd name="T17" fmla="*/ 339 h 695"/>
              <a:gd name="T18" fmla="*/ 162 w 695"/>
              <a:gd name="T19" fmla="*/ 339 h 695"/>
              <a:gd name="T20" fmla="*/ 526 w 695"/>
              <a:gd name="T21" fmla="*/ 339 h 695"/>
              <a:gd name="T22" fmla="*/ 530 w 695"/>
              <a:gd name="T23" fmla="*/ 339 h 695"/>
              <a:gd name="T24" fmla="*/ 533 w 695"/>
              <a:gd name="T25" fmla="*/ 342 h 695"/>
              <a:gd name="T26" fmla="*/ 537 w 695"/>
              <a:gd name="T27" fmla="*/ 346 h 695"/>
              <a:gd name="T28" fmla="*/ 537 w 695"/>
              <a:gd name="T29" fmla="*/ 350 h 695"/>
              <a:gd name="T30" fmla="*/ 537 w 695"/>
              <a:gd name="T31" fmla="*/ 356 h 695"/>
              <a:gd name="T32" fmla="*/ 533 w 695"/>
              <a:gd name="T33" fmla="*/ 359 h 695"/>
              <a:gd name="T34" fmla="*/ 530 w 695"/>
              <a:gd name="T35" fmla="*/ 361 h 695"/>
              <a:gd name="T36" fmla="*/ 526 w 695"/>
              <a:gd name="T37" fmla="*/ 362 h 695"/>
              <a:gd name="T38" fmla="*/ 682 w 695"/>
              <a:gd name="T39" fmla="*/ 0 h 695"/>
              <a:gd name="T40" fmla="*/ 12 w 695"/>
              <a:gd name="T41" fmla="*/ 0 h 695"/>
              <a:gd name="T42" fmla="*/ 7 w 695"/>
              <a:gd name="T43" fmla="*/ 1 h 695"/>
              <a:gd name="T44" fmla="*/ 3 w 695"/>
              <a:gd name="T45" fmla="*/ 3 h 695"/>
              <a:gd name="T46" fmla="*/ 1 w 695"/>
              <a:gd name="T47" fmla="*/ 7 h 695"/>
              <a:gd name="T48" fmla="*/ 0 w 695"/>
              <a:gd name="T49" fmla="*/ 11 h 695"/>
              <a:gd name="T50" fmla="*/ 0 w 695"/>
              <a:gd name="T51" fmla="*/ 683 h 695"/>
              <a:gd name="T52" fmla="*/ 1 w 695"/>
              <a:gd name="T53" fmla="*/ 687 h 695"/>
              <a:gd name="T54" fmla="*/ 3 w 695"/>
              <a:gd name="T55" fmla="*/ 691 h 695"/>
              <a:gd name="T56" fmla="*/ 7 w 695"/>
              <a:gd name="T57" fmla="*/ 694 h 695"/>
              <a:gd name="T58" fmla="*/ 12 w 695"/>
              <a:gd name="T59" fmla="*/ 695 h 695"/>
              <a:gd name="T60" fmla="*/ 682 w 695"/>
              <a:gd name="T61" fmla="*/ 695 h 695"/>
              <a:gd name="T62" fmla="*/ 687 w 695"/>
              <a:gd name="T63" fmla="*/ 694 h 695"/>
              <a:gd name="T64" fmla="*/ 691 w 695"/>
              <a:gd name="T65" fmla="*/ 691 h 695"/>
              <a:gd name="T66" fmla="*/ 694 w 695"/>
              <a:gd name="T67" fmla="*/ 687 h 695"/>
              <a:gd name="T68" fmla="*/ 695 w 695"/>
              <a:gd name="T69" fmla="*/ 683 h 695"/>
              <a:gd name="T70" fmla="*/ 695 w 695"/>
              <a:gd name="T71" fmla="*/ 11 h 695"/>
              <a:gd name="T72" fmla="*/ 694 w 695"/>
              <a:gd name="T73" fmla="*/ 7 h 695"/>
              <a:gd name="T74" fmla="*/ 691 w 695"/>
              <a:gd name="T75" fmla="*/ 3 h 695"/>
              <a:gd name="T76" fmla="*/ 687 w 695"/>
              <a:gd name="T77" fmla="*/ 1 h 695"/>
              <a:gd name="T78" fmla="*/ 682 w 695"/>
              <a:gd name="T79"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5" h="695">
                <a:moveTo>
                  <a:pt x="526" y="362"/>
                </a:moveTo>
                <a:lnTo>
                  <a:pt x="162" y="362"/>
                </a:lnTo>
                <a:lnTo>
                  <a:pt x="158" y="361"/>
                </a:lnTo>
                <a:lnTo>
                  <a:pt x="155" y="359"/>
                </a:lnTo>
                <a:lnTo>
                  <a:pt x="151" y="356"/>
                </a:lnTo>
                <a:lnTo>
                  <a:pt x="151" y="350"/>
                </a:lnTo>
                <a:lnTo>
                  <a:pt x="151" y="346"/>
                </a:lnTo>
                <a:lnTo>
                  <a:pt x="155" y="342"/>
                </a:lnTo>
                <a:lnTo>
                  <a:pt x="158" y="339"/>
                </a:lnTo>
                <a:lnTo>
                  <a:pt x="162" y="339"/>
                </a:lnTo>
                <a:lnTo>
                  <a:pt x="526" y="339"/>
                </a:lnTo>
                <a:lnTo>
                  <a:pt x="530" y="339"/>
                </a:lnTo>
                <a:lnTo>
                  <a:pt x="533" y="342"/>
                </a:lnTo>
                <a:lnTo>
                  <a:pt x="537" y="346"/>
                </a:lnTo>
                <a:lnTo>
                  <a:pt x="537" y="350"/>
                </a:lnTo>
                <a:lnTo>
                  <a:pt x="537" y="356"/>
                </a:lnTo>
                <a:lnTo>
                  <a:pt x="533" y="359"/>
                </a:lnTo>
                <a:lnTo>
                  <a:pt x="530" y="361"/>
                </a:lnTo>
                <a:lnTo>
                  <a:pt x="526" y="362"/>
                </a:lnTo>
                <a:close/>
                <a:moveTo>
                  <a:pt x="682" y="0"/>
                </a:moveTo>
                <a:lnTo>
                  <a:pt x="12" y="0"/>
                </a:lnTo>
                <a:lnTo>
                  <a:pt x="7" y="1"/>
                </a:lnTo>
                <a:lnTo>
                  <a:pt x="3" y="3"/>
                </a:lnTo>
                <a:lnTo>
                  <a:pt x="1" y="7"/>
                </a:lnTo>
                <a:lnTo>
                  <a:pt x="0" y="11"/>
                </a:lnTo>
                <a:lnTo>
                  <a:pt x="0" y="683"/>
                </a:lnTo>
                <a:lnTo>
                  <a:pt x="1" y="687"/>
                </a:lnTo>
                <a:lnTo>
                  <a:pt x="3" y="691"/>
                </a:lnTo>
                <a:lnTo>
                  <a:pt x="7" y="694"/>
                </a:lnTo>
                <a:lnTo>
                  <a:pt x="12" y="695"/>
                </a:lnTo>
                <a:lnTo>
                  <a:pt x="682" y="695"/>
                </a:lnTo>
                <a:lnTo>
                  <a:pt x="687" y="694"/>
                </a:lnTo>
                <a:lnTo>
                  <a:pt x="691" y="691"/>
                </a:lnTo>
                <a:lnTo>
                  <a:pt x="694" y="687"/>
                </a:lnTo>
                <a:lnTo>
                  <a:pt x="695" y="683"/>
                </a:lnTo>
                <a:lnTo>
                  <a:pt x="695" y="11"/>
                </a:lnTo>
                <a:lnTo>
                  <a:pt x="694" y="7"/>
                </a:lnTo>
                <a:lnTo>
                  <a:pt x="691" y="3"/>
                </a:lnTo>
                <a:lnTo>
                  <a:pt x="687" y="1"/>
                </a:lnTo>
                <a:lnTo>
                  <a:pt x="682"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1" name="Freeform 1838" descr="Marker with minus sign. ">
            <a:extLst>
              <a:ext uri="{FF2B5EF4-FFF2-40B4-BE49-F238E27FC236}">
                <a16:creationId xmlns:a16="http://schemas.microsoft.com/office/drawing/2014/main" id="{C68F970D-304B-4DB3-A6C2-E214037CD6E5}"/>
              </a:ext>
            </a:extLst>
          </p:cNvPr>
          <p:cNvSpPr>
            <a:spLocks noEditPoints="1"/>
          </p:cNvSpPr>
          <p:nvPr/>
        </p:nvSpPr>
        <p:spPr bwMode="auto">
          <a:xfrm>
            <a:off x="6498033" y="2385217"/>
            <a:ext cx="276225" cy="276225"/>
          </a:xfrm>
          <a:custGeom>
            <a:avLst/>
            <a:gdLst>
              <a:gd name="T0" fmla="*/ 526 w 695"/>
              <a:gd name="T1" fmla="*/ 362 h 695"/>
              <a:gd name="T2" fmla="*/ 162 w 695"/>
              <a:gd name="T3" fmla="*/ 362 h 695"/>
              <a:gd name="T4" fmla="*/ 158 w 695"/>
              <a:gd name="T5" fmla="*/ 361 h 695"/>
              <a:gd name="T6" fmla="*/ 155 w 695"/>
              <a:gd name="T7" fmla="*/ 359 h 695"/>
              <a:gd name="T8" fmla="*/ 151 w 695"/>
              <a:gd name="T9" fmla="*/ 356 h 695"/>
              <a:gd name="T10" fmla="*/ 151 w 695"/>
              <a:gd name="T11" fmla="*/ 350 h 695"/>
              <a:gd name="T12" fmla="*/ 151 w 695"/>
              <a:gd name="T13" fmla="*/ 346 h 695"/>
              <a:gd name="T14" fmla="*/ 155 w 695"/>
              <a:gd name="T15" fmla="*/ 342 h 695"/>
              <a:gd name="T16" fmla="*/ 158 w 695"/>
              <a:gd name="T17" fmla="*/ 339 h 695"/>
              <a:gd name="T18" fmla="*/ 162 w 695"/>
              <a:gd name="T19" fmla="*/ 339 h 695"/>
              <a:gd name="T20" fmla="*/ 526 w 695"/>
              <a:gd name="T21" fmla="*/ 339 h 695"/>
              <a:gd name="T22" fmla="*/ 530 w 695"/>
              <a:gd name="T23" fmla="*/ 339 h 695"/>
              <a:gd name="T24" fmla="*/ 533 w 695"/>
              <a:gd name="T25" fmla="*/ 342 h 695"/>
              <a:gd name="T26" fmla="*/ 537 w 695"/>
              <a:gd name="T27" fmla="*/ 346 h 695"/>
              <a:gd name="T28" fmla="*/ 537 w 695"/>
              <a:gd name="T29" fmla="*/ 350 h 695"/>
              <a:gd name="T30" fmla="*/ 537 w 695"/>
              <a:gd name="T31" fmla="*/ 356 h 695"/>
              <a:gd name="T32" fmla="*/ 533 w 695"/>
              <a:gd name="T33" fmla="*/ 359 h 695"/>
              <a:gd name="T34" fmla="*/ 530 w 695"/>
              <a:gd name="T35" fmla="*/ 361 h 695"/>
              <a:gd name="T36" fmla="*/ 526 w 695"/>
              <a:gd name="T37" fmla="*/ 362 h 695"/>
              <a:gd name="T38" fmla="*/ 682 w 695"/>
              <a:gd name="T39" fmla="*/ 0 h 695"/>
              <a:gd name="T40" fmla="*/ 12 w 695"/>
              <a:gd name="T41" fmla="*/ 0 h 695"/>
              <a:gd name="T42" fmla="*/ 7 w 695"/>
              <a:gd name="T43" fmla="*/ 1 h 695"/>
              <a:gd name="T44" fmla="*/ 3 w 695"/>
              <a:gd name="T45" fmla="*/ 3 h 695"/>
              <a:gd name="T46" fmla="*/ 1 w 695"/>
              <a:gd name="T47" fmla="*/ 7 h 695"/>
              <a:gd name="T48" fmla="*/ 0 w 695"/>
              <a:gd name="T49" fmla="*/ 11 h 695"/>
              <a:gd name="T50" fmla="*/ 0 w 695"/>
              <a:gd name="T51" fmla="*/ 683 h 695"/>
              <a:gd name="T52" fmla="*/ 1 w 695"/>
              <a:gd name="T53" fmla="*/ 687 h 695"/>
              <a:gd name="T54" fmla="*/ 3 w 695"/>
              <a:gd name="T55" fmla="*/ 691 h 695"/>
              <a:gd name="T56" fmla="*/ 7 w 695"/>
              <a:gd name="T57" fmla="*/ 694 h 695"/>
              <a:gd name="T58" fmla="*/ 12 w 695"/>
              <a:gd name="T59" fmla="*/ 695 h 695"/>
              <a:gd name="T60" fmla="*/ 682 w 695"/>
              <a:gd name="T61" fmla="*/ 695 h 695"/>
              <a:gd name="T62" fmla="*/ 687 w 695"/>
              <a:gd name="T63" fmla="*/ 694 h 695"/>
              <a:gd name="T64" fmla="*/ 691 w 695"/>
              <a:gd name="T65" fmla="*/ 691 h 695"/>
              <a:gd name="T66" fmla="*/ 694 w 695"/>
              <a:gd name="T67" fmla="*/ 687 h 695"/>
              <a:gd name="T68" fmla="*/ 695 w 695"/>
              <a:gd name="T69" fmla="*/ 683 h 695"/>
              <a:gd name="T70" fmla="*/ 695 w 695"/>
              <a:gd name="T71" fmla="*/ 11 h 695"/>
              <a:gd name="T72" fmla="*/ 694 w 695"/>
              <a:gd name="T73" fmla="*/ 7 h 695"/>
              <a:gd name="T74" fmla="*/ 691 w 695"/>
              <a:gd name="T75" fmla="*/ 3 h 695"/>
              <a:gd name="T76" fmla="*/ 687 w 695"/>
              <a:gd name="T77" fmla="*/ 1 h 695"/>
              <a:gd name="T78" fmla="*/ 682 w 695"/>
              <a:gd name="T79"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5" h="695">
                <a:moveTo>
                  <a:pt x="526" y="362"/>
                </a:moveTo>
                <a:lnTo>
                  <a:pt x="162" y="362"/>
                </a:lnTo>
                <a:lnTo>
                  <a:pt x="158" y="361"/>
                </a:lnTo>
                <a:lnTo>
                  <a:pt x="155" y="359"/>
                </a:lnTo>
                <a:lnTo>
                  <a:pt x="151" y="356"/>
                </a:lnTo>
                <a:lnTo>
                  <a:pt x="151" y="350"/>
                </a:lnTo>
                <a:lnTo>
                  <a:pt x="151" y="346"/>
                </a:lnTo>
                <a:lnTo>
                  <a:pt x="155" y="342"/>
                </a:lnTo>
                <a:lnTo>
                  <a:pt x="158" y="339"/>
                </a:lnTo>
                <a:lnTo>
                  <a:pt x="162" y="339"/>
                </a:lnTo>
                <a:lnTo>
                  <a:pt x="526" y="339"/>
                </a:lnTo>
                <a:lnTo>
                  <a:pt x="530" y="339"/>
                </a:lnTo>
                <a:lnTo>
                  <a:pt x="533" y="342"/>
                </a:lnTo>
                <a:lnTo>
                  <a:pt x="537" y="346"/>
                </a:lnTo>
                <a:lnTo>
                  <a:pt x="537" y="350"/>
                </a:lnTo>
                <a:lnTo>
                  <a:pt x="537" y="356"/>
                </a:lnTo>
                <a:lnTo>
                  <a:pt x="533" y="359"/>
                </a:lnTo>
                <a:lnTo>
                  <a:pt x="530" y="361"/>
                </a:lnTo>
                <a:lnTo>
                  <a:pt x="526" y="362"/>
                </a:lnTo>
                <a:close/>
                <a:moveTo>
                  <a:pt x="682" y="0"/>
                </a:moveTo>
                <a:lnTo>
                  <a:pt x="12" y="0"/>
                </a:lnTo>
                <a:lnTo>
                  <a:pt x="7" y="1"/>
                </a:lnTo>
                <a:lnTo>
                  <a:pt x="3" y="3"/>
                </a:lnTo>
                <a:lnTo>
                  <a:pt x="1" y="7"/>
                </a:lnTo>
                <a:lnTo>
                  <a:pt x="0" y="11"/>
                </a:lnTo>
                <a:lnTo>
                  <a:pt x="0" y="683"/>
                </a:lnTo>
                <a:lnTo>
                  <a:pt x="1" y="687"/>
                </a:lnTo>
                <a:lnTo>
                  <a:pt x="3" y="691"/>
                </a:lnTo>
                <a:lnTo>
                  <a:pt x="7" y="694"/>
                </a:lnTo>
                <a:lnTo>
                  <a:pt x="12" y="695"/>
                </a:lnTo>
                <a:lnTo>
                  <a:pt x="682" y="695"/>
                </a:lnTo>
                <a:lnTo>
                  <a:pt x="687" y="694"/>
                </a:lnTo>
                <a:lnTo>
                  <a:pt x="691" y="691"/>
                </a:lnTo>
                <a:lnTo>
                  <a:pt x="694" y="687"/>
                </a:lnTo>
                <a:lnTo>
                  <a:pt x="695" y="683"/>
                </a:lnTo>
                <a:lnTo>
                  <a:pt x="695" y="11"/>
                </a:lnTo>
                <a:lnTo>
                  <a:pt x="694" y="7"/>
                </a:lnTo>
                <a:lnTo>
                  <a:pt x="691" y="3"/>
                </a:lnTo>
                <a:lnTo>
                  <a:pt x="687" y="1"/>
                </a:lnTo>
                <a:lnTo>
                  <a:pt x="682"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Freeform 1837" descr="Marker with plus mark. ">
            <a:extLst>
              <a:ext uri="{FF2B5EF4-FFF2-40B4-BE49-F238E27FC236}">
                <a16:creationId xmlns:a16="http://schemas.microsoft.com/office/drawing/2014/main" id="{28204691-D113-415C-8A74-FFC7DBEA4A41}"/>
              </a:ext>
            </a:extLst>
          </p:cNvPr>
          <p:cNvSpPr>
            <a:spLocks noEditPoints="1"/>
          </p:cNvSpPr>
          <p:nvPr/>
        </p:nvSpPr>
        <p:spPr bwMode="auto">
          <a:xfrm>
            <a:off x="6494464" y="3385358"/>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Freeform 1839" descr="Marker with multiplication sign. ">
            <a:extLst>
              <a:ext uri="{FF2B5EF4-FFF2-40B4-BE49-F238E27FC236}">
                <a16:creationId xmlns:a16="http://schemas.microsoft.com/office/drawing/2014/main" id="{9506A8E7-40C8-4CB3-909D-6D1FBA2D8F3D}"/>
              </a:ext>
            </a:extLst>
          </p:cNvPr>
          <p:cNvSpPr>
            <a:spLocks noEditPoints="1"/>
          </p:cNvSpPr>
          <p:nvPr/>
        </p:nvSpPr>
        <p:spPr bwMode="auto">
          <a:xfrm>
            <a:off x="7703738" y="2892703"/>
            <a:ext cx="276225" cy="276225"/>
          </a:xfrm>
          <a:custGeom>
            <a:avLst/>
            <a:gdLst>
              <a:gd name="T0" fmla="*/ 488 w 695"/>
              <a:gd name="T1" fmla="*/ 471 h 695"/>
              <a:gd name="T2" fmla="*/ 490 w 695"/>
              <a:gd name="T3" fmla="*/ 475 h 695"/>
              <a:gd name="T4" fmla="*/ 491 w 695"/>
              <a:gd name="T5" fmla="*/ 479 h 695"/>
              <a:gd name="T6" fmla="*/ 490 w 695"/>
              <a:gd name="T7" fmla="*/ 484 h 695"/>
              <a:gd name="T8" fmla="*/ 488 w 695"/>
              <a:gd name="T9" fmla="*/ 487 h 695"/>
              <a:gd name="T10" fmla="*/ 483 w 695"/>
              <a:gd name="T11" fmla="*/ 490 h 695"/>
              <a:gd name="T12" fmla="*/ 479 w 695"/>
              <a:gd name="T13" fmla="*/ 490 h 695"/>
              <a:gd name="T14" fmla="*/ 475 w 695"/>
              <a:gd name="T15" fmla="*/ 490 h 695"/>
              <a:gd name="T16" fmla="*/ 471 w 695"/>
              <a:gd name="T17" fmla="*/ 487 h 695"/>
              <a:gd name="T18" fmla="*/ 348 w 695"/>
              <a:gd name="T19" fmla="*/ 365 h 695"/>
              <a:gd name="T20" fmla="*/ 225 w 695"/>
              <a:gd name="T21" fmla="*/ 487 h 695"/>
              <a:gd name="T22" fmla="*/ 221 w 695"/>
              <a:gd name="T23" fmla="*/ 490 h 695"/>
              <a:gd name="T24" fmla="*/ 216 w 695"/>
              <a:gd name="T25" fmla="*/ 490 h 695"/>
              <a:gd name="T26" fmla="*/ 212 w 695"/>
              <a:gd name="T27" fmla="*/ 490 h 695"/>
              <a:gd name="T28" fmla="*/ 207 w 695"/>
              <a:gd name="T29" fmla="*/ 487 h 695"/>
              <a:gd name="T30" fmla="*/ 205 w 695"/>
              <a:gd name="T31" fmla="*/ 483 h 695"/>
              <a:gd name="T32" fmla="*/ 204 w 695"/>
              <a:gd name="T33" fmla="*/ 478 h 695"/>
              <a:gd name="T34" fmla="*/ 205 w 695"/>
              <a:gd name="T35" fmla="*/ 474 h 695"/>
              <a:gd name="T36" fmla="*/ 207 w 695"/>
              <a:gd name="T37" fmla="*/ 471 h 695"/>
              <a:gd name="T38" fmla="*/ 331 w 695"/>
              <a:gd name="T39" fmla="*/ 347 h 695"/>
              <a:gd name="T40" fmla="*/ 207 w 695"/>
              <a:gd name="T41" fmla="*/ 223 h 695"/>
              <a:gd name="T42" fmla="*/ 205 w 695"/>
              <a:gd name="T43" fmla="*/ 220 h 695"/>
              <a:gd name="T44" fmla="*/ 204 w 695"/>
              <a:gd name="T45" fmla="*/ 215 h 695"/>
              <a:gd name="T46" fmla="*/ 205 w 695"/>
              <a:gd name="T47" fmla="*/ 211 h 695"/>
              <a:gd name="T48" fmla="*/ 207 w 695"/>
              <a:gd name="T49" fmla="*/ 207 h 695"/>
              <a:gd name="T50" fmla="*/ 212 w 695"/>
              <a:gd name="T51" fmla="*/ 204 h 695"/>
              <a:gd name="T52" fmla="*/ 216 w 695"/>
              <a:gd name="T53" fmla="*/ 203 h 695"/>
              <a:gd name="T54" fmla="*/ 221 w 695"/>
              <a:gd name="T55" fmla="*/ 204 h 695"/>
              <a:gd name="T56" fmla="*/ 224 w 695"/>
              <a:gd name="T57" fmla="*/ 207 h 695"/>
              <a:gd name="T58" fmla="*/ 348 w 695"/>
              <a:gd name="T59" fmla="*/ 330 h 695"/>
              <a:gd name="T60" fmla="*/ 471 w 695"/>
              <a:gd name="T61" fmla="*/ 207 h 695"/>
              <a:gd name="T62" fmla="*/ 475 w 695"/>
              <a:gd name="T63" fmla="*/ 204 h 695"/>
              <a:gd name="T64" fmla="*/ 479 w 695"/>
              <a:gd name="T65" fmla="*/ 203 h 695"/>
              <a:gd name="T66" fmla="*/ 483 w 695"/>
              <a:gd name="T67" fmla="*/ 204 h 695"/>
              <a:gd name="T68" fmla="*/ 488 w 695"/>
              <a:gd name="T69" fmla="*/ 207 h 695"/>
              <a:gd name="T70" fmla="*/ 490 w 695"/>
              <a:gd name="T71" fmla="*/ 211 h 695"/>
              <a:gd name="T72" fmla="*/ 491 w 695"/>
              <a:gd name="T73" fmla="*/ 215 h 695"/>
              <a:gd name="T74" fmla="*/ 490 w 695"/>
              <a:gd name="T75" fmla="*/ 220 h 695"/>
              <a:gd name="T76" fmla="*/ 488 w 695"/>
              <a:gd name="T77" fmla="*/ 223 h 695"/>
              <a:gd name="T78" fmla="*/ 364 w 695"/>
              <a:gd name="T79" fmla="*/ 347 h 695"/>
              <a:gd name="T80" fmla="*/ 488 w 695"/>
              <a:gd name="T81" fmla="*/ 471 h 695"/>
              <a:gd name="T82" fmla="*/ 683 w 695"/>
              <a:gd name="T83" fmla="*/ 0 h 695"/>
              <a:gd name="T84" fmla="*/ 12 w 695"/>
              <a:gd name="T85" fmla="*/ 0 h 695"/>
              <a:gd name="T86" fmla="*/ 7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7 w 695"/>
              <a:gd name="T101" fmla="*/ 694 h 695"/>
              <a:gd name="T102" fmla="*/ 12 w 695"/>
              <a:gd name="T103" fmla="*/ 695 h 695"/>
              <a:gd name="T104" fmla="*/ 683 w 695"/>
              <a:gd name="T105" fmla="*/ 695 h 695"/>
              <a:gd name="T106" fmla="*/ 688 w 695"/>
              <a:gd name="T107" fmla="*/ 694 h 695"/>
              <a:gd name="T108" fmla="*/ 691 w 695"/>
              <a:gd name="T109" fmla="*/ 691 h 695"/>
              <a:gd name="T110" fmla="*/ 694 w 695"/>
              <a:gd name="T111" fmla="*/ 687 h 695"/>
              <a:gd name="T112" fmla="*/ 695 w 695"/>
              <a:gd name="T113" fmla="*/ 683 h 695"/>
              <a:gd name="T114" fmla="*/ 695 w 695"/>
              <a:gd name="T115" fmla="*/ 11 h 695"/>
              <a:gd name="T116" fmla="*/ 694 w 695"/>
              <a:gd name="T117" fmla="*/ 7 h 695"/>
              <a:gd name="T118" fmla="*/ 691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488" y="471"/>
                </a:moveTo>
                <a:lnTo>
                  <a:pt x="490" y="475"/>
                </a:lnTo>
                <a:lnTo>
                  <a:pt x="491" y="479"/>
                </a:lnTo>
                <a:lnTo>
                  <a:pt x="490" y="484"/>
                </a:lnTo>
                <a:lnTo>
                  <a:pt x="488" y="487"/>
                </a:lnTo>
                <a:lnTo>
                  <a:pt x="483" y="490"/>
                </a:lnTo>
                <a:lnTo>
                  <a:pt x="479" y="490"/>
                </a:lnTo>
                <a:lnTo>
                  <a:pt x="475" y="490"/>
                </a:lnTo>
                <a:lnTo>
                  <a:pt x="471" y="487"/>
                </a:lnTo>
                <a:lnTo>
                  <a:pt x="348" y="365"/>
                </a:lnTo>
                <a:lnTo>
                  <a:pt x="225" y="487"/>
                </a:lnTo>
                <a:lnTo>
                  <a:pt x="221" y="490"/>
                </a:lnTo>
                <a:lnTo>
                  <a:pt x="216" y="490"/>
                </a:lnTo>
                <a:lnTo>
                  <a:pt x="212" y="490"/>
                </a:lnTo>
                <a:lnTo>
                  <a:pt x="207" y="487"/>
                </a:lnTo>
                <a:lnTo>
                  <a:pt x="205" y="483"/>
                </a:lnTo>
                <a:lnTo>
                  <a:pt x="204" y="478"/>
                </a:lnTo>
                <a:lnTo>
                  <a:pt x="205" y="474"/>
                </a:lnTo>
                <a:lnTo>
                  <a:pt x="207" y="471"/>
                </a:lnTo>
                <a:lnTo>
                  <a:pt x="331" y="347"/>
                </a:lnTo>
                <a:lnTo>
                  <a:pt x="207" y="223"/>
                </a:lnTo>
                <a:lnTo>
                  <a:pt x="205" y="220"/>
                </a:lnTo>
                <a:lnTo>
                  <a:pt x="204" y="215"/>
                </a:lnTo>
                <a:lnTo>
                  <a:pt x="205" y="211"/>
                </a:lnTo>
                <a:lnTo>
                  <a:pt x="207" y="207"/>
                </a:lnTo>
                <a:lnTo>
                  <a:pt x="212" y="204"/>
                </a:lnTo>
                <a:lnTo>
                  <a:pt x="216" y="203"/>
                </a:lnTo>
                <a:lnTo>
                  <a:pt x="221" y="204"/>
                </a:lnTo>
                <a:lnTo>
                  <a:pt x="224" y="207"/>
                </a:lnTo>
                <a:lnTo>
                  <a:pt x="348" y="330"/>
                </a:lnTo>
                <a:lnTo>
                  <a:pt x="471" y="207"/>
                </a:lnTo>
                <a:lnTo>
                  <a:pt x="475" y="204"/>
                </a:lnTo>
                <a:lnTo>
                  <a:pt x="479" y="203"/>
                </a:lnTo>
                <a:lnTo>
                  <a:pt x="483" y="204"/>
                </a:lnTo>
                <a:lnTo>
                  <a:pt x="488" y="207"/>
                </a:lnTo>
                <a:lnTo>
                  <a:pt x="490" y="211"/>
                </a:lnTo>
                <a:lnTo>
                  <a:pt x="491" y="215"/>
                </a:lnTo>
                <a:lnTo>
                  <a:pt x="490" y="220"/>
                </a:lnTo>
                <a:lnTo>
                  <a:pt x="488" y="223"/>
                </a:lnTo>
                <a:lnTo>
                  <a:pt x="364" y="347"/>
                </a:lnTo>
                <a:lnTo>
                  <a:pt x="488" y="471"/>
                </a:lnTo>
                <a:close/>
                <a:moveTo>
                  <a:pt x="683" y="0"/>
                </a:moveTo>
                <a:lnTo>
                  <a:pt x="12" y="0"/>
                </a:lnTo>
                <a:lnTo>
                  <a:pt x="7" y="1"/>
                </a:lnTo>
                <a:lnTo>
                  <a:pt x="4" y="3"/>
                </a:lnTo>
                <a:lnTo>
                  <a:pt x="1" y="7"/>
                </a:lnTo>
                <a:lnTo>
                  <a:pt x="0" y="11"/>
                </a:lnTo>
                <a:lnTo>
                  <a:pt x="0" y="683"/>
                </a:lnTo>
                <a:lnTo>
                  <a:pt x="1" y="687"/>
                </a:lnTo>
                <a:lnTo>
                  <a:pt x="4" y="691"/>
                </a:lnTo>
                <a:lnTo>
                  <a:pt x="7" y="694"/>
                </a:lnTo>
                <a:lnTo>
                  <a:pt x="12" y="695"/>
                </a:lnTo>
                <a:lnTo>
                  <a:pt x="683" y="695"/>
                </a:lnTo>
                <a:lnTo>
                  <a:pt x="688" y="694"/>
                </a:lnTo>
                <a:lnTo>
                  <a:pt x="691" y="691"/>
                </a:lnTo>
                <a:lnTo>
                  <a:pt x="694" y="687"/>
                </a:lnTo>
                <a:lnTo>
                  <a:pt x="695" y="683"/>
                </a:lnTo>
                <a:lnTo>
                  <a:pt x="695" y="11"/>
                </a:lnTo>
                <a:lnTo>
                  <a:pt x="694" y="7"/>
                </a:lnTo>
                <a:lnTo>
                  <a:pt x="691"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1837" descr="Marker with plus mark. ">
            <a:extLst>
              <a:ext uri="{FF2B5EF4-FFF2-40B4-BE49-F238E27FC236}">
                <a16:creationId xmlns:a16="http://schemas.microsoft.com/office/drawing/2014/main" id="{9F58591E-3473-4F64-8EC7-B3C59E9BCF39}"/>
              </a:ext>
            </a:extLst>
          </p:cNvPr>
          <p:cNvSpPr>
            <a:spLocks noEditPoints="1"/>
          </p:cNvSpPr>
          <p:nvPr/>
        </p:nvSpPr>
        <p:spPr bwMode="auto">
          <a:xfrm>
            <a:off x="7704531" y="4382023"/>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1837" descr="Marker with plus mark. ">
            <a:extLst>
              <a:ext uri="{FF2B5EF4-FFF2-40B4-BE49-F238E27FC236}">
                <a16:creationId xmlns:a16="http://schemas.microsoft.com/office/drawing/2014/main" id="{8ACB7BFA-2B1C-41FA-A91F-C2A74141E269}"/>
              </a:ext>
            </a:extLst>
          </p:cNvPr>
          <p:cNvSpPr>
            <a:spLocks noEditPoints="1"/>
          </p:cNvSpPr>
          <p:nvPr/>
        </p:nvSpPr>
        <p:spPr bwMode="auto">
          <a:xfrm>
            <a:off x="8787207" y="3385358"/>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6" name="Freeform 1837" descr="Marker with plus mark. ">
            <a:extLst>
              <a:ext uri="{FF2B5EF4-FFF2-40B4-BE49-F238E27FC236}">
                <a16:creationId xmlns:a16="http://schemas.microsoft.com/office/drawing/2014/main" id="{DC0F6511-C5AE-49E3-92DC-7B6FA6B2208D}"/>
              </a:ext>
            </a:extLst>
          </p:cNvPr>
          <p:cNvSpPr>
            <a:spLocks noEditPoints="1"/>
          </p:cNvSpPr>
          <p:nvPr/>
        </p:nvSpPr>
        <p:spPr bwMode="auto">
          <a:xfrm>
            <a:off x="9900044" y="4865305"/>
            <a:ext cx="274638" cy="276225"/>
          </a:xfrm>
          <a:custGeom>
            <a:avLst/>
            <a:gdLst>
              <a:gd name="T0" fmla="*/ 526 w 695"/>
              <a:gd name="T1" fmla="*/ 362 h 695"/>
              <a:gd name="T2" fmla="*/ 359 w 695"/>
              <a:gd name="T3" fmla="*/ 362 h 695"/>
              <a:gd name="T4" fmla="*/ 359 w 695"/>
              <a:gd name="T5" fmla="*/ 531 h 695"/>
              <a:gd name="T6" fmla="*/ 359 w 695"/>
              <a:gd name="T7" fmla="*/ 537 h 695"/>
              <a:gd name="T8" fmla="*/ 356 w 695"/>
              <a:gd name="T9" fmla="*/ 540 h 695"/>
              <a:gd name="T10" fmla="*/ 353 w 695"/>
              <a:gd name="T11" fmla="*/ 542 h 695"/>
              <a:gd name="T12" fmla="*/ 348 w 695"/>
              <a:gd name="T13" fmla="*/ 543 h 695"/>
              <a:gd name="T14" fmla="*/ 343 w 695"/>
              <a:gd name="T15" fmla="*/ 542 h 695"/>
              <a:gd name="T16" fmla="*/ 339 w 695"/>
              <a:gd name="T17" fmla="*/ 540 h 695"/>
              <a:gd name="T18" fmla="*/ 337 w 695"/>
              <a:gd name="T19" fmla="*/ 537 h 695"/>
              <a:gd name="T20" fmla="*/ 336 w 695"/>
              <a:gd name="T21" fmla="*/ 531 h 695"/>
              <a:gd name="T22" fmla="*/ 336 w 695"/>
              <a:gd name="T23" fmla="*/ 362 h 695"/>
              <a:gd name="T24" fmla="*/ 164 w 695"/>
              <a:gd name="T25" fmla="*/ 362 h 695"/>
              <a:gd name="T26" fmla="*/ 158 w 695"/>
              <a:gd name="T27" fmla="*/ 361 h 695"/>
              <a:gd name="T28" fmla="*/ 155 w 695"/>
              <a:gd name="T29" fmla="*/ 359 h 695"/>
              <a:gd name="T30" fmla="*/ 153 w 695"/>
              <a:gd name="T31" fmla="*/ 356 h 695"/>
              <a:gd name="T32" fmla="*/ 152 w 695"/>
              <a:gd name="T33" fmla="*/ 350 h 695"/>
              <a:gd name="T34" fmla="*/ 153 w 695"/>
              <a:gd name="T35" fmla="*/ 346 h 695"/>
              <a:gd name="T36" fmla="*/ 155 w 695"/>
              <a:gd name="T37" fmla="*/ 342 h 695"/>
              <a:gd name="T38" fmla="*/ 158 w 695"/>
              <a:gd name="T39" fmla="*/ 339 h 695"/>
              <a:gd name="T40" fmla="*/ 164 w 695"/>
              <a:gd name="T41" fmla="*/ 339 h 695"/>
              <a:gd name="T42" fmla="*/ 336 w 695"/>
              <a:gd name="T43" fmla="*/ 339 h 695"/>
              <a:gd name="T44" fmla="*/ 336 w 695"/>
              <a:gd name="T45" fmla="*/ 170 h 695"/>
              <a:gd name="T46" fmla="*/ 337 w 695"/>
              <a:gd name="T47" fmla="*/ 165 h 695"/>
              <a:gd name="T48" fmla="*/ 339 w 695"/>
              <a:gd name="T49" fmla="*/ 161 h 695"/>
              <a:gd name="T50" fmla="*/ 343 w 695"/>
              <a:gd name="T51" fmla="*/ 159 h 695"/>
              <a:gd name="T52" fmla="*/ 348 w 695"/>
              <a:gd name="T53" fmla="*/ 158 h 695"/>
              <a:gd name="T54" fmla="*/ 353 w 695"/>
              <a:gd name="T55" fmla="*/ 159 h 695"/>
              <a:gd name="T56" fmla="*/ 356 w 695"/>
              <a:gd name="T57" fmla="*/ 161 h 695"/>
              <a:gd name="T58" fmla="*/ 359 w 695"/>
              <a:gd name="T59" fmla="*/ 165 h 695"/>
              <a:gd name="T60" fmla="*/ 359 w 695"/>
              <a:gd name="T61" fmla="*/ 170 h 695"/>
              <a:gd name="T62" fmla="*/ 359 w 695"/>
              <a:gd name="T63" fmla="*/ 339 h 695"/>
              <a:gd name="T64" fmla="*/ 526 w 695"/>
              <a:gd name="T65" fmla="*/ 339 h 695"/>
              <a:gd name="T66" fmla="*/ 530 w 695"/>
              <a:gd name="T67" fmla="*/ 339 h 695"/>
              <a:gd name="T68" fmla="*/ 535 w 695"/>
              <a:gd name="T69" fmla="*/ 342 h 695"/>
              <a:gd name="T70" fmla="*/ 537 w 695"/>
              <a:gd name="T71" fmla="*/ 346 h 695"/>
              <a:gd name="T72" fmla="*/ 538 w 695"/>
              <a:gd name="T73" fmla="*/ 350 h 695"/>
              <a:gd name="T74" fmla="*/ 537 w 695"/>
              <a:gd name="T75" fmla="*/ 356 h 695"/>
              <a:gd name="T76" fmla="*/ 535 w 695"/>
              <a:gd name="T77" fmla="*/ 359 h 695"/>
              <a:gd name="T78" fmla="*/ 530 w 695"/>
              <a:gd name="T79" fmla="*/ 361 h 695"/>
              <a:gd name="T80" fmla="*/ 526 w 695"/>
              <a:gd name="T81" fmla="*/ 362 h 695"/>
              <a:gd name="T82" fmla="*/ 683 w 695"/>
              <a:gd name="T83" fmla="*/ 0 h 695"/>
              <a:gd name="T84" fmla="*/ 12 w 695"/>
              <a:gd name="T85" fmla="*/ 0 h 695"/>
              <a:gd name="T86" fmla="*/ 8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8 w 695"/>
              <a:gd name="T101" fmla="*/ 694 h 695"/>
              <a:gd name="T102" fmla="*/ 12 w 695"/>
              <a:gd name="T103" fmla="*/ 695 h 695"/>
              <a:gd name="T104" fmla="*/ 683 w 695"/>
              <a:gd name="T105" fmla="*/ 695 h 695"/>
              <a:gd name="T106" fmla="*/ 688 w 695"/>
              <a:gd name="T107" fmla="*/ 694 h 695"/>
              <a:gd name="T108" fmla="*/ 692 w 695"/>
              <a:gd name="T109" fmla="*/ 691 h 695"/>
              <a:gd name="T110" fmla="*/ 694 w 695"/>
              <a:gd name="T111" fmla="*/ 687 h 695"/>
              <a:gd name="T112" fmla="*/ 695 w 695"/>
              <a:gd name="T113" fmla="*/ 683 h 695"/>
              <a:gd name="T114" fmla="*/ 695 w 695"/>
              <a:gd name="T115" fmla="*/ 11 h 695"/>
              <a:gd name="T116" fmla="*/ 694 w 695"/>
              <a:gd name="T117" fmla="*/ 7 h 695"/>
              <a:gd name="T118" fmla="*/ 692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526" y="362"/>
                </a:moveTo>
                <a:lnTo>
                  <a:pt x="359" y="362"/>
                </a:lnTo>
                <a:lnTo>
                  <a:pt x="359" y="531"/>
                </a:lnTo>
                <a:lnTo>
                  <a:pt x="359" y="537"/>
                </a:lnTo>
                <a:lnTo>
                  <a:pt x="356" y="540"/>
                </a:lnTo>
                <a:lnTo>
                  <a:pt x="353" y="542"/>
                </a:lnTo>
                <a:lnTo>
                  <a:pt x="348" y="543"/>
                </a:lnTo>
                <a:lnTo>
                  <a:pt x="343" y="542"/>
                </a:lnTo>
                <a:lnTo>
                  <a:pt x="339" y="540"/>
                </a:lnTo>
                <a:lnTo>
                  <a:pt x="337" y="537"/>
                </a:lnTo>
                <a:lnTo>
                  <a:pt x="336" y="531"/>
                </a:lnTo>
                <a:lnTo>
                  <a:pt x="336" y="362"/>
                </a:lnTo>
                <a:lnTo>
                  <a:pt x="164" y="362"/>
                </a:lnTo>
                <a:lnTo>
                  <a:pt x="158" y="361"/>
                </a:lnTo>
                <a:lnTo>
                  <a:pt x="155" y="359"/>
                </a:lnTo>
                <a:lnTo>
                  <a:pt x="153" y="356"/>
                </a:lnTo>
                <a:lnTo>
                  <a:pt x="152" y="350"/>
                </a:lnTo>
                <a:lnTo>
                  <a:pt x="153" y="346"/>
                </a:lnTo>
                <a:lnTo>
                  <a:pt x="155" y="342"/>
                </a:lnTo>
                <a:lnTo>
                  <a:pt x="158" y="339"/>
                </a:lnTo>
                <a:lnTo>
                  <a:pt x="164" y="339"/>
                </a:lnTo>
                <a:lnTo>
                  <a:pt x="336" y="339"/>
                </a:lnTo>
                <a:lnTo>
                  <a:pt x="336" y="170"/>
                </a:lnTo>
                <a:lnTo>
                  <a:pt x="337" y="165"/>
                </a:lnTo>
                <a:lnTo>
                  <a:pt x="339" y="161"/>
                </a:lnTo>
                <a:lnTo>
                  <a:pt x="343" y="159"/>
                </a:lnTo>
                <a:lnTo>
                  <a:pt x="348" y="158"/>
                </a:lnTo>
                <a:lnTo>
                  <a:pt x="353" y="159"/>
                </a:lnTo>
                <a:lnTo>
                  <a:pt x="356" y="161"/>
                </a:lnTo>
                <a:lnTo>
                  <a:pt x="359" y="165"/>
                </a:lnTo>
                <a:lnTo>
                  <a:pt x="359" y="170"/>
                </a:lnTo>
                <a:lnTo>
                  <a:pt x="359" y="339"/>
                </a:lnTo>
                <a:lnTo>
                  <a:pt x="526" y="339"/>
                </a:lnTo>
                <a:lnTo>
                  <a:pt x="530" y="339"/>
                </a:lnTo>
                <a:lnTo>
                  <a:pt x="535" y="342"/>
                </a:lnTo>
                <a:lnTo>
                  <a:pt x="537" y="346"/>
                </a:lnTo>
                <a:lnTo>
                  <a:pt x="538" y="350"/>
                </a:lnTo>
                <a:lnTo>
                  <a:pt x="537" y="356"/>
                </a:lnTo>
                <a:lnTo>
                  <a:pt x="535" y="359"/>
                </a:lnTo>
                <a:lnTo>
                  <a:pt x="530" y="361"/>
                </a:lnTo>
                <a:lnTo>
                  <a:pt x="526" y="362"/>
                </a:lnTo>
                <a:close/>
                <a:moveTo>
                  <a:pt x="683" y="0"/>
                </a:moveTo>
                <a:lnTo>
                  <a:pt x="12" y="0"/>
                </a:lnTo>
                <a:lnTo>
                  <a:pt x="8" y="1"/>
                </a:lnTo>
                <a:lnTo>
                  <a:pt x="4" y="3"/>
                </a:lnTo>
                <a:lnTo>
                  <a:pt x="1" y="7"/>
                </a:lnTo>
                <a:lnTo>
                  <a:pt x="0" y="11"/>
                </a:lnTo>
                <a:lnTo>
                  <a:pt x="0" y="683"/>
                </a:lnTo>
                <a:lnTo>
                  <a:pt x="1" y="687"/>
                </a:lnTo>
                <a:lnTo>
                  <a:pt x="4" y="691"/>
                </a:lnTo>
                <a:lnTo>
                  <a:pt x="8" y="694"/>
                </a:lnTo>
                <a:lnTo>
                  <a:pt x="12" y="695"/>
                </a:lnTo>
                <a:lnTo>
                  <a:pt x="683" y="695"/>
                </a:lnTo>
                <a:lnTo>
                  <a:pt x="688" y="694"/>
                </a:lnTo>
                <a:lnTo>
                  <a:pt x="692" y="691"/>
                </a:lnTo>
                <a:lnTo>
                  <a:pt x="694" y="687"/>
                </a:lnTo>
                <a:lnTo>
                  <a:pt x="695" y="683"/>
                </a:lnTo>
                <a:lnTo>
                  <a:pt x="695" y="11"/>
                </a:lnTo>
                <a:lnTo>
                  <a:pt x="694" y="7"/>
                </a:lnTo>
                <a:lnTo>
                  <a:pt x="692"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7" name="Freeform 1839" descr="Marker with multiplication sign. ">
            <a:extLst>
              <a:ext uri="{FF2B5EF4-FFF2-40B4-BE49-F238E27FC236}">
                <a16:creationId xmlns:a16="http://schemas.microsoft.com/office/drawing/2014/main" id="{5CED8A16-6FBE-41A7-9A3B-6220F32B4ED2}"/>
              </a:ext>
            </a:extLst>
          </p:cNvPr>
          <p:cNvSpPr>
            <a:spLocks noEditPoints="1"/>
          </p:cNvSpPr>
          <p:nvPr/>
        </p:nvSpPr>
        <p:spPr bwMode="auto">
          <a:xfrm>
            <a:off x="11058919" y="4382024"/>
            <a:ext cx="276225" cy="276225"/>
          </a:xfrm>
          <a:custGeom>
            <a:avLst/>
            <a:gdLst>
              <a:gd name="T0" fmla="*/ 488 w 695"/>
              <a:gd name="T1" fmla="*/ 471 h 695"/>
              <a:gd name="T2" fmla="*/ 490 w 695"/>
              <a:gd name="T3" fmla="*/ 475 h 695"/>
              <a:gd name="T4" fmla="*/ 491 w 695"/>
              <a:gd name="T5" fmla="*/ 479 h 695"/>
              <a:gd name="T6" fmla="*/ 490 w 695"/>
              <a:gd name="T7" fmla="*/ 484 h 695"/>
              <a:gd name="T8" fmla="*/ 488 w 695"/>
              <a:gd name="T9" fmla="*/ 487 h 695"/>
              <a:gd name="T10" fmla="*/ 483 w 695"/>
              <a:gd name="T11" fmla="*/ 490 h 695"/>
              <a:gd name="T12" fmla="*/ 479 w 695"/>
              <a:gd name="T13" fmla="*/ 490 h 695"/>
              <a:gd name="T14" fmla="*/ 475 w 695"/>
              <a:gd name="T15" fmla="*/ 490 h 695"/>
              <a:gd name="T16" fmla="*/ 471 w 695"/>
              <a:gd name="T17" fmla="*/ 487 h 695"/>
              <a:gd name="T18" fmla="*/ 348 w 695"/>
              <a:gd name="T19" fmla="*/ 365 h 695"/>
              <a:gd name="T20" fmla="*/ 225 w 695"/>
              <a:gd name="T21" fmla="*/ 487 h 695"/>
              <a:gd name="T22" fmla="*/ 221 w 695"/>
              <a:gd name="T23" fmla="*/ 490 h 695"/>
              <a:gd name="T24" fmla="*/ 216 w 695"/>
              <a:gd name="T25" fmla="*/ 490 h 695"/>
              <a:gd name="T26" fmla="*/ 212 w 695"/>
              <a:gd name="T27" fmla="*/ 490 h 695"/>
              <a:gd name="T28" fmla="*/ 207 w 695"/>
              <a:gd name="T29" fmla="*/ 487 h 695"/>
              <a:gd name="T30" fmla="*/ 205 w 695"/>
              <a:gd name="T31" fmla="*/ 483 h 695"/>
              <a:gd name="T32" fmla="*/ 204 w 695"/>
              <a:gd name="T33" fmla="*/ 478 h 695"/>
              <a:gd name="T34" fmla="*/ 205 w 695"/>
              <a:gd name="T35" fmla="*/ 474 h 695"/>
              <a:gd name="T36" fmla="*/ 207 w 695"/>
              <a:gd name="T37" fmla="*/ 471 h 695"/>
              <a:gd name="T38" fmla="*/ 331 w 695"/>
              <a:gd name="T39" fmla="*/ 347 h 695"/>
              <a:gd name="T40" fmla="*/ 207 w 695"/>
              <a:gd name="T41" fmla="*/ 223 h 695"/>
              <a:gd name="T42" fmla="*/ 205 w 695"/>
              <a:gd name="T43" fmla="*/ 220 h 695"/>
              <a:gd name="T44" fmla="*/ 204 w 695"/>
              <a:gd name="T45" fmla="*/ 215 h 695"/>
              <a:gd name="T46" fmla="*/ 205 w 695"/>
              <a:gd name="T47" fmla="*/ 211 h 695"/>
              <a:gd name="T48" fmla="*/ 207 w 695"/>
              <a:gd name="T49" fmla="*/ 207 h 695"/>
              <a:gd name="T50" fmla="*/ 212 w 695"/>
              <a:gd name="T51" fmla="*/ 204 h 695"/>
              <a:gd name="T52" fmla="*/ 216 w 695"/>
              <a:gd name="T53" fmla="*/ 203 h 695"/>
              <a:gd name="T54" fmla="*/ 221 w 695"/>
              <a:gd name="T55" fmla="*/ 204 h 695"/>
              <a:gd name="T56" fmla="*/ 224 w 695"/>
              <a:gd name="T57" fmla="*/ 207 h 695"/>
              <a:gd name="T58" fmla="*/ 348 w 695"/>
              <a:gd name="T59" fmla="*/ 330 h 695"/>
              <a:gd name="T60" fmla="*/ 471 w 695"/>
              <a:gd name="T61" fmla="*/ 207 h 695"/>
              <a:gd name="T62" fmla="*/ 475 w 695"/>
              <a:gd name="T63" fmla="*/ 204 h 695"/>
              <a:gd name="T64" fmla="*/ 479 w 695"/>
              <a:gd name="T65" fmla="*/ 203 h 695"/>
              <a:gd name="T66" fmla="*/ 483 w 695"/>
              <a:gd name="T67" fmla="*/ 204 h 695"/>
              <a:gd name="T68" fmla="*/ 488 w 695"/>
              <a:gd name="T69" fmla="*/ 207 h 695"/>
              <a:gd name="T70" fmla="*/ 490 w 695"/>
              <a:gd name="T71" fmla="*/ 211 h 695"/>
              <a:gd name="T72" fmla="*/ 491 w 695"/>
              <a:gd name="T73" fmla="*/ 215 h 695"/>
              <a:gd name="T74" fmla="*/ 490 w 695"/>
              <a:gd name="T75" fmla="*/ 220 h 695"/>
              <a:gd name="T76" fmla="*/ 488 w 695"/>
              <a:gd name="T77" fmla="*/ 223 h 695"/>
              <a:gd name="T78" fmla="*/ 364 w 695"/>
              <a:gd name="T79" fmla="*/ 347 h 695"/>
              <a:gd name="T80" fmla="*/ 488 w 695"/>
              <a:gd name="T81" fmla="*/ 471 h 695"/>
              <a:gd name="T82" fmla="*/ 683 w 695"/>
              <a:gd name="T83" fmla="*/ 0 h 695"/>
              <a:gd name="T84" fmla="*/ 12 w 695"/>
              <a:gd name="T85" fmla="*/ 0 h 695"/>
              <a:gd name="T86" fmla="*/ 7 w 695"/>
              <a:gd name="T87" fmla="*/ 1 h 695"/>
              <a:gd name="T88" fmla="*/ 4 w 695"/>
              <a:gd name="T89" fmla="*/ 3 h 695"/>
              <a:gd name="T90" fmla="*/ 1 w 695"/>
              <a:gd name="T91" fmla="*/ 7 h 695"/>
              <a:gd name="T92" fmla="*/ 0 w 695"/>
              <a:gd name="T93" fmla="*/ 11 h 695"/>
              <a:gd name="T94" fmla="*/ 0 w 695"/>
              <a:gd name="T95" fmla="*/ 683 h 695"/>
              <a:gd name="T96" fmla="*/ 1 w 695"/>
              <a:gd name="T97" fmla="*/ 687 h 695"/>
              <a:gd name="T98" fmla="*/ 4 w 695"/>
              <a:gd name="T99" fmla="*/ 691 h 695"/>
              <a:gd name="T100" fmla="*/ 7 w 695"/>
              <a:gd name="T101" fmla="*/ 694 h 695"/>
              <a:gd name="T102" fmla="*/ 12 w 695"/>
              <a:gd name="T103" fmla="*/ 695 h 695"/>
              <a:gd name="T104" fmla="*/ 683 w 695"/>
              <a:gd name="T105" fmla="*/ 695 h 695"/>
              <a:gd name="T106" fmla="*/ 688 w 695"/>
              <a:gd name="T107" fmla="*/ 694 h 695"/>
              <a:gd name="T108" fmla="*/ 691 w 695"/>
              <a:gd name="T109" fmla="*/ 691 h 695"/>
              <a:gd name="T110" fmla="*/ 694 w 695"/>
              <a:gd name="T111" fmla="*/ 687 h 695"/>
              <a:gd name="T112" fmla="*/ 695 w 695"/>
              <a:gd name="T113" fmla="*/ 683 h 695"/>
              <a:gd name="T114" fmla="*/ 695 w 695"/>
              <a:gd name="T115" fmla="*/ 11 h 695"/>
              <a:gd name="T116" fmla="*/ 694 w 695"/>
              <a:gd name="T117" fmla="*/ 7 h 695"/>
              <a:gd name="T118" fmla="*/ 691 w 695"/>
              <a:gd name="T119" fmla="*/ 3 h 695"/>
              <a:gd name="T120" fmla="*/ 688 w 695"/>
              <a:gd name="T121" fmla="*/ 1 h 695"/>
              <a:gd name="T122" fmla="*/ 683 w 695"/>
              <a:gd name="T123"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95" h="695">
                <a:moveTo>
                  <a:pt x="488" y="471"/>
                </a:moveTo>
                <a:lnTo>
                  <a:pt x="490" y="475"/>
                </a:lnTo>
                <a:lnTo>
                  <a:pt x="491" y="479"/>
                </a:lnTo>
                <a:lnTo>
                  <a:pt x="490" y="484"/>
                </a:lnTo>
                <a:lnTo>
                  <a:pt x="488" y="487"/>
                </a:lnTo>
                <a:lnTo>
                  <a:pt x="483" y="490"/>
                </a:lnTo>
                <a:lnTo>
                  <a:pt x="479" y="490"/>
                </a:lnTo>
                <a:lnTo>
                  <a:pt x="475" y="490"/>
                </a:lnTo>
                <a:lnTo>
                  <a:pt x="471" y="487"/>
                </a:lnTo>
                <a:lnTo>
                  <a:pt x="348" y="365"/>
                </a:lnTo>
                <a:lnTo>
                  <a:pt x="225" y="487"/>
                </a:lnTo>
                <a:lnTo>
                  <a:pt x="221" y="490"/>
                </a:lnTo>
                <a:lnTo>
                  <a:pt x="216" y="490"/>
                </a:lnTo>
                <a:lnTo>
                  <a:pt x="212" y="490"/>
                </a:lnTo>
                <a:lnTo>
                  <a:pt x="207" y="487"/>
                </a:lnTo>
                <a:lnTo>
                  <a:pt x="205" y="483"/>
                </a:lnTo>
                <a:lnTo>
                  <a:pt x="204" y="478"/>
                </a:lnTo>
                <a:lnTo>
                  <a:pt x="205" y="474"/>
                </a:lnTo>
                <a:lnTo>
                  <a:pt x="207" y="471"/>
                </a:lnTo>
                <a:lnTo>
                  <a:pt x="331" y="347"/>
                </a:lnTo>
                <a:lnTo>
                  <a:pt x="207" y="223"/>
                </a:lnTo>
                <a:lnTo>
                  <a:pt x="205" y="220"/>
                </a:lnTo>
                <a:lnTo>
                  <a:pt x="204" y="215"/>
                </a:lnTo>
                <a:lnTo>
                  <a:pt x="205" y="211"/>
                </a:lnTo>
                <a:lnTo>
                  <a:pt x="207" y="207"/>
                </a:lnTo>
                <a:lnTo>
                  <a:pt x="212" y="204"/>
                </a:lnTo>
                <a:lnTo>
                  <a:pt x="216" y="203"/>
                </a:lnTo>
                <a:lnTo>
                  <a:pt x="221" y="204"/>
                </a:lnTo>
                <a:lnTo>
                  <a:pt x="224" y="207"/>
                </a:lnTo>
                <a:lnTo>
                  <a:pt x="348" y="330"/>
                </a:lnTo>
                <a:lnTo>
                  <a:pt x="471" y="207"/>
                </a:lnTo>
                <a:lnTo>
                  <a:pt x="475" y="204"/>
                </a:lnTo>
                <a:lnTo>
                  <a:pt x="479" y="203"/>
                </a:lnTo>
                <a:lnTo>
                  <a:pt x="483" y="204"/>
                </a:lnTo>
                <a:lnTo>
                  <a:pt x="488" y="207"/>
                </a:lnTo>
                <a:lnTo>
                  <a:pt x="490" y="211"/>
                </a:lnTo>
                <a:lnTo>
                  <a:pt x="491" y="215"/>
                </a:lnTo>
                <a:lnTo>
                  <a:pt x="490" y="220"/>
                </a:lnTo>
                <a:lnTo>
                  <a:pt x="488" y="223"/>
                </a:lnTo>
                <a:lnTo>
                  <a:pt x="364" y="347"/>
                </a:lnTo>
                <a:lnTo>
                  <a:pt x="488" y="471"/>
                </a:lnTo>
                <a:close/>
                <a:moveTo>
                  <a:pt x="683" y="0"/>
                </a:moveTo>
                <a:lnTo>
                  <a:pt x="12" y="0"/>
                </a:lnTo>
                <a:lnTo>
                  <a:pt x="7" y="1"/>
                </a:lnTo>
                <a:lnTo>
                  <a:pt x="4" y="3"/>
                </a:lnTo>
                <a:lnTo>
                  <a:pt x="1" y="7"/>
                </a:lnTo>
                <a:lnTo>
                  <a:pt x="0" y="11"/>
                </a:lnTo>
                <a:lnTo>
                  <a:pt x="0" y="683"/>
                </a:lnTo>
                <a:lnTo>
                  <a:pt x="1" y="687"/>
                </a:lnTo>
                <a:lnTo>
                  <a:pt x="4" y="691"/>
                </a:lnTo>
                <a:lnTo>
                  <a:pt x="7" y="694"/>
                </a:lnTo>
                <a:lnTo>
                  <a:pt x="12" y="695"/>
                </a:lnTo>
                <a:lnTo>
                  <a:pt x="683" y="695"/>
                </a:lnTo>
                <a:lnTo>
                  <a:pt x="688" y="694"/>
                </a:lnTo>
                <a:lnTo>
                  <a:pt x="691" y="691"/>
                </a:lnTo>
                <a:lnTo>
                  <a:pt x="694" y="687"/>
                </a:lnTo>
                <a:lnTo>
                  <a:pt x="695" y="683"/>
                </a:lnTo>
                <a:lnTo>
                  <a:pt x="695" y="11"/>
                </a:lnTo>
                <a:lnTo>
                  <a:pt x="694" y="7"/>
                </a:lnTo>
                <a:lnTo>
                  <a:pt x="691" y="3"/>
                </a:lnTo>
                <a:lnTo>
                  <a:pt x="688" y="1"/>
                </a:lnTo>
                <a:lnTo>
                  <a:pt x="683" y="0"/>
                </a:lnTo>
                <a:close/>
              </a:path>
            </a:pathLst>
          </a:custGeom>
          <a:solidFill>
            <a:srgbClr val="62616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8" name="Rectangle 147">
            <a:extLst>
              <a:ext uri="{FF2B5EF4-FFF2-40B4-BE49-F238E27FC236}">
                <a16:creationId xmlns:a16="http://schemas.microsoft.com/office/drawing/2014/main" id="{2809A67D-EE6E-45D1-AA73-B11A0B4F2508}"/>
              </a:ext>
            </a:extLst>
          </p:cNvPr>
          <p:cNvSpPr/>
          <p:nvPr/>
        </p:nvSpPr>
        <p:spPr>
          <a:xfrm>
            <a:off x="3276600" y="5429370"/>
            <a:ext cx="8075613" cy="861774"/>
          </a:xfrm>
          <a:prstGeom prst="rect">
            <a:avLst/>
          </a:prstGeom>
        </p:spPr>
        <p:txBody>
          <a:bodyPr wrap="square" lIns="0" tIns="0" rIns="0" bIns="0" anchor="ctr">
            <a:spAutoFit/>
          </a:bodyPr>
          <a:lstStyle/>
          <a:p>
            <a:r>
              <a:rPr lang="en-US" sz="1400" dirty="0"/>
              <a:t>Lorem ipsum dolor sit amet, consectetur adipiscing elit. Duis suscipit in tellus ac bibendum. Sed congue lacus vitae tellus finibus, eu faucibus nisi ullamcorper. Quisque volutpat leo at arcu placerat, quis pellentesque tellus bibendum. Proin et luctus nisl, ut viverra eros. Suspendisse pharetra mattis purus </a:t>
            </a:r>
            <a:r>
              <a:rPr lang="en-US" sz="1400" dirty="0" err="1"/>
              <a:t>eu</a:t>
            </a:r>
            <a:r>
              <a:rPr lang="en-US" sz="1400" dirty="0"/>
              <a:t>.</a:t>
            </a:r>
          </a:p>
        </p:txBody>
      </p:sp>
      <p:cxnSp>
        <p:nvCxnSpPr>
          <p:cNvPr id="149" name="Straight Connector 148">
            <a:extLst>
              <a:ext uri="{FF2B5EF4-FFF2-40B4-BE49-F238E27FC236}">
                <a16:creationId xmlns:a16="http://schemas.microsoft.com/office/drawing/2014/main" id="{A3D7D3F3-ED08-4CA9-8310-32E50A7BB0A5}"/>
              </a:ext>
              <a:ext uri="{C183D7F6-B498-43B3-948B-1728B52AA6E4}">
                <adec:decorative xmlns:adec="http://schemas.microsoft.com/office/drawing/2017/decorative" val="1"/>
              </a:ext>
            </a:extLst>
          </p:cNvPr>
          <p:cNvCxnSpPr>
            <a:cxnSpLocks/>
          </p:cNvCxnSpPr>
          <p:nvPr/>
        </p:nvCxnSpPr>
        <p:spPr>
          <a:xfrm>
            <a:off x="2987283" y="5462588"/>
            <a:ext cx="0" cy="795337"/>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82D6D7C7-ED2D-4325-93B0-EE2B9C2B2CF7}"/>
              </a:ext>
            </a:extLst>
          </p:cNvPr>
          <p:cNvSpPr/>
          <p:nvPr/>
        </p:nvSpPr>
        <p:spPr>
          <a:xfrm>
            <a:off x="533406" y="5644812"/>
            <a:ext cx="2331714" cy="430887"/>
          </a:xfrm>
          <a:prstGeom prst="rect">
            <a:avLst/>
          </a:prstGeom>
        </p:spPr>
        <p:txBody>
          <a:bodyPr wrap="square" lIns="0" tIns="0" rIns="0" bIns="0" anchor="ctr">
            <a:spAutoFit/>
          </a:bodyPr>
          <a:lstStyle/>
          <a:p>
            <a:pPr algn="ctr"/>
            <a:r>
              <a:rPr lang="en-US" sz="2800" b="1" dirty="0">
                <a:solidFill>
                  <a:schemeClr val="accent3">
                    <a:lumMod val="75000"/>
                  </a:schemeClr>
                </a:solidFill>
                <a:latin typeface="+mj-lt"/>
                <a:cs typeface="Segoe UI" panose="020B0502040204020203" pitchFamily="34" charset="0"/>
              </a:rPr>
              <a:t>5,980,650.32</a:t>
            </a:r>
          </a:p>
        </p:txBody>
      </p:sp>
    </p:spTree>
    <p:extLst>
      <p:ext uri="{BB962C8B-B14F-4D97-AF65-F5344CB8AC3E}">
        <p14:creationId xmlns:p14="http://schemas.microsoft.com/office/powerpoint/2010/main" val="875445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A588A72A-976E-478A-9DD3-765AB3ED4CD0}"/>
              </a:ext>
            </a:extLst>
          </p:cNvPr>
          <p:cNvSpPr>
            <a:spLocks noGrp="1"/>
          </p:cNvSpPr>
          <p:nvPr>
            <p:ph type="title" idx="4294967295"/>
          </p:nvPr>
        </p:nvSpPr>
        <p:spPr>
          <a:xfrm>
            <a:off x="0" y="365125"/>
            <a:ext cx="10515600" cy="1325563"/>
          </a:xfrm>
        </p:spPr>
        <p:txBody>
          <a:bodyPr/>
          <a:lstStyle/>
          <a:p>
            <a:r>
              <a:rPr lang="en-US" dirty="0"/>
              <a:t>Project analysis slide 8</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SWOT Analysis</a:t>
            </a:r>
            <a:br>
              <a:rPr lang="en-US" sz="2800" dirty="0">
                <a:solidFill>
                  <a:schemeClr val="tx1">
                    <a:lumMod val="75000"/>
                    <a:lumOff val="25000"/>
                  </a:schemeClr>
                </a:solidFill>
              </a:rPr>
            </a:br>
            <a:r>
              <a:rPr lang="en-US" sz="2000" dirty="0">
                <a:solidFill>
                  <a:schemeClr val="tx1">
                    <a:lumMod val="75000"/>
                    <a:lumOff val="25000"/>
                  </a:schemeClr>
                </a:solidFill>
              </a:rPr>
              <a:t> </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3C1CAF08-13B9-48BA-A271-8CE5B568A664}"/>
              </a:ext>
            </a:extLst>
          </p:cNvPr>
          <p:cNvSpPr/>
          <p:nvPr/>
        </p:nvSpPr>
        <p:spPr>
          <a:xfrm>
            <a:off x="1230086" y="1347561"/>
            <a:ext cx="4967514"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POSITIVE</a:t>
            </a:r>
          </a:p>
        </p:txBody>
      </p:sp>
      <p:sp>
        <p:nvSpPr>
          <p:cNvPr id="26" name="Rectangle: Rounded Corners 25">
            <a:extLst>
              <a:ext uri="{FF2B5EF4-FFF2-40B4-BE49-F238E27FC236}">
                <a16:creationId xmlns:a16="http://schemas.microsoft.com/office/drawing/2014/main" id="{D1B1E083-D07C-4934-9782-F7CCA3539ACF}"/>
              </a:ext>
            </a:extLst>
          </p:cNvPr>
          <p:cNvSpPr/>
          <p:nvPr/>
        </p:nvSpPr>
        <p:spPr>
          <a:xfrm>
            <a:off x="6313716" y="1347561"/>
            <a:ext cx="4967514"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NEGATIVE</a:t>
            </a:r>
          </a:p>
        </p:txBody>
      </p:sp>
      <p:sp>
        <p:nvSpPr>
          <p:cNvPr id="27" name="Rectangle: Rounded Corners 26">
            <a:extLst>
              <a:ext uri="{FF2B5EF4-FFF2-40B4-BE49-F238E27FC236}">
                <a16:creationId xmlns:a16="http://schemas.microsoft.com/office/drawing/2014/main" id="{EBD06280-71F4-4832-A31C-772537FAE929}"/>
              </a:ext>
            </a:extLst>
          </p:cNvPr>
          <p:cNvSpPr/>
          <p:nvPr/>
        </p:nvSpPr>
        <p:spPr>
          <a:xfrm rot="16200000">
            <a:off x="-106838" y="4864308"/>
            <a:ext cx="1972763" cy="664797"/>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EXTERNAL</a:t>
            </a:r>
          </a:p>
        </p:txBody>
      </p:sp>
      <p:sp>
        <p:nvSpPr>
          <p:cNvPr id="28" name="Rectangle: Rounded Corners 27">
            <a:extLst>
              <a:ext uri="{FF2B5EF4-FFF2-40B4-BE49-F238E27FC236}">
                <a16:creationId xmlns:a16="http://schemas.microsoft.com/office/drawing/2014/main" id="{C917D965-B5BB-41DC-BB5E-C27AF802DD50}"/>
              </a:ext>
            </a:extLst>
          </p:cNvPr>
          <p:cNvSpPr/>
          <p:nvPr/>
        </p:nvSpPr>
        <p:spPr>
          <a:xfrm rot="16200000">
            <a:off x="-106838" y="2758556"/>
            <a:ext cx="1972763" cy="664797"/>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INTERNAL</a:t>
            </a:r>
          </a:p>
        </p:txBody>
      </p:sp>
      <p:cxnSp>
        <p:nvCxnSpPr>
          <p:cNvPr id="9" name="Straight Connector 8">
            <a:extLst>
              <a:ext uri="{FF2B5EF4-FFF2-40B4-BE49-F238E27FC236}">
                <a16:creationId xmlns:a16="http://schemas.microsoft.com/office/drawing/2014/main" id="{8CBC1BB2-55FC-4E8F-A171-32FAA820D2B7}"/>
              </a:ext>
              <a:ext uri="{C183D7F6-B498-43B3-948B-1728B52AA6E4}">
                <adec:decorative xmlns:adec="http://schemas.microsoft.com/office/drawing/2017/decorative" val="1"/>
              </a:ext>
            </a:extLst>
          </p:cNvPr>
          <p:cNvCxnSpPr>
            <a:cxnSpLocks/>
          </p:cNvCxnSpPr>
          <p:nvPr/>
        </p:nvCxnSpPr>
        <p:spPr>
          <a:xfrm>
            <a:off x="1385888" y="414383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1A2EAE-EBE4-4CB7-9D0A-105837E80B0E}"/>
              </a:ext>
              <a:ext uri="{C183D7F6-B498-43B3-948B-1728B52AA6E4}">
                <adec:decorative xmlns:adec="http://schemas.microsoft.com/office/drawing/2017/decorative" val="1"/>
              </a:ext>
            </a:extLst>
          </p:cNvPr>
          <p:cNvCxnSpPr>
            <a:cxnSpLocks/>
          </p:cNvCxnSpPr>
          <p:nvPr/>
        </p:nvCxnSpPr>
        <p:spPr>
          <a:xfrm>
            <a:off x="6255658" y="2104573"/>
            <a:ext cx="0" cy="407851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ECF613A-FCF5-4CC5-AA46-DABB088D7230}"/>
              </a:ext>
            </a:extLst>
          </p:cNvPr>
          <p:cNvSpPr/>
          <p:nvPr/>
        </p:nvSpPr>
        <p:spPr>
          <a:xfrm>
            <a:off x="1632408" y="2604468"/>
            <a:ext cx="4162870" cy="1015663"/>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40" name="Rectangle 39">
            <a:extLst>
              <a:ext uri="{FF2B5EF4-FFF2-40B4-BE49-F238E27FC236}">
                <a16:creationId xmlns:a16="http://schemas.microsoft.com/office/drawing/2014/main" id="{5842CE6B-862D-4B18-B10B-3436A7D24058}"/>
              </a:ext>
            </a:extLst>
          </p:cNvPr>
          <p:cNvSpPr/>
          <p:nvPr/>
        </p:nvSpPr>
        <p:spPr>
          <a:xfrm>
            <a:off x="6716039" y="2604468"/>
            <a:ext cx="4162870" cy="1015663"/>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41" name="Rectangle 40">
            <a:extLst>
              <a:ext uri="{FF2B5EF4-FFF2-40B4-BE49-F238E27FC236}">
                <a16:creationId xmlns:a16="http://schemas.microsoft.com/office/drawing/2014/main" id="{D130C0AE-B52E-4C65-A461-AD2F7D2362DE}"/>
              </a:ext>
            </a:extLst>
          </p:cNvPr>
          <p:cNvSpPr/>
          <p:nvPr/>
        </p:nvSpPr>
        <p:spPr>
          <a:xfrm>
            <a:off x="1632408" y="4710220"/>
            <a:ext cx="4162870" cy="1015663"/>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42" name="Rectangle 41">
            <a:extLst>
              <a:ext uri="{FF2B5EF4-FFF2-40B4-BE49-F238E27FC236}">
                <a16:creationId xmlns:a16="http://schemas.microsoft.com/office/drawing/2014/main" id="{6E783ACB-62DF-4DA3-9240-822BAEA78497}"/>
              </a:ext>
            </a:extLst>
          </p:cNvPr>
          <p:cNvSpPr/>
          <p:nvPr/>
        </p:nvSpPr>
        <p:spPr>
          <a:xfrm>
            <a:off x="6716039" y="4710220"/>
            <a:ext cx="4162870" cy="1015663"/>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Lorem ipsum dolor sit amet, consectetur adipiscing elit, sed do eiusmod tempor incididunt.</a:t>
            </a:r>
          </a:p>
        </p:txBody>
      </p:sp>
      <p:sp>
        <p:nvSpPr>
          <p:cNvPr id="43" name="Rectangle 42">
            <a:extLst>
              <a:ext uri="{FF2B5EF4-FFF2-40B4-BE49-F238E27FC236}">
                <a16:creationId xmlns:a16="http://schemas.microsoft.com/office/drawing/2014/main" id="{6173DD7D-A9F5-4D7E-A942-64AE3F48B264}"/>
              </a:ext>
            </a:extLst>
          </p:cNvPr>
          <p:cNvSpPr/>
          <p:nvPr/>
        </p:nvSpPr>
        <p:spPr>
          <a:xfrm>
            <a:off x="1632399" y="2198171"/>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STRENGTH</a:t>
            </a:r>
          </a:p>
        </p:txBody>
      </p:sp>
      <p:sp>
        <p:nvSpPr>
          <p:cNvPr id="44" name="Rectangle 43">
            <a:extLst>
              <a:ext uri="{FF2B5EF4-FFF2-40B4-BE49-F238E27FC236}">
                <a16:creationId xmlns:a16="http://schemas.microsoft.com/office/drawing/2014/main" id="{95967C4C-72D9-469E-BB08-F31A36FBD11D}"/>
              </a:ext>
            </a:extLst>
          </p:cNvPr>
          <p:cNvSpPr/>
          <p:nvPr/>
        </p:nvSpPr>
        <p:spPr>
          <a:xfrm>
            <a:off x="6716039" y="2198171"/>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WEAKNESS</a:t>
            </a:r>
          </a:p>
        </p:txBody>
      </p:sp>
      <p:sp>
        <p:nvSpPr>
          <p:cNvPr id="45" name="Rectangle 44">
            <a:extLst>
              <a:ext uri="{FF2B5EF4-FFF2-40B4-BE49-F238E27FC236}">
                <a16:creationId xmlns:a16="http://schemas.microsoft.com/office/drawing/2014/main" id="{A2A2A928-93BB-46FE-9683-5A5BAADF87B3}"/>
              </a:ext>
            </a:extLst>
          </p:cNvPr>
          <p:cNvSpPr/>
          <p:nvPr/>
        </p:nvSpPr>
        <p:spPr>
          <a:xfrm>
            <a:off x="1632399" y="4303915"/>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OPPORTUNITY</a:t>
            </a:r>
          </a:p>
        </p:txBody>
      </p:sp>
      <p:sp>
        <p:nvSpPr>
          <p:cNvPr id="46" name="Rectangle 45">
            <a:extLst>
              <a:ext uri="{FF2B5EF4-FFF2-40B4-BE49-F238E27FC236}">
                <a16:creationId xmlns:a16="http://schemas.microsoft.com/office/drawing/2014/main" id="{D84D1B01-F5DB-4D77-80D5-5CACEA0F7047}"/>
              </a:ext>
            </a:extLst>
          </p:cNvPr>
          <p:cNvSpPr/>
          <p:nvPr/>
        </p:nvSpPr>
        <p:spPr>
          <a:xfrm>
            <a:off x="6716039" y="4303915"/>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THREAT</a:t>
            </a:r>
          </a:p>
        </p:txBody>
      </p:sp>
    </p:spTree>
    <p:extLst>
      <p:ext uri="{BB962C8B-B14F-4D97-AF65-F5344CB8AC3E}">
        <p14:creationId xmlns:p14="http://schemas.microsoft.com/office/powerpoint/2010/main" val="72736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Ion Boardroom</Template>
  <TotalTime>98</TotalTime>
  <Words>783</Words>
  <Application>Microsoft Office PowerPoint</Application>
  <PresentationFormat>Widescreen</PresentationFormat>
  <Paragraphs>112</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Century Gothic</vt:lpstr>
      <vt:lpstr>Courier New</vt:lpstr>
      <vt:lpstr>Segoe UI</vt:lpstr>
      <vt:lpstr>Segoe UI Light</vt:lpstr>
      <vt:lpstr>Wingdings 3</vt:lpstr>
      <vt:lpstr>Ion Boardroom</vt:lpstr>
      <vt:lpstr>Lending Loan Case study</vt:lpstr>
      <vt:lpstr>Project analysis slide 2</vt:lpstr>
      <vt:lpstr>Project analysis slide 5</vt:lpstr>
      <vt:lpstr>Project analysis slide 5</vt:lpstr>
      <vt:lpstr>Project analysis slide 5</vt:lpstr>
      <vt:lpstr>Project analysis slide 10</vt:lpstr>
      <vt:lpstr>Project analysis slide 5</vt:lpstr>
      <vt:lpstr>Project analysis slide 6</vt:lpstr>
      <vt:lpstr>Project analysis slide 7</vt:lpstr>
      <vt:lpstr>Project analysis slide 8</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Namratha G</dc:creator>
  <cp:lastModifiedBy>Namratha G</cp:lastModifiedBy>
  <cp:revision>18</cp:revision>
  <dcterms:created xsi:type="dcterms:W3CDTF">2024-11-19T06:12:58Z</dcterms:created>
  <dcterms:modified xsi:type="dcterms:W3CDTF">2024-11-19T07:52:09Z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